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95" r:id="rId2"/>
    <p:sldId id="257" r:id="rId3"/>
    <p:sldId id="296" r:id="rId4"/>
    <p:sldId id="297" r:id="rId5"/>
    <p:sldId id="323" r:id="rId6"/>
    <p:sldId id="298" r:id="rId7"/>
    <p:sldId id="299" r:id="rId8"/>
    <p:sldId id="300" r:id="rId9"/>
    <p:sldId id="302" r:id="rId10"/>
    <p:sldId id="320" r:id="rId11"/>
    <p:sldId id="303" r:id="rId12"/>
    <p:sldId id="304" r:id="rId13"/>
    <p:sldId id="305" r:id="rId14"/>
    <p:sldId id="306" r:id="rId15"/>
    <p:sldId id="307" r:id="rId16"/>
    <p:sldId id="276" r:id="rId17"/>
    <p:sldId id="308" r:id="rId18"/>
    <p:sldId id="309" r:id="rId19"/>
    <p:sldId id="310" r:id="rId20"/>
    <p:sldId id="312" r:id="rId21"/>
    <p:sldId id="313" r:id="rId22"/>
    <p:sldId id="330" r:id="rId23"/>
    <p:sldId id="314" r:id="rId24"/>
    <p:sldId id="325" r:id="rId25"/>
    <p:sldId id="329" r:id="rId26"/>
    <p:sldId id="328" r:id="rId27"/>
    <p:sldId id="321" r:id="rId28"/>
    <p:sldId id="327" r:id="rId29"/>
    <p:sldId id="315" r:id="rId30"/>
    <p:sldId id="318" r:id="rId31"/>
    <p:sldId id="319" r:id="rId32"/>
    <p:sldId id="316" r:id="rId33"/>
    <p:sldId id="322" r:id="rId34"/>
    <p:sldId id="331" r:id="rId35"/>
    <p:sldId id="332" r:id="rId36"/>
    <p:sldId id="333" r:id="rId37"/>
    <p:sldId id="311" r:id="rId38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361" autoAdjust="0"/>
    <p:restoredTop sz="90299" autoAdjust="0"/>
  </p:normalViewPr>
  <p:slideViewPr>
    <p:cSldViewPr>
      <p:cViewPr>
        <p:scale>
          <a:sx n="66" d="100"/>
          <a:sy n="66" d="100"/>
        </p:scale>
        <p:origin x="-143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10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9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image" Target="../media/image93.wmf"/><Relationship Id="rId3" Type="http://schemas.openxmlformats.org/officeDocument/2006/relationships/image" Target="../media/image79.wmf"/><Relationship Id="rId7" Type="http://schemas.openxmlformats.org/officeDocument/2006/relationships/image" Target="../media/image89.wmf"/><Relationship Id="rId12" Type="http://schemas.openxmlformats.org/officeDocument/2006/relationships/image" Target="../media/image92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8.w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91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088" y="0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23866-B237-411C-8ED1-188E479E72A7}" type="datetimeFigureOut">
              <a:rPr lang="pt-BR" smtClean="0"/>
              <a:pPr/>
              <a:t>25/11/2021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239" y="4861781"/>
            <a:ext cx="5678824" cy="4604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68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088" y="9721868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5F902-7EBB-4681-9C68-07698451FE5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1F4D35-FFE7-4B80-A1F3-7B9A88486268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5941E-1594-4EFB-968A-594722D80EDE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BBD4C9-C027-4305-A7FD-1BBE16BB079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F24BC-0C52-4A03-AEDC-F2E4469DF5C0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6D6F95-9F2E-4FC5-9DD0-2433A97A72A4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EFC80-DBE7-48BA-A5B4-8DB2BC3F17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84E919-3179-4CD2-9AAC-7DF7B796E56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6EACA-4322-47E6-BB05-A57BB944F49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6EE9C-C8F6-4E45-8ADF-A6F1473AAC68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09C22-ED70-4A7F-B920-36F6F08A91A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E602F-71DC-48BA-85C8-1D1E736848C5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67FCD77-C818-41A5-90D8-38A6E4E02B8E}" type="slidenum">
              <a:rPr lang="pt-BR"/>
              <a:pPr/>
              <a:t>‹nº›</a:t>
            </a:fld>
            <a:endParaRPr lang="pt-BR"/>
          </a:p>
        </p:txBody>
      </p:sp>
      <p:pic>
        <p:nvPicPr>
          <p:cNvPr id="1031" name="Picture 7" descr="C:\Documents and Settings\umazzra\Desktop\Tarefas para realizar\PPT Cálculo B\Auxiliar\fundo01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64350"/>
          </a:xfrm>
          <a:prstGeom prst="rect">
            <a:avLst/>
          </a:prstGeom>
          <a:noFill/>
        </p:spPr>
      </p:pic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6400800" y="6400800"/>
            <a:ext cx="2514600" cy="85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cs typeface="Times New Roman" pitchFamily="18" charset="0"/>
              </a:rPr>
              <a:t>© 2008 </a:t>
            </a:r>
            <a:r>
              <a:rPr lang="pt-BR" sz="1200" b="1">
                <a:cs typeface="Times New Roman" pitchFamily="18" charset="0"/>
              </a:rPr>
              <a:t> Pearson Prentice Hall</a:t>
            </a:r>
          </a:p>
          <a:p>
            <a:pPr>
              <a:spcBef>
                <a:spcPct val="50000"/>
              </a:spcBef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png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9.bin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28.bin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27.bin"/><Relationship Id="rId9" Type="http://schemas.openxmlformats.org/officeDocument/2006/relationships/oleObject" Target="../embeddings/oleObject3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3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9.bin"/><Relationship Id="rId5" Type="http://schemas.openxmlformats.org/officeDocument/2006/relationships/oleObject" Target="../embeddings/oleObject48.bin"/><Relationship Id="rId4" Type="http://schemas.openxmlformats.org/officeDocument/2006/relationships/oleObject" Target="../embeddings/oleObject4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52.bin"/><Relationship Id="rId4" Type="http://schemas.openxmlformats.org/officeDocument/2006/relationships/oleObject" Target="../embeddings/oleObject5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9.png"/><Relationship Id="rId4" Type="http://schemas.openxmlformats.org/officeDocument/2006/relationships/oleObject" Target="../embeddings/oleObject53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59.bin"/><Relationship Id="rId5" Type="http://schemas.openxmlformats.org/officeDocument/2006/relationships/oleObject" Target="../embeddings/oleObject58.bin"/><Relationship Id="rId4" Type="http://schemas.openxmlformats.org/officeDocument/2006/relationships/oleObject" Target="../embeddings/oleObject57.bin"/><Relationship Id="rId9" Type="http://schemas.openxmlformats.org/officeDocument/2006/relationships/oleObject" Target="../embeddings/oleObject6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66.bin"/><Relationship Id="rId5" Type="http://schemas.openxmlformats.org/officeDocument/2006/relationships/oleObject" Target="../embeddings/oleObject65.bin"/><Relationship Id="rId4" Type="http://schemas.openxmlformats.org/officeDocument/2006/relationships/oleObject" Target="../embeddings/oleObject6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oleObject" Target="../embeddings/oleObject6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3.bin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72.bin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1.bin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4.bin"/><Relationship Id="rId12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83.bin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92.bin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1.bin"/><Relationship Id="rId9" Type="http://schemas.openxmlformats.org/officeDocument/2006/relationships/oleObject" Target="../embeddings/oleObject86.bin"/><Relationship Id="rId14" Type="http://schemas.openxmlformats.org/officeDocument/2006/relationships/oleObject" Target="../embeddings/oleObject9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C00000"/>
                </a:solidFill>
              </a:rPr>
              <a:t>Matemática Discreta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3600" b="1" dirty="0" smtClean="0">
                <a:solidFill>
                  <a:srgbClr val="0070C0"/>
                </a:solidFill>
              </a:rPr>
              <a:t>Funções</a:t>
            </a:r>
            <a:endParaRPr lang="pt-BR" sz="3600" b="1" dirty="0">
              <a:solidFill>
                <a:srgbClr val="0070C0"/>
              </a:solidFill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</a:t>
            </a:fld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3000364" y="278605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116632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>
                <a:solidFill>
                  <a:srgbClr val="0070C0"/>
                </a:solidFill>
              </a:rPr>
              <a:t>Funções</a:t>
            </a:r>
            <a:endParaRPr lang="pt-BR" sz="3600" dirty="0">
              <a:solidFill>
                <a:srgbClr val="0070C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57158" y="836712"/>
            <a:ext cx="6447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14282" y="1643050"/>
            <a:ext cx="89297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Sejam  </a:t>
            </a:r>
            <a:r>
              <a:rPr lang="pt-BR" i="1" dirty="0" smtClean="0"/>
              <a:t>A</a:t>
            </a:r>
            <a:r>
              <a:rPr lang="pt-BR" dirty="0" smtClean="0"/>
              <a:t> e </a:t>
            </a:r>
            <a:r>
              <a:rPr lang="pt-BR" i="1" dirty="0" smtClean="0"/>
              <a:t>B</a:t>
            </a:r>
            <a:r>
              <a:rPr lang="pt-BR" dirty="0" smtClean="0"/>
              <a:t> conjuntos não vazios. Uma função </a:t>
            </a:r>
            <a:r>
              <a:rPr lang="pt-BR" i="1" dirty="0" smtClean="0"/>
              <a:t>f</a:t>
            </a:r>
            <a:r>
              <a:rPr lang="pt-BR" dirty="0" smtClean="0"/>
              <a:t> de </a:t>
            </a:r>
            <a:r>
              <a:rPr lang="pt-BR" i="1" dirty="0" smtClean="0"/>
              <a:t>A</a:t>
            </a:r>
            <a:r>
              <a:rPr lang="pt-BR" dirty="0" smtClean="0"/>
              <a:t> para </a:t>
            </a:r>
            <a:r>
              <a:rPr lang="pt-BR" i="1" dirty="0" smtClean="0"/>
              <a:t>B</a:t>
            </a:r>
            <a:r>
              <a:rPr lang="pt-BR" dirty="0" smtClean="0"/>
              <a:t> é uma determinação de exatamente um elemento de </a:t>
            </a:r>
            <a:r>
              <a:rPr lang="pt-BR" i="1" dirty="0" smtClean="0"/>
              <a:t>B</a:t>
            </a:r>
            <a:r>
              <a:rPr lang="pt-BR" dirty="0" smtClean="0"/>
              <a:t> para cada elemento de A.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Escrevemos </a:t>
            </a:r>
            <a:r>
              <a:rPr lang="pt-BR" i="1" dirty="0" smtClean="0"/>
              <a:t>f(a)=b </a:t>
            </a:r>
            <a:r>
              <a:rPr lang="pt-BR" dirty="0" smtClean="0"/>
              <a:t>se </a:t>
            </a:r>
            <a:r>
              <a:rPr lang="pt-BR" i="1" dirty="0" smtClean="0"/>
              <a:t>b</a:t>
            </a:r>
            <a:r>
              <a:rPr lang="pt-BR" dirty="0" smtClean="0"/>
              <a:t> for o único elemento de </a:t>
            </a:r>
            <a:r>
              <a:rPr lang="pt-BR" i="1" dirty="0" smtClean="0"/>
              <a:t>B</a:t>
            </a:r>
            <a:r>
              <a:rPr lang="pt-BR" dirty="0" smtClean="0"/>
              <a:t> determinado  pela função </a:t>
            </a:r>
            <a:r>
              <a:rPr lang="pt-BR" i="1" dirty="0" smtClean="0"/>
              <a:t>f</a:t>
            </a:r>
            <a:r>
              <a:rPr lang="pt-BR" dirty="0" smtClean="0"/>
              <a:t> para o elemento </a:t>
            </a:r>
            <a:r>
              <a:rPr lang="pt-BR" i="1" dirty="0" smtClean="0"/>
              <a:t>a</a:t>
            </a:r>
            <a:r>
              <a:rPr lang="pt-BR" dirty="0" smtClean="0"/>
              <a:t> de </a:t>
            </a:r>
            <a:r>
              <a:rPr lang="pt-BR" i="1" dirty="0" smtClean="0"/>
              <a:t>A</a:t>
            </a:r>
            <a:r>
              <a:rPr lang="pt-BR" dirty="0" smtClean="0"/>
              <a:t>. 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Se </a:t>
            </a:r>
            <a:r>
              <a:rPr lang="pt-BR" i="1" dirty="0" smtClean="0"/>
              <a:t>f</a:t>
            </a:r>
            <a:r>
              <a:rPr lang="pt-BR" dirty="0" smtClean="0"/>
              <a:t> é uma função de </a:t>
            </a:r>
            <a:r>
              <a:rPr lang="pt-BR" i="1" dirty="0" smtClean="0"/>
              <a:t>A</a:t>
            </a:r>
            <a:r>
              <a:rPr lang="pt-BR" dirty="0" smtClean="0"/>
              <a:t> para </a:t>
            </a:r>
            <a:r>
              <a:rPr lang="pt-BR" i="1" dirty="0" smtClean="0"/>
              <a:t>B</a:t>
            </a:r>
            <a:r>
              <a:rPr lang="pt-BR" dirty="0" smtClean="0"/>
              <a:t> escrevemos 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As funções também são chamadas de mapeamentos ou transformações.</a:t>
            </a:r>
            <a:endParaRPr lang="pt-BR" dirty="0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</a:t>
            </a:fld>
            <a:endParaRPr lang="pt-BR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/>
        </p:nvGraphicFramePr>
        <p:xfrm>
          <a:off x="5929322" y="4214818"/>
          <a:ext cx="1687722" cy="500066"/>
        </p:xfrm>
        <a:graphic>
          <a:graphicData uri="http://schemas.openxmlformats.org/presentationml/2006/ole">
            <p:oleObj spid="_x0000_s1026" name="Equação" r:id="rId3" imgW="68580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85720" y="285728"/>
            <a:ext cx="6447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0" y="1000108"/>
            <a:ext cx="89297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Se </a:t>
            </a:r>
            <a:r>
              <a:rPr lang="pt-BR" i="1" dirty="0" smtClean="0"/>
              <a:t>f</a:t>
            </a:r>
            <a:r>
              <a:rPr lang="pt-BR" dirty="0" smtClean="0"/>
              <a:t> é uma função de </a:t>
            </a:r>
            <a:r>
              <a:rPr lang="pt-BR" i="1" dirty="0" smtClean="0"/>
              <a:t>A</a:t>
            </a:r>
            <a:r>
              <a:rPr lang="pt-BR" dirty="0" smtClean="0"/>
              <a:t> para </a:t>
            </a:r>
            <a:r>
              <a:rPr lang="pt-BR" i="1" dirty="0" smtClean="0"/>
              <a:t>B</a:t>
            </a:r>
            <a:r>
              <a:rPr lang="pt-BR" dirty="0" smtClean="0"/>
              <a:t>. Dizemos que </a:t>
            </a:r>
            <a:r>
              <a:rPr lang="pt-BR" i="1" dirty="0" smtClean="0"/>
              <a:t>A</a:t>
            </a:r>
            <a:r>
              <a:rPr lang="pt-BR" dirty="0" smtClean="0"/>
              <a:t> é </a:t>
            </a:r>
            <a:r>
              <a:rPr lang="pt-BR" dirty="0" smtClean="0">
                <a:solidFill>
                  <a:srgbClr val="0070C0"/>
                </a:solidFill>
              </a:rPr>
              <a:t>domínio</a:t>
            </a:r>
            <a:r>
              <a:rPr lang="pt-BR" dirty="0" smtClean="0"/>
              <a:t> de </a:t>
            </a:r>
            <a:r>
              <a:rPr lang="pt-BR" i="1" dirty="0" smtClean="0"/>
              <a:t>f</a:t>
            </a:r>
            <a:r>
              <a:rPr lang="pt-BR" dirty="0" smtClean="0"/>
              <a:t> e </a:t>
            </a:r>
            <a:r>
              <a:rPr lang="pt-BR" i="1" dirty="0" smtClean="0"/>
              <a:t>B</a:t>
            </a:r>
            <a:r>
              <a:rPr lang="pt-BR" dirty="0" smtClean="0"/>
              <a:t> é o </a:t>
            </a:r>
            <a:r>
              <a:rPr lang="pt-BR" dirty="0" smtClean="0">
                <a:solidFill>
                  <a:srgbClr val="0070C0"/>
                </a:solidFill>
              </a:rPr>
              <a:t>contra-domínio</a:t>
            </a:r>
            <a:r>
              <a:rPr lang="pt-BR" dirty="0" smtClean="0"/>
              <a:t> de </a:t>
            </a:r>
            <a:r>
              <a:rPr lang="pt-BR" i="1" dirty="0" smtClean="0"/>
              <a:t>f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Se </a:t>
            </a:r>
            <a:r>
              <a:rPr lang="pt-BR" i="1" dirty="0" smtClean="0"/>
              <a:t>f(a)=b, </a:t>
            </a:r>
            <a:r>
              <a:rPr lang="pt-BR" dirty="0" smtClean="0"/>
              <a:t>dizemos que </a:t>
            </a:r>
            <a:r>
              <a:rPr lang="pt-BR" i="1" dirty="0" smtClean="0"/>
              <a:t>b</a:t>
            </a:r>
            <a:r>
              <a:rPr lang="pt-BR" dirty="0" smtClean="0"/>
              <a:t> é a </a:t>
            </a:r>
            <a:r>
              <a:rPr lang="pt-BR" dirty="0" smtClean="0">
                <a:solidFill>
                  <a:srgbClr val="0070C0"/>
                </a:solidFill>
              </a:rPr>
              <a:t>imagem</a:t>
            </a:r>
            <a:r>
              <a:rPr lang="pt-BR" dirty="0" smtClean="0"/>
              <a:t> de </a:t>
            </a:r>
            <a:r>
              <a:rPr lang="pt-BR" i="1" dirty="0" smtClean="0"/>
              <a:t>a</a:t>
            </a:r>
            <a:r>
              <a:rPr lang="pt-BR" dirty="0" smtClean="0"/>
              <a:t>. 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A imagem de  </a:t>
            </a:r>
            <a:r>
              <a:rPr lang="pt-BR" i="1" dirty="0" smtClean="0"/>
              <a:t>f</a:t>
            </a:r>
            <a:r>
              <a:rPr lang="pt-BR" dirty="0" smtClean="0"/>
              <a:t> é o conjunto de todas imagens dos elementos de </a:t>
            </a:r>
            <a:r>
              <a:rPr lang="pt-BR" i="1" dirty="0" smtClean="0"/>
              <a:t>A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Duas funções são iguais quando têm o mesmo domínio, contradomínio e mapeamento de seus elementos.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7" y="4357694"/>
            <a:ext cx="4918885" cy="1996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85720" y="836712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 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14282" y="1357298"/>
            <a:ext cx="89297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Considere R como  a relação dos pares ordenados (</a:t>
            </a:r>
            <a:r>
              <a:rPr lang="pt-BR" dirty="0" err="1" smtClean="0"/>
              <a:t>Abdull</a:t>
            </a:r>
            <a:r>
              <a:rPr lang="pt-BR" dirty="0" smtClean="0"/>
              <a:t>, 22), (Brenda, 24), (Carla, 21) e (</a:t>
            </a:r>
            <a:r>
              <a:rPr lang="pt-BR" dirty="0" err="1" smtClean="0"/>
              <a:t>Felicia</a:t>
            </a:r>
            <a:r>
              <a:rPr lang="pt-BR" dirty="0" smtClean="0"/>
              <a:t>, 22), em que cada par é formado por um estudante e sua idade. Qual é a função, o domínio e a imagem que essa relação determina?</a:t>
            </a: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357158" y="3143248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 2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14282" y="3786190"/>
            <a:ext cx="8929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Considere </a:t>
            </a:r>
            <a:r>
              <a:rPr lang="pt-BR" i="1" dirty="0" smtClean="0"/>
              <a:t>f</a:t>
            </a:r>
            <a:r>
              <a:rPr lang="pt-BR" dirty="0" smtClean="0"/>
              <a:t> como a função que determina os dois últimos bits de uma </a:t>
            </a:r>
          </a:p>
          <a:p>
            <a:pPr>
              <a:buClr>
                <a:srgbClr val="0070C0"/>
              </a:buClr>
            </a:pPr>
            <a:r>
              <a:rPr lang="pt-BR" dirty="0" smtClean="0"/>
              <a:t>cadeia de bits de extensão 2 ou maior. Determine o domínio e a imagem de </a:t>
            </a:r>
            <a:r>
              <a:rPr lang="pt-BR" i="1" dirty="0" smtClean="0"/>
              <a:t>f</a:t>
            </a:r>
            <a:r>
              <a:rPr lang="pt-BR" dirty="0" smtClean="0"/>
              <a:t>. 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28596" y="5143512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 3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214282" y="5657671"/>
            <a:ext cx="8929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Considere                                     Determine o domínio, o contradomínio e a imagem de </a:t>
            </a:r>
            <a:r>
              <a:rPr lang="pt-BR" i="1" dirty="0" smtClean="0"/>
              <a:t>f.</a:t>
            </a:r>
          </a:p>
        </p:txBody>
      </p:sp>
      <p:graphicFrame>
        <p:nvGraphicFramePr>
          <p:cNvPr id="12" name="Objeto 11"/>
          <p:cNvGraphicFramePr>
            <a:graphicFrameLocks noChangeAspect="1"/>
          </p:cNvGraphicFramePr>
          <p:nvPr/>
        </p:nvGraphicFramePr>
        <p:xfrm>
          <a:off x="1714480" y="5715016"/>
          <a:ext cx="2500330" cy="428628"/>
        </p:xfrm>
        <a:graphic>
          <a:graphicData uri="http://schemas.openxmlformats.org/presentationml/2006/ole">
            <p:oleObj spid="_x0000_s3074" name="Equação" r:id="rId3" imgW="133344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85720" y="836712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 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14282" y="1357298"/>
            <a:ext cx="8929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Dada a relação R , de A={1,2,3,4,5,6,7}  em B= {1,2,3,4,5}, tal que</a:t>
            </a:r>
          </a:p>
          <a:p>
            <a:pPr>
              <a:buClr>
                <a:srgbClr val="0070C0"/>
              </a:buClr>
            </a:pPr>
            <a:r>
              <a:rPr lang="pt-BR" dirty="0" smtClean="0"/>
              <a:t>1R1, 2R3, 3R2, 4R4 e 5R5. Pergunta-se: R é função?</a:t>
            </a: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14282" y="642918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3</a:t>
            </a: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357158" y="328612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 4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14282" y="3786190"/>
            <a:ext cx="89297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Considere                 como funções dos reais nos reais, tais que                                                                          </a:t>
            </a:r>
          </a:p>
          <a:p>
            <a:pPr>
              <a:buClr>
                <a:srgbClr val="0070C0"/>
              </a:buClr>
            </a:pPr>
            <a:r>
              <a:rPr lang="pt-BR" dirty="0" smtClean="0"/>
              <a:t>   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</a:pPr>
            <a:r>
              <a:rPr lang="pt-BR" dirty="0" smtClean="0"/>
              <a:t>Quais são as funções 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</p:txBody>
      </p:sp>
      <p:graphicFrame>
        <p:nvGraphicFramePr>
          <p:cNvPr id="12" name="Objeto 11"/>
          <p:cNvGraphicFramePr>
            <a:graphicFrameLocks noChangeAspect="1"/>
          </p:cNvGraphicFramePr>
          <p:nvPr/>
        </p:nvGraphicFramePr>
        <p:xfrm>
          <a:off x="3143250" y="4838699"/>
          <a:ext cx="2500320" cy="505115"/>
        </p:xfrm>
        <a:graphic>
          <a:graphicData uri="http://schemas.openxmlformats.org/presentationml/2006/ole">
            <p:oleObj spid="_x0000_s4098" name="Equação" r:id="rId3" imgW="1066680" imgH="215640" progId="Equation.3">
              <p:embed/>
            </p:oleObj>
          </a:graphicData>
        </a:graphic>
      </p:graphicFrame>
      <p:graphicFrame>
        <p:nvGraphicFramePr>
          <p:cNvPr id="14" name="Objeto 13"/>
          <p:cNvGraphicFramePr>
            <a:graphicFrameLocks noChangeAspect="1"/>
          </p:cNvGraphicFramePr>
          <p:nvPr/>
        </p:nvGraphicFramePr>
        <p:xfrm>
          <a:off x="455613" y="1082675"/>
          <a:ext cx="7875587" cy="1998663"/>
        </p:xfrm>
        <a:graphic>
          <a:graphicData uri="http://schemas.openxmlformats.org/presentationml/2006/ole">
            <p:oleObj spid="_x0000_s4099" name="Equação" r:id="rId4" imgW="4152600" imgH="1054080" progId="Equation.3">
              <p:embed/>
            </p:oleObj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714480" y="3786190"/>
          <a:ext cx="1000132" cy="513041"/>
        </p:xfrm>
        <a:graphic>
          <a:graphicData uri="http://schemas.openxmlformats.org/presentationml/2006/ole">
            <p:oleObj spid="_x0000_s4100" name="Equação" r:id="rId5" imgW="419040" imgH="215640" progId="Equation.3">
              <p:embed/>
            </p:oleObj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327025" y="4214813"/>
          <a:ext cx="4908550" cy="542925"/>
        </p:xfrm>
        <a:graphic>
          <a:graphicData uri="http://schemas.openxmlformats.org/presentationml/2006/ole">
            <p:oleObj spid="_x0000_s4101" name="Equação" r:id="rId6" imgW="2057400" imgH="228600" progId="Equation.3">
              <p:embed/>
            </p:oleObj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4103" name="Equação" r:id="rId7" imgW="114120" imgH="215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14282" y="1000108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4</a:t>
            </a: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14282" y="1714488"/>
            <a:ext cx="8929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Uma função </a:t>
            </a:r>
            <a:r>
              <a:rPr lang="pt-BR" i="1" dirty="0" smtClean="0"/>
              <a:t>f</a:t>
            </a:r>
            <a:r>
              <a:rPr lang="pt-BR" dirty="0" smtClean="0"/>
              <a:t> é chamada de </a:t>
            </a:r>
            <a:r>
              <a:rPr lang="pt-BR" dirty="0" smtClean="0">
                <a:solidFill>
                  <a:srgbClr val="0070C0"/>
                </a:solidFill>
              </a:rPr>
              <a:t>injetora</a:t>
            </a:r>
            <a:r>
              <a:rPr lang="pt-BR" dirty="0" smtClean="0"/>
              <a:t>, ou </a:t>
            </a:r>
            <a:r>
              <a:rPr lang="pt-BR" dirty="0" smtClean="0">
                <a:solidFill>
                  <a:schemeClr val="accent2"/>
                </a:solidFill>
              </a:rPr>
              <a:t>um para um</a:t>
            </a:r>
            <a:r>
              <a:rPr lang="pt-BR" dirty="0" smtClean="0"/>
              <a:t>, se e somente se </a:t>
            </a:r>
            <a:r>
              <a:rPr lang="pt-BR" i="1" dirty="0" smtClean="0"/>
              <a:t>f(a)=f(b) </a:t>
            </a:r>
            <a:r>
              <a:rPr lang="pt-BR" dirty="0" smtClean="0"/>
              <a:t>implica que </a:t>
            </a:r>
            <a:r>
              <a:rPr lang="pt-BR" i="1" dirty="0" smtClean="0"/>
              <a:t>a=b</a:t>
            </a:r>
            <a:r>
              <a:rPr lang="pt-BR" dirty="0" smtClean="0"/>
              <a:t>, para todos </a:t>
            </a:r>
            <a:r>
              <a:rPr lang="pt-BR" i="1" dirty="0" smtClean="0"/>
              <a:t>a </a:t>
            </a:r>
            <a:r>
              <a:rPr lang="pt-BR" dirty="0" smtClean="0"/>
              <a:t>e </a:t>
            </a:r>
            <a:r>
              <a:rPr lang="pt-BR" i="1" dirty="0" smtClean="0"/>
              <a:t>b</a:t>
            </a:r>
            <a:r>
              <a:rPr lang="pt-BR" dirty="0" smtClean="0"/>
              <a:t> no domínio de </a:t>
            </a:r>
            <a:r>
              <a:rPr lang="pt-BR" i="1" dirty="0" smtClean="0"/>
              <a:t>f</a:t>
            </a:r>
            <a:r>
              <a:rPr lang="pt-BR" dirty="0" smtClean="0"/>
              <a:t>.            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85720" y="3714752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14282" y="4429132"/>
            <a:ext cx="8929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Uma função </a:t>
            </a:r>
            <a:r>
              <a:rPr lang="pt-BR" i="1" dirty="0" smtClean="0"/>
              <a:t>f</a:t>
            </a:r>
            <a:r>
              <a:rPr lang="pt-BR" dirty="0" smtClean="0"/>
              <a:t>  de </a:t>
            </a:r>
            <a:r>
              <a:rPr lang="pt-BR" i="1" dirty="0" smtClean="0"/>
              <a:t>A</a:t>
            </a:r>
            <a:r>
              <a:rPr lang="pt-BR" dirty="0" smtClean="0"/>
              <a:t> para </a:t>
            </a:r>
            <a:r>
              <a:rPr lang="pt-BR" i="1" dirty="0" smtClean="0"/>
              <a:t>B</a:t>
            </a:r>
            <a:r>
              <a:rPr lang="pt-BR" dirty="0" smtClean="0"/>
              <a:t> é </a:t>
            </a:r>
            <a:r>
              <a:rPr lang="pt-BR" dirty="0" err="1" smtClean="0">
                <a:solidFill>
                  <a:srgbClr val="0070C0"/>
                </a:solidFill>
              </a:rPr>
              <a:t>sobrejetora</a:t>
            </a:r>
            <a:r>
              <a:rPr lang="pt-BR" dirty="0" smtClean="0"/>
              <a:t>, se e somente se para todo elemento </a:t>
            </a:r>
            <a:r>
              <a:rPr lang="pt-BR" i="1" dirty="0" smtClean="0"/>
              <a:t>b</a:t>
            </a:r>
            <a:r>
              <a:rPr lang="pt-BR" dirty="0" smtClean="0"/>
              <a:t> pertencente a  </a:t>
            </a:r>
            <a:r>
              <a:rPr lang="pt-BR" i="1" dirty="0" smtClean="0"/>
              <a:t>B</a:t>
            </a:r>
            <a:r>
              <a:rPr lang="pt-BR" dirty="0" smtClean="0"/>
              <a:t> existir </a:t>
            </a:r>
            <a:r>
              <a:rPr lang="pt-BR" i="1" dirty="0" smtClean="0"/>
              <a:t>a</a:t>
            </a:r>
            <a:r>
              <a:rPr lang="pt-BR" dirty="0" smtClean="0"/>
              <a:t> pertencente a </a:t>
            </a:r>
            <a:r>
              <a:rPr lang="pt-BR" i="1" dirty="0" err="1" smtClean="0"/>
              <a:t>A</a:t>
            </a:r>
            <a:r>
              <a:rPr lang="pt-BR" dirty="0" smtClean="0"/>
              <a:t> com </a:t>
            </a:r>
            <a:r>
              <a:rPr lang="pt-BR" i="1" dirty="0" smtClean="0"/>
              <a:t>f(a)=b. </a:t>
            </a:r>
            <a:endParaRPr lang="pt-BR" dirty="0" smtClean="0"/>
          </a:p>
        </p:txBody>
      </p:sp>
      <p:graphicFrame>
        <p:nvGraphicFramePr>
          <p:cNvPr id="19457" name="Object 1"/>
          <p:cNvGraphicFramePr>
            <a:graphicFrameLocks noChangeAspect="1"/>
          </p:cNvGraphicFramePr>
          <p:nvPr/>
        </p:nvGraphicFramePr>
        <p:xfrm>
          <a:off x="2933700" y="2928938"/>
          <a:ext cx="3205163" cy="500062"/>
        </p:xfrm>
        <a:graphic>
          <a:graphicData uri="http://schemas.openxmlformats.org/presentationml/2006/ole">
            <p:oleObj spid="_x0000_s19457" name="Equação" r:id="rId3" imgW="1384200" imgH="215640" progId="Equation.3">
              <p:embed/>
            </p:oleObj>
          </a:graphicData>
        </a:graphic>
      </p:graphicFrame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428875" y="5586413"/>
          <a:ext cx="4117975" cy="469900"/>
        </p:xfrm>
        <a:graphic>
          <a:graphicData uri="http://schemas.openxmlformats.org/presentationml/2006/ole">
            <p:oleObj spid="_x0000_s19458" name="Equação" r:id="rId4" imgW="17776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42860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14282" y="1071546"/>
            <a:ext cx="892971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Dadas as funções a seguir, </a:t>
            </a:r>
            <a:r>
              <a:rPr lang="pt-BR" dirty="0" err="1" smtClean="0"/>
              <a:t>classifíque-as</a:t>
            </a:r>
            <a:r>
              <a:rPr lang="pt-BR" dirty="0" smtClean="0"/>
              <a:t> como injetora ou </a:t>
            </a:r>
            <a:r>
              <a:rPr lang="pt-BR" dirty="0" err="1" smtClean="0"/>
              <a:t>sobrejetora</a:t>
            </a:r>
            <a:r>
              <a:rPr lang="pt-BR" dirty="0" smtClean="0"/>
              <a:t>, se possível: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i="1" dirty="0" smtClean="0"/>
              <a:t>f</a:t>
            </a:r>
            <a:r>
              <a:rPr lang="pt-BR" dirty="0" smtClean="0"/>
              <a:t> de </a:t>
            </a:r>
            <a:r>
              <a:rPr lang="pt-BR" i="1" dirty="0" smtClean="0"/>
              <a:t>A={a,b,c,d} </a:t>
            </a:r>
            <a:r>
              <a:rPr lang="pt-BR" dirty="0" smtClean="0"/>
              <a:t>para </a:t>
            </a:r>
            <a:r>
              <a:rPr lang="pt-BR" i="1" dirty="0" smtClean="0"/>
              <a:t>B={1,2,3,4,5} </a:t>
            </a:r>
            <a:r>
              <a:rPr lang="pt-BR" dirty="0" smtClean="0"/>
              <a:t>com </a:t>
            </a:r>
            <a:r>
              <a:rPr lang="pt-BR" i="1" dirty="0" smtClean="0"/>
              <a:t>f(a)=4</a:t>
            </a:r>
            <a:r>
              <a:rPr lang="pt-BR" dirty="0" smtClean="0"/>
              <a:t>, </a:t>
            </a:r>
            <a:r>
              <a:rPr lang="pt-BR" i="1" dirty="0" smtClean="0"/>
              <a:t>f(b)=5</a:t>
            </a:r>
            <a:r>
              <a:rPr lang="pt-BR" dirty="0" smtClean="0"/>
              <a:t>, </a:t>
            </a:r>
            <a:r>
              <a:rPr lang="pt-BR" i="1" dirty="0" smtClean="0"/>
              <a:t>f(c)=1 </a:t>
            </a:r>
            <a:r>
              <a:rPr lang="pt-BR" dirty="0" smtClean="0"/>
              <a:t>e </a:t>
            </a:r>
            <a:r>
              <a:rPr lang="pt-BR" i="1" dirty="0" smtClean="0"/>
              <a:t>f(d)=3</a:t>
            </a:r>
            <a:r>
              <a:rPr lang="pt-BR" dirty="0" smtClean="0"/>
              <a:t>.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 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 </a:t>
            </a:r>
            <a:r>
              <a:rPr lang="pt-BR" i="1" dirty="0" smtClean="0"/>
              <a:t>f(x)=x+1 </a:t>
            </a:r>
            <a:r>
              <a:rPr lang="pt-BR" dirty="0" smtClean="0"/>
              <a:t>nos reais.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 </a:t>
            </a:r>
            <a:r>
              <a:rPr lang="pt-BR" i="1" dirty="0" smtClean="0"/>
              <a:t>f</a:t>
            </a:r>
            <a:r>
              <a:rPr lang="pt-BR" dirty="0" smtClean="0"/>
              <a:t> de </a:t>
            </a:r>
            <a:r>
              <a:rPr lang="pt-BR" i="1" dirty="0" smtClean="0"/>
              <a:t>A={a,b,c,d} </a:t>
            </a:r>
            <a:r>
              <a:rPr lang="pt-BR" dirty="0" smtClean="0"/>
              <a:t>para </a:t>
            </a:r>
            <a:r>
              <a:rPr lang="pt-BR" i="1" dirty="0" smtClean="0"/>
              <a:t>B={1,2,3} </a:t>
            </a:r>
            <a:r>
              <a:rPr lang="pt-BR" dirty="0" smtClean="0"/>
              <a:t>com </a:t>
            </a:r>
            <a:r>
              <a:rPr lang="pt-BR" i="1" dirty="0" smtClean="0"/>
              <a:t>f(a)=3</a:t>
            </a:r>
            <a:r>
              <a:rPr lang="pt-BR" dirty="0" smtClean="0"/>
              <a:t>, </a:t>
            </a:r>
            <a:r>
              <a:rPr lang="pt-BR" i="1" dirty="0" smtClean="0"/>
              <a:t>f(b)=2</a:t>
            </a:r>
            <a:r>
              <a:rPr lang="pt-BR" dirty="0" smtClean="0"/>
              <a:t>, </a:t>
            </a:r>
            <a:r>
              <a:rPr lang="pt-BR" i="1" dirty="0" smtClean="0"/>
              <a:t>f(c)=1 </a:t>
            </a:r>
            <a:r>
              <a:rPr lang="pt-BR" dirty="0" smtClean="0"/>
              <a:t>e </a:t>
            </a:r>
            <a:r>
              <a:rPr lang="pt-BR" i="1" dirty="0" smtClean="0"/>
              <a:t>f(d)=3</a:t>
            </a:r>
            <a:r>
              <a:rPr lang="pt-BR" dirty="0" smtClean="0"/>
              <a:t>.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 </a:t>
            </a:r>
            <a:r>
              <a:rPr lang="pt-BR" i="1" dirty="0" smtClean="0"/>
              <a:t>f</a:t>
            </a:r>
            <a:r>
              <a:rPr lang="pt-BR" dirty="0" smtClean="0"/>
              <a:t> de </a:t>
            </a:r>
            <a:r>
              <a:rPr lang="pt-BR" i="1" dirty="0" smtClean="0"/>
              <a:t>A={a,b,c,d} </a:t>
            </a:r>
            <a:r>
              <a:rPr lang="pt-BR" dirty="0" smtClean="0"/>
              <a:t>para </a:t>
            </a:r>
            <a:r>
              <a:rPr lang="pt-BR" i="1" dirty="0" smtClean="0"/>
              <a:t>B={1,2,3,4} </a:t>
            </a:r>
            <a:r>
              <a:rPr lang="pt-BR" dirty="0" smtClean="0"/>
              <a:t>com </a:t>
            </a:r>
            <a:r>
              <a:rPr lang="pt-BR" i="1" dirty="0" smtClean="0"/>
              <a:t>f(a)=3</a:t>
            </a:r>
            <a:r>
              <a:rPr lang="pt-BR" dirty="0" smtClean="0"/>
              <a:t>, </a:t>
            </a:r>
            <a:r>
              <a:rPr lang="pt-BR" i="1" dirty="0" smtClean="0"/>
              <a:t>f(b)=2</a:t>
            </a:r>
            <a:r>
              <a:rPr lang="pt-BR" dirty="0" smtClean="0"/>
              <a:t>, </a:t>
            </a:r>
            <a:r>
              <a:rPr lang="pt-BR" i="1" dirty="0" smtClean="0"/>
              <a:t>f(c)=1 </a:t>
            </a:r>
            <a:r>
              <a:rPr lang="pt-BR" dirty="0" smtClean="0"/>
              <a:t>e </a:t>
            </a:r>
            <a:r>
              <a:rPr lang="pt-BR" i="1" dirty="0" smtClean="0"/>
              <a:t>f(d)=3</a:t>
            </a:r>
            <a:r>
              <a:rPr lang="pt-BR" dirty="0" smtClean="0"/>
              <a:t>.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785786" y="2857496"/>
          <a:ext cx="2643206" cy="453121"/>
        </p:xfrm>
        <a:graphic>
          <a:graphicData uri="http://schemas.openxmlformats.org/presentationml/2006/ole">
            <p:oleObj spid="_x0000_s6146" name="Equação" r:id="rId3" imgW="133344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42860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14282" y="1071546"/>
            <a:ext cx="892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Uma função </a:t>
            </a:r>
            <a:r>
              <a:rPr lang="pt-BR" i="1" dirty="0" smtClean="0"/>
              <a:t>f</a:t>
            </a:r>
            <a:r>
              <a:rPr lang="pt-BR" dirty="0" smtClean="0"/>
              <a:t> é </a:t>
            </a:r>
            <a:r>
              <a:rPr lang="pt-BR" dirty="0" smtClean="0">
                <a:solidFill>
                  <a:srgbClr val="0070C0"/>
                </a:solidFill>
              </a:rPr>
              <a:t>bijetora</a:t>
            </a:r>
            <a:r>
              <a:rPr lang="pt-BR" dirty="0" smtClean="0"/>
              <a:t> se é injetora e </a:t>
            </a:r>
            <a:r>
              <a:rPr lang="pt-BR" dirty="0" err="1" smtClean="0"/>
              <a:t>sobrejetora</a:t>
            </a:r>
            <a:r>
              <a:rPr lang="pt-BR" dirty="0" smtClean="0"/>
              <a:t>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57158" y="185736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</a:p>
        </p:txBody>
      </p:sp>
      <p:sp>
        <p:nvSpPr>
          <p:cNvPr id="7" name="Retângulo 6"/>
          <p:cNvSpPr/>
          <p:nvPr/>
        </p:nvSpPr>
        <p:spPr>
          <a:xfrm>
            <a:off x="285720" y="2571744"/>
            <a:ext cx="85011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Seja</a:t>
            </a:r>
            <a:r>
              <a:rPr lang="pt-BR" i="1" dirty="0" smtClean="0"/>
              <a:t> f</a:t>
            </a:r>
            <a:r>
              <a:rPr lang="pt-BR" dirty="0" smtClean="0"/>
              <a:t> de </a:t>
            </a:r>
            <a:r>
              <a:rPr lang="pt-BR" i="1" dirty="0" smtClean="0"/>
              <a:t>A={a,b,c,d} </a:t>
            </a:r>
            <a:r>
              <a:rPr lang="pt-BR" dirty="0" smtClean="0"/>
              <a:t>para </a:t>
            </a:r>
            <a:r>
              <a:rPr lang="pt-BR" i="1" dirty="0" smtClean="0"/>
              <a:t>B={1,2,3,4} </a:t>
            </a:r>
            <a:r>
              <a:rPr lang="pt-BR" dirty="0" smtClean="0"/>
              <a:t>com </a:t>
            </a:r>
            <a:r>
              <a:rPr lang="pt-BR" i="1" dirty="0" smtClean="0"/>
              <a:t>f(a)=4</a:t>
            </a:r>
            <a:r>
              <a:rPr lang="pt-BR" dirty="0" smtClean="0"/>
              <a:t>, </a:t>
            </a:r>
            <a:r>
              <a:rPr lang="pt-BR" i="1" dirty="0" smtClean="0"/>
              <a:t>f(b)=2</a:t>
            </a:r>
            <a:r>
              <a:rPr lang="pt-BR" dirty="0" smtClean="0"/>
              <a:t>, </a:t>
            </a:r>
            <a:r>
              <a:rPr lang="pt-BR" i="1" dirty="0" smtClean="0"/>
              <a:t>f(c)=1 </a:t>
            </a:r>
            <a:r>
              <a:rPr lang="pt-BR" dirty="0" smtClean="0"/>
              <a:t>e </a:t>
            </a:r>
            <a:r>
              <a:rPr lang="pt-BR" i="1" dirty="0" smtClean="0"/>
              <a:t>f(d)=3</a:t>
            </a:r>
            <a:r>
              <a:rPr lang="pt-BR" dirty="0" smtClean="0"/>
              <a:t>. Pode-se dizer que  </a:t>
            </a:r>
            <a:r>
              <a:rPr lang="pt-BR" i="1" dirty="0" smtClean="0"/>
              <a:t>f </a:t>
            </a:r>
            <a:r>
              <a:rPr lang="pt-BR" dirty="0" smtClean="0"/>
              <a:t>é bijetora?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 Considere </a:t>
            </a:r>
            <a:r>
              <a:rPr lang="pt-BR" i="1" dirty="0" smtClean="0"/>
              <a:t>A</a:t>
            </a:r>
            <a:r>
              <a:rPr lang="pt-BR" dirty="0" smtClean="0"/>
              <a:t> um conjunto e a função identidade em que associa cada elemento de </a:t>
            </a:r>
            <a:r>
              <a:rPr lang="pt-BR" i="1" dirty="0" smtClean="0"/>
              <a:t>A</a:t>
            </a:r>
            <a:r>
              <a:rPr lang="pt-BR" dirty="0" smtClean="0"/>
              <a:t> </a:t>
            </a:r>
            <a:r>
              <a:rPr lang="pt-BR" dirty="0" err="1" smtClean="0"/>
              <a:t>a</a:t>
            </a:r>
            <a:r>
              <a:rPr lang="pt-BR" dirty="0" smtClean="0"/>
              <a:t> ele mesmo. Essa função é bijetora?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428596" y="1071546"/>
            <a:ext cx="814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 de tipos diferentes de correspondências</a:t>
            </a:r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425" y="2000250"/>
            <a:ext cx="843915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42860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7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14282" y="1071546"/>
            <a:ext cx="89297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Uma função </a:t>
            </a:r>
            <a:r>
              <a:rPr lang="pt-BR" i="1" dirty="0" smtClean="0"/>
              <a:t>f</a:t>
            </a:r>
            <a:r>
              <a:rPr lang="pt-BR" dirty="0" smtClean="0"/>
              <a:t> cujo domínio e contradomínio  são subconjuntos dos reais é denominada </a:t>
            </a:r>
            <a:r>
              <a:rPr lang="pt-BR" dirty="0" smtClean="0">
                <a:solidFill>
                  <a:srgbClr val="0070C0"/>
                </a:solidFill>
              </a:rPr>
              <a:t>crescente</a:t>
            </a:r>
            <a:r>
              <a:rPr lang="pt-BR" dirty="0" smtClean="0"/>
              <a:t> se                       , sempre   </a:t>
            </a:r>
          </a:p>
          <a:p>
            <a:pPr>
              <a:buClr>
                <a:srgbClr val="0070C0"/>
              </a:buClr>
            </a:pPr>
            <a:r>
              <a:rPr lang="pt-BR" dirty="0" smtClean="0"/>
              <a:t>com </a:t>
            </a:r>
            <a:r>
              <a:rPr lang="pt-BR" i="1" dirty="0" smtClean="0"/>
              <a:t>             </a:t>
            </a:r>
            <a:r>
              <a:rPr lang="pt-BR" dirty="0" smtClean="0"/>
              <a:t>  pertencentes ao domínio de </a:t>
            </a:r>
            <a:r>
              <a:rPr lang="pt-BR" i="1" dirty="0" smtClean="0"/>
              <a:t>f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Analogamente,  </a:t>
            </a:r>
            <a:r>
              <a:rPr lang="pt-BR" i="1" dirty="0" smtClean="0"/>
              <a:t>f</a:t>
            </a:r>
            <a:r>
              <a:rPr lang="pt-BR" dirty="0" smtClean="0"/>
              <a:t> é decrescente se                          sempre que             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4143372" y="1500174"/>
          <a:ext cx="1811346" cy="431017"/>
        </p:xfrm>
        <a:graphic>
          <a:graphicData uri="http://schemas.openxmlformats.org/presentationml/2006/ole">
            <p:oleObj spid="_x0000_s9218" name="Equação" r:id="rId3" imgW="1015920" imgH="241200" progId="Equation.3">
              <p:embed/>
            </p:oleObj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285720" y="3357562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214282" y="4214818"/>
            <a:ext cx="87154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1)  </a:t>
            </a:r>
            <a:r>
              <a:rPr lang="pt-BR" i="1" dirty="0" smtClean="0"/>
              <a:t>f(x)=x</a:t>
            </a:r>
          </a:p>
          <a:p>
            <a:pPr>
              <a:buClr>
                <a:srgbClr val="0070C0"/>
              </a:buClr>
            </a:pPr>
            <a:endParaRPr lang="pt-BR" i="1" dirty="0" smtClean="0"/>
          </a:p>
          <a:p>
            <a:pPr>
              <a:buClr>
                <a:srgbClr val="0070C0"/>
              </a:buClr>
            </a:pPr>
            <a:r>
              <a:rPr lang="pt-BR" i="1" dirty="0" smtClean="0"/>
              <a:t>2) f(x)= 1-x</a:t>
            </a:r>
            <a:endParaRPr lang="pt-BR" dirty="0" smtClean="0"/>
          </a:p>
          <a:p>
            <a:pPr>
              <a:buClr>
                <a:srgbClr val="0070C0"/>
              </a:buClr>
            </a:pPr>
            <a:endParaRPr lang="pt-BR" dirty="0" smtClean="0"/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8032750" y="2500313"/>
          <a:ext cx="935038" cy="455612"/>
        </p:xfrm>
        <a:graphic>
          <a:graphicData uri="http://schemas.openxmlformats.org/presentationml/2006/ole">
            <p:oleObj spid="_x0000_s9221" name="Equação" r:id="rId4" imgW="444240" imgH="215640" progId="Equation.3">
              <p:embed/>
            </p:oleObj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928662" y="1785926"/>
          <a:ext cx="1042988" cy="455612"/>
        </p:xfrm>
        <a:graphic>
          <a:graphicData uri="http://schemas.openxmlformats.org/presentationml/2006/ole">
            <p:oleObj spid="_x0000_s9222" name="Equação" r:id="rId5" imgW="495000" imgH="215640" progId="Equation.3">
              <p:embed/>
            </p:oleObj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4714876" y="2571744"/>
          <a:ext cx="1825623" cy="432740"/>
        </p:xfrm>
        <a:graphic>
          <a:graphicData uri="http://schemas.openxmlformats.org/presentationml/2006/ole">
            <p:oleObj spid="_x0000_s9223" name="Equação" r:id="rId6" imgW="1015920" imgH="241200" progId="Equation.3">
              <p:embed/>
            </p:oleObj>
          </a:graphicData>
        </a:graphic>
      </p:graphicFrame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7192963" y="1473200"/>
          <a:ext cx="1042987" cy="509588"/>
        </p:xfrm>
        <a:graphic>
          <a:graphicData uri="http://schemas.openxmlformats.org/presentationml/2006/ole">
            <p:oleObj spid="_x0000_s9224" name="Equação" r:id="rId7" imgW="495000" imgH="241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42860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8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14282" y="1071546"/>
            <a:ext cx="89297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Seja </a:t>
            </a:r>
            <a:r>
              <a:rPr lang="pt-BR" i="1" dirty="0" smtClean="0"/>
              <a:t>f</a:t>
            </a:r>
            <a:r>
              <a:rPr lang="pt-BR" dirty="0" smtClean="0"/>
              <a:t> uma função bijetora do conjunto </a:t>
            </a:r>
            <a:r>
              <a:rPr lang="pt-BR" i="1" dirty="0" smtClean="0"/>
              <a:t>A</a:t>
            </a:r>
            <a:r>
              <a:rPr lang="pt-BR" dirty="0" smtClean="0"/>
              <a:t> para o conjunto </a:t>
            </a:r>
            <a:r>
              <a:rPr lang="pt-BR" i="1" dirty="0" smtClean="0"/>
              <a:t>B</a:t>
            </a:r>
            <a:r>
              <a:rPr lang="pt-BR" dirty="0" smtClean="0"/>
              <a:t>.  A </a:t>
            </a:r>
            <a:r>
              <a:rPr lang="pt-BR" dirty="0" smtClean="0">
                <a:solidFill>
                  <a:srgbClr val="0070C0"/>
                </a:solidFill>
              </a:rPr>
              <a:t>função inversa </a:t>
            </a:r>
            <a:r>
              <a:rPr lang="pt-BR" dirty="0" smtClean="0"/>
              <a:t>de </a:t>
            </a:r>
            <a:r>
              <a:rPr lang="pt-BR" i="1" dirty="0" smtClean="0"/>
              <a:t>f </a:t>
            </a:r>
            <a:r>
              <a:rPr lang="pt-BR" dirty="0" smtClean="0"/>
              <a:t> denotada por           é a função de </a:t>
            </a:r>
            <a:r>
              <a:rPr lang="pt-BR" i="1" dirty="0" smtClean="0"/>
              <a:t>B</a:t>
            </a:r>
            <a:r>
              <a:rPr lang="pt-BR" dirty="0" smtClean="0"/>
              <a:t> para  </a:t>
            </a:r>
            <a:r>
              <a:rPr lang="pt-BR" i="1" dirty="0" smtClean="0"/>
              <a:t>A</a:t>
            </a:r>
            <a:r>
              <a:rPr lang="pt-BR" dirty="0" smtClean="0"/>
              <a:t> tal que</a:t>
            </a:r>
          </a:p>
          <a:p>
            <a:pPr>
              <a:buClr>
                <a:srgbClr val="0070C0"/>
              </a:buClr>
            </a:pPr>
            <a:r>
              <a:rPr lang="pt-BR" dirty="0" smtClean="0"/>
              <a:t>                      quando</a:t>
            </a:r>
          </a:p>
          <a:p>
            <a:pPr algn="ctr"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Se </a:t>
            </a:r>
            <a:r>
              <a:rPr lang="pt-BR" i="1" dirty="0" smtClean="0"/>
              <a:t>f</a:t>
            </a:r>
            <a:r>
              <a:rPr lang="pt-BR" dirty="0" smtClean="0"/>
              <a:t> é bijeção então </a:t>
            </a:r>
            <a:r>
              <a:rPr lang="pt-BR" i="1" dirty="0" smtClean="0"/>
              <a:t>f</a:t>
            </a:r>
            <a:r>
              <a:rPr lang="pt-BR" dirty="0" smtClean="0"/>
              <a:t> é </a:t>
            </a:r>
            <a:r>
              <a:rPr lang="pt-BR" dirty="0" err="1" smtClean="0"/>
              <a:t>inversível</a:t>
            </a:r>
            <a:r>
              <a:rPr lang="pt-BR" dirty="0" smtClean="0"/>
              <a:t>.   </a:t>
            </a:r>
          </a:p>
        </p:txBody>
      </p:sp>
      <p:graphicFrame>
        <p:nvGraphicFramePr>
          <p:cNvPr id="12" name="Objeto 11"/>
          <p:cNvGraphicFramePr>
            <a:graphicFrameLocks noChangeAspect="1"/>
          </p:cNvGraphicFramePr>
          <p:nvPr/>
        </p:nvGraphicFramePr>
        <p:xfrm>
          <a:off x="4500562" y="1428736"/>
          <a:ext cx="571504" cy="514354"/>
        </p:xfrm>
        <a:graphic>
          <a:graphicData uri="http://schemas.openxmlformats.org/presentationml/2006/ole">
            <p:oleObj spid="_x0000_s24580" name="Equação" r:id="rId3" imgW="253800" imgH="228600" progId="Equation.3">
              <p:embed/>
            </p:oleObj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285720" y="1785926"/>
          <a:ext cx="1514475" cy="514350"/>
        </p:xfrm>
        <a:graphic>
          <a:graphicData uri="http://schemas.openxmlformats.org/presentationml/2006/ole">
            <p:oleObj spid="_x0000_s24581" name="Equação" r:id="rId4" imgW="672840" imgH="228600" progId="Equation.3">
              <p:embed/>
            </p:oleObj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3086100" y="1885950"/>
          <a:ext cx="1343025" cy="457200"/>
        </p:xfrm>
        <a:graphic>
          <a:graphicData uri="http://schemas.openxmlformats.org/presentationml/2006/ole">
            <p:oleObj spid="_x0000_s24582" name="Equação" r:id="rId5" imgW="596880" imgH="203040" progId="Equation.3">
              <p:embed/>
            </p:oleObj>
          </a:graphicData>
        </a:graphic>
      </p:graphicFrame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71604" y="3429000"/>
            <a:ext cx="6072230" cy="2702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42860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14282" y="1071546"/>
            <a:ext cx="89297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Verifique se as funções dadas são </a:t>
            </a:r>
            <a:r>
              <a:rPr lang="pt-BR" dirty="0" err="1" smtClean="0"/>
              <a:t>inversíveis</a:t>
            </a:r>
            <a:r>
              <a:rPr lang="pt-BR" dirty="0" smtClean="0"/>
              <a:t> e, em caso positivo, determine sua inversa: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i="1" dirty="0" smtClean="0"/>
              <a:t>f</a:t>
            </a:r>
            <a:r>
              <a:rPr lang="pt-BR" dirty="0" smtClean="0"/>
              <a:t> de </a:t>
            </a:r>
            <a:r>
              <a:rPr lang="pt-BR" i="1" dirty="0" smtClean="0"/>
              <a:t>A={a,b,c} </a:t>
            </a:r>
            <a:r>
              <a:rPr lang="pt-BR" dirty="0" smtClean="0"/>
              <a:t>para </a:t>
            </a:r>
            <a:r>
              <a:rPr lang="pt-BR" i="1" dirty="0" smtClean="0"/>
              <a:t>B={1,2,3} </a:t>
            </a:r>
            <a:r>
              <a:rPr lang="pt-BR" dirty="0" smtClean="0"/>
              <a:t>com </a:t>
            </a:r>
            <a:r>
              <a:rPr lang="pt-BR" i="1" dirty="0" smtClean="0"/>
              <a:t>f(a)=2</a:t>
            </a:r>
            <a:r>
              <a:rPr lang="pt-BR" dirty="0" smtClean="0"/>
              <a:t>, </a:t>
            </a:r>
            <a:r>
              <a:rPr lang="pt-BR" i="1" dirty="0" smtClean="0"/>
              <a:t>f(b)=3</a:t>
            </a:r>
            <a:r>
              <a:rPr lang="pt-BR" dirty="0" smtClean="0"/>
              <a:t>, </a:t>
            </a:r>
            <a:r>
              <a:rPr lang="pt-BR" i="1" dirty="0" smtClean="0"/>
              <a:t>f(c)=1</a:t>
            </a:r>
            <a:r>
              <a:rPr lang="pt-BR" dirty="0" smtClean="0"/>
              <a:t>.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 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  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  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785786" y="2571744"/>
          <a:ext cx="2919413" cy="401638"/>
        </p:xfrm>
        <a:graphic>
          <a:graphicData uri="http://schemas.openxmlformats.org/presentationml/2006/ole">
            <p:oleObj spid="_x0000_s25602" name="Equação" r:id="rId3" imgW="1473120" imgH="203040" progId="Equation.3">
              <p:embed/>
            </p:oleObj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601663" y="3286125"/>
          <a:ext cx="3144837" cy="500063"/>
        </p:xfrm>
        <a:graphic>
          <a:graphicData uri="http://schemas.openxmlformats.org/presentationml/2006/ole">
            <p:oleObj spid="_x0000_s25603" name="Equação" r:id="rId4" imgW="1434960" imgH="228600" progId="Equation.3">
              <p:embed/>
            </p:oleObj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623888" y="4000500"/>
          <a:ext cx="3165475" cy="466725"/>
        </p:xfrm>
        <a:graphic>
          <a:graphicData uri="http://schemas.openxmlformats.org/presentationml/2006/ole">
            <p:oleObj spid="_x0000_s25604" name="Equação" r:id="rId5" imgW="154908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42860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9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14282" y="1071546"/>
            <a:ext cx="87154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dirty="0" smtClean="0"/>
              <a:t>Considere </a:t>
            </a:r>
            <a:r>
              <a:rPr lang="pt-BR" i="1" dirty="0" smtClean="0"/>
              <a:t>g</a:t>
            </a:r>
            <a:r>
              <a:rPr lang="pt-BR" dirty="0" smtClean="0"/>
              <a:t> como uma função do conjunto </a:t>
            </a:r>
            <a:r>
              <a:rPr lang="pt-BR" i="1" dirty="0" smtClean="0"/>
              <a:t>A</a:t>
            </a:r>
            <a:r>
              <a:rPr lang="pt-BR" dirty="0" smtClean="0"/>
              <a:t> para o conjunto </a:t>
            </a:r>
            <a:r>
              <a:rPr lang="pt-BR" i="1" dirty="0" smtClean="0"/>
              <a:t>B</a:t>
            </a:r>
            <a:r>
              <a:rPr lang="pt-BR" dirty="0" smtClean="0"/>
              <a:t> e considere </a:t>
            </a:r>
            <a:r>
              <a:rPr lang="pt-BR" i="1" dirty="0" smtClean="0"/>
              <a:t>f</a:t>
            </a:r>
            <a:r>
              <a:rPr lang="pt-BR" dirty="0" smtClean="0"/>
              <a:t> como uma função do conjunto </a:t>
            </a:r>
            <a:r>
              <a:rPr lang="pt-BR" i="1" dirty="0" smtClean="0"/>
              <a:t>B</a:t>
            </a:r>
            <a:r>
              <a:rPr lang="pt-BR" dirty="0" smtClean="0"/>
              <a:t> para o conjunto </a:t>
            </a:r>
            <a:r>
              <a:rPr lang="pt-BR" i="1" dirty="0" smtClean="0"/>
              <a:t>C</a:t>
            </a:r>
            <a:r>
              <a:rPr lang="pt-BR" dirty="0" smtClean="0"/>
              <a:t>. A </a:t>
            </a:r>
            <a:r>
              <a:rPr lang="pt-BR" dirty="0" smtClean="0">
                <a:solidFill>
                  <a:srgbClr val="0070C0"/>
                </a:solidFill>
              </a:rPr>
              <a:t>composição</a:t>
            </a:r>
            <a:r>
              <a:rPr lang="pt-BR" dirty="0" smtClean="0"/>
              <a:t> das funções </a:t>
            </a:r>
            <a:r>
              <a:rPr lang="pt-BR" i="1" dirty="0" smtClean="0"/>
              <a:t>f</a:t>
            </a:r>
            <a:r>
              <a:rPr lang="pt-BR" dirty="0" smtClean="0"/>
              <a:t> e </a:t>
            </a:r>
            <a:r>
              <a:rPr lang="pt-BR" i="1" dirty="0" smtClean="0"/>
              <a:t>g</a:t>
            </a:r>
            <a:r>
              <a:rPr lang="pt-BR" dirty="0" smtClean="0"/>
              <a:t>, indicada por </a:t>
            </a:r>
            <a:r>
              <a:rPr lang="pt-BR" i="1" dirty="0" smtClean="0"/>
              <a:t>fog</a:t>
            </a:r>
            <a:r>
              <a:rPr lang="pt-BR" dirty="0" smtClean="0"/>
              <a:t> é definida por :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 algn="ctr">
              <a:buClr>
                <a:srgbClr val="0070C0"/>
              </a:buClr>
            </a:pPr>
            <a:r>
              <a:rPr lang="pt-BR" i="1" dirty="0" smtClean="0"/>
              <a:t>(fog)(a)=f(g(a))</a:t>
            </a:r>
            <a:endParaRPr lang="pt-BR" dirty="0" smtClean="0"/>
          </a:p>
        </p:txBody>
      </p:sp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3071810"/>
            <a:ext cx="7715304" cy="350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85720" y="428604"/>
            <a:ext cx="65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14282" y="1071546"/>
            <a:ext cx="892971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Considere</a:t>
            </a:r>
            <a:r>
              <a:rPr lang="pt-BR" i="1" dirty="0" smtClean="0"/>
              <a:t> g </a:t>
            </a:r>
            <a:r>
              <a:rPr lang="pt-BR" dirty="0" smtClean="0"/>
              <a:t>como a função do conjunto </a:t>
            </a:r>
            <a:r>
              <a:rPr lang="pt-BR" i="1" dirty="0" smtClean="0"/>
              <a:t>{a,b,c} , </a:t>
            </a:r>
            <a:r>
              <a:rPr lang="pt-BR" i="1" dirty="0" err="1" smtClean="0"/>
              <a:t>t.q.</a:t>
            </a:r>
            <a:r>
              <a:rPr lang="pt-BR" i="1" dirty="0" smtClean="0"/>
              <a:t> g(a)=b</a:t>
            </a:r>
            <a:r>
              <a:rPr lang="pt-BR" dirty="0" smtClean="0"/>
              <a:t>, </a:t>
            </a:r>
            <a:r>
              <a:rPr lang="pt-BR" i="1" dirty="0" smtClean="0"/>
              <a:t>g(b)=c</a:t>
            </a:r>
            <a:r>
              <a:rPr lang="pt-BR" dirty="0" smtClean="0"/>
              <a:t>, </a:t>
            </a:r>
            <a:r>
              <a:rPr lang="pt-BR" i="1" dirty="0" smtClean="0"/>
              <a:t>g(c)=a</a:t>
            </a:r>
            <a:r>
              <a:rPr lang="pt-BR" dirty="0" smtClean="0"/>
              <a:t>. Considere</a:t>
            </a:r>
            <a:r>
              <a:rPr lang="pt-BR" i="1" dirty="0" smtClean="0"/>
              <a:t> f </a:t>
            </a:r>
            <a:r>
              <a:rPr lang="pt-BR" dirty="0" smtClean="0"/>
              <a:t>como a função do conjunto </a:t>
            </a:r>
            <a:r>
              <a:rPr lang="pt-BR" i="1" dirty="0" smtClean="0"/>
              <a:t>{a,b,c},</a:t>
            </a:r>
            <a:r>
              <a:rPr lang="pt-BR" dirty="0" smtClean="0"/>
              <a:t> para o conjunto</a:t>
            </a:r>
            <a:r>
              <a:rPr lang="pt-BR" i="1" dirty="0" smtClean="0"/>
              <a:t>  {1,2,3} , </a:t>
            </a:r>
            <a:r>
              <a:rPr lang="pt-BR" i="1" dirty="0" err="1" smtClean="0"/>
              <a:t>t.q.</a:t>
            </a:r>
            <a:r>
              <a:rPr lang="pt-BR" i="1" dirty="0" smtClean="0"/>
              <a:t> f(a)=3</a:t>
            </a:r>
            <a:r>
              <a:rPr lang="pt-BR" dirty="0" smtClean="0"/>
              <a:t>, </a:t>
            </a:r>
            <a:r>
              <a:rPr lang="pt-BR" i="1" dirty="0" smtClean="0"/>
              <a:t>f(b)=2</a:t>
            </a:r>
            <a:r>
              <a:rPr lang="pt-BR" dirty="0" smtClean="0"/>
              <a:t>, </a:t>
            </a:r>
            <a:r>
              <a:rPr lang="pt-BR" i="1" dirty="0" smtClean="0"/>
              <a:t>f(c)=1</a:t>
            </a:r>
            <a:r>
              <a:rPr lang="pt-BR" dirty="0" smtClean="0"/>
              <a:t>.  Qual é a composição de  </a:t>
            </a:r>
            <a:r>
              <a:rPr lang="pt-BR" i="1" dirty="0" smtClean="0"/>
              <a:t>f </a:t>
            </a:r>
            <a:r>
              <a:rPr lang="pt-BR" dirty="0" smtClean="0"/>
              <a:t>e </a:t>
            </a:r>
            <a:r>
              <a:rPr lang="pt-BR" i="1" dirty="0" smtClean="0"/>
              <a:t>g</a:t>
            </a:r>
            <a:r>
              <a:rPr lang="pt-BR" dirty="0" smtClean="0"/>
              <a:t>? Qual é a composição de </a:t>
            </a:r>
            <a:r>
              <a:rPr lang="pt-BR" i="1" dirty="0" smtClean="0"/>
              <a:t>g</a:t>
            </a:r>
            <a:r>
              <a:rPr lang="pt-BR" dirty="0" smtClean="0"/>
              <a:t> e </a:t>
            </a:r>
            <a:r>
              <a:rPr lang="pt-BR" i="1" dirty="0" smtClean="0"/>
              <a:t>f</a:t>
            </a:r>
            <a:r>
              <a:rPr lang="pt-BR" dirty="0" smtClean="0"/>
              <a:t>?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 Considere f e g como funções de </a:t>
            </a:r>
            <a:r>
              <a:rPr lang="pt-BR" b="1" dirty="0" smtClean="0"/>
              <a:t>Z</a:t>
            </a:r>
            <a:r>
              <a:rPr lang="pt-BR" dirty="0" smtClean="0"/>
              <a:t>  em </a:t>
            </a:r>
            <a:r>
              <a:rPr lang="pt-BR" b="1" dirty="0" smtClean="0"/>
              <a:t>Z</a:t>
            </a:r>
            <a:r>
              <a:rPr lang="pt-BR" dirty="0" smtClean="0"/>
              <a:t>, definidas por  </a:t>
            </a:r>
            <a:r>
              <a:rPr lang="pt-BR" i="1" dirty="0" smtClean="0"/>
              <a:t>f(x)=2x+3 </a:t>
            </a:r>
            <a:r>
              <a:rPr lang="pt-BR" dirty="0" smtClean="0"/>
              <a:t>e </a:t>
            </a:r>
            <a:r>
              <a:rPr lang="pt-BR" i="1" dirty="0" smtClean="0"/>
              <a:t>g(x)=3x+2</a:t>
            </a:r>
            <a:r>
              <a:rPr lang="pt-BR" dirty="0" smtClean="0"/>
              <a:t>. Qual é a composição de  </a:t>
            </a:r>
            <a:r>
              <a:rPr lang="pt-BR" i="1" dirty="0" smtClean="0"/>
              <a:t>f </a:t>
            </a:r>
            <a:r>
              <a:rPr lang="pt-BR" dirty="0" smtClean="0"/>
              <a:t>e </a:t>
            </a:r>
            <a:r>
              <a:rPr lang="pt-BR" i="1" dirty="0" smtClean="0"/>
              <a:t>g</a:t>
            </a:r>
            <a:r>
              <a:rPr lang="pt-BR" dirty="0" smtClean="0"/>
              <a:t>? Qual é a composição de </a:t>
            </a:r>
            <a:r>
              <a:rPr lang="pt-BR" i="1" dirty="0" smtClean="0"/>
              <a:t>g</a:t>
            </a:r>
            <a:r>
              <a:rPr lang="pt-BR" dirty="0" smtClean="0"/>
              <a:t> e </a:t>
            </a:r>
            <a:r>
              <a:rPr lang="pt-BR" i="1" dirty="0" smtClean="0"/>
              <a:t>f</a:t>
            </a:r>
            <a:r>
              <a:rPr lang="pt-BR" dirty="0" smtClean="0"/>
              <a:t>?</a:t>
            </a:r>
            <a:endParaRPr lang="pt-BR" b="1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</a:pPr>
            <a:r>
              <a:rPr lang="pt-BR" dirty="0" smtClean="0"/>
              <a:t>  </a:t>
            </a:r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</a:pPr>
            <a:r>
              <a:rPr lang="pt-BR" dirty="0" smtClean="0"/>
              <a:t> 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  <a:p>
            <a:pPr marL="457200" indent="-457200">
              <a:buClr>
                <a:srgbClr val="0070C0"/>
              </a:buClr>
              <a:buAutoNum type="arabicParenR"/>
            </a:pPr>
            <a:endParaRPr lang="pt-BR" dirty="0" smtClean="0"/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27653" name="Equação" r:id="rId3" imgW="114120" imgH="215640" progId="Equation.3">
              <p:embed/>
            </p:oleObj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2071670" y="4929198"/>
            <a:ext cx="5643602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 smtClean="0">
                <a:solidFill>
                  <a:schemeClr val="accent1">
                    <a:lumMod val="50000"/>
                  </a:schemeClr>
                </a:solidFill>
              </a:rPr>
              <a:t>A propriedade comutativa não se aplica à composição de funções!!!!</a:t>
            </a:r>
            <a:endParaRPr lang="pt-BR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10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71472" y="928670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Considere </a:t>
            </a:r>
            <a:r>
              <a:rPr lang="pt-BR" i="1" dirty="0" smtClean="0"/>
              <a:t>f </a:t>
            </a:r>
            <a:r>
              <a:rPr lang="pt-BR" dirty="0" smtClean="0"/>
              <a:t>como uma função de um conjunto A para um conjunto B. O gráfico de </a:t>
            </a:r>
            <a:r>
              <a:rPr lang="pt-BR" i="1" dirty="0" smtClean="0"/>
              <a:t>f </a:t>
            </a:r>
            <a:r>
              <a:rPr lang="pt-BR" dirty="0" smtClean="0"/>
              <a:t>é o conjunto de pares ordenados </a:t>
            </a:r>
            <a:endParaRPr lang="pt-BR" dirty="0" smtClean="0">
              <a:solidFill>
                <a:srgbClr val="0070C0"/>
              </a:solidFill>
            </a:endParaRPr>
          </a:p>
          <a:p>
            <a:endParaRPr lang="pt-BR" i="1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16</a:t>
            </a:fld>
            <a:endParaRPr lang="pt-BR"/>
          </a:p>
        </p:txBody>
      </p:sp>
      <p:graphicFrame>
        <p:nvGraphicFramePr>
          <p:cNvPr id="19" name="Objeto 18"/>
          <p:cNvGraphicFramePr>
            <a:graphicFrameLocks noChangeAspect="1"/>
          </p:cNvGraphicFramePr>
          <p:nvPr/>
        </p:nvGraphicFramePr>
        <p:xfrm>
          <a:off x="2714612" y="1857364"/>
          <a:ext cx="3000396" cy="428628"/>
        </p:xfrm>
        <a:graphic>
          <a:graphicData uri="http://schemas.openxmlformats.org/presentationml/2006/ole">
            <p:oleObj spid="_x0000_s28674" name="Equação" r:id="rId3" imgW="1422360" imgH="203040" progId="Equation.3">
              <p:embed/>
            </p:oleObj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642910" y="250030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14282" y="3143248"/>
            <a:ext cx="89297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Esboce o gráfico de:</a:t>
            </a:r>
          </a:p>
          <a:p>
            <a:pPr marL="457200" indent="-457200"/>
            <a:r>
              <a:rPr lang="pt-BR" dirty="0" smtClean="0"/>
              <a:t>1)      </a:t>
            </a:r>
            <a:r>
              <a:rPr lang="pt-BR" i="1" dirty="0" smtClean="0"/>
              <a:t>f(n)=2n+1</a:t>
            </a:r>
            <a:r>
              <a:rPr lang="pt-BR" dirty="0" smtClean="0"/>
              <a:t>,</a:t>
            </a:r>
          </a:p>
          <a:p>
            <a:pPr marL="457200" indent="-457200"/>
            <a:endParaRPr lang="pt-BR" dirty="0" smtClean="0"/>
          </a:p>
          <a:p>
            <a:pPr marL="457200" indent="-457200"/>
            <a:r>
              <a:rPr lang="pt-BR" dirty="0" smtClean="0"/>
              <a:t>2) </a:t>
            </a:r>
            <a:endParaRPr lang="pt-BR" dirty="0"/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2571736" y="3571876"/>
          <a:ext cx="1446212" cy="428625"/>
        </p:xfrm>
        <a:graphic>
          <a:graphicData uri="http://schemas.openxmlformats.org/presentationml/2006/ole">
            <p:oleObj spid="_x0000_s28675" name="Equação" r:id="rId4" imgW="685800" imgH="203040" progId="Equation.3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857224" y="4286256"/>
          <a:ext cx="2811463" cy="482600"/>
        </p:xfrm>
        <a:graphic>
          <a:graphicData uri="http://schemas.openxmlformats.org/presentationml/2006/ole">
            <p:oleObj spid="_x0000_s28676" name="Equação" r:id="rId5" imgW="133344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11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71472" y="928670"/>
            <a:ext cx="7776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i="1" dirty="0" smtClean="0"/>
              <a:t> </a:t>
            </a:r>
            <a:r>
              <a:rPr lang="pt-BR" dirty="0" smtClean="0"/>
              <a:t>Função         : associa ao real </a:t>
            </a:r>
            <a:r>
              <a:rPr lang="pt-BR" i="1" dirty="0" smtClean="0"/>
              <a:t>x</a:t>
            </a:r>
            <a:r>
              <a:rPr lang="pt-BR" dirty="0" smtClean="0"/>
              <a:t>, o maior inteiro menor ou igual a </a:t>
            </a:r>
            <a:r>
              <a:rPr lang="pt-BR" i="1" dirty="0" smtClean="0"/>
              <a:t>x</a:t>
            </a:r>
            <a:r>
              <a:rPr lang="pt-BR" dirty="0" smtClean="0"/>
              <a:t>.     (</a:t>
            </a:r>
            <a:r>
              <a:rPr lang="pt-BR" i="1" dirty="0" smtClean="0">
                <a:solidFill>
                  <a:schemeClr val="accent2"/>
                </a:solidFill>
              </a:rPr>
              <a:t>piso de x</a:t>
            </a:r>
            <a:r>
              <a:rPr lang="pt-BR" dirty="0" smtClean="0">
                <a:solidFill>
                  <a:schemeClr val="accent2"/>
                </a:solidFill>
              </a:rPr>
              <a:t>)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i="1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i="1" dirty="0" smtClean="0"/>
              <a:t> </a:t>
            </a:r>
            <a:r>
              <a:rPr lang="pt-BR" dirty="0" smtClean="0"/>
              <a:t>Função         : associa ao real </a:t>
            </a:r>
            <a:r>
              <a:rPr lang="pt-BR" i="1" dirty="0" smtClean="0"/>
              <a:t>x</a:t>
            </a:r>
            <a:r>
              <a:rPr lang="pt-BR" dirty="0" smtClean="0"/>
              <a:t>, o menor inteiro maior ou igual a </a:t>
            </a:r>
            <a:r>
              <a:rPr lang="pt-BR" i="1" dirty="0" smtClean="0"/>
              <a:t>x</a:t>
            </a:r>
            <a:r>
              <a:rPr lang="pt-BR" dirty="0" smtClean="0"/>
              <a:t>.   (</a:t>
            </a:r>
            <a:r>
              <a:rPr lang="pt-BR" i="1" dirty="0" smtClean="0">
                <a:solidFill>
                  <a:schemeClr val="accent2"/>
                </a:solidFill>
              </a:rPr>
              <a:t>teto de x</a:t>
            </a:r>
            <a:r>
              <a:rPr lang="pt-BR" dirty="0" smtClean="0"/>
              <a:t>)</a:t>
            </a:r>
            <a:endParaRPr lang="pt-BR" i="1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17</a:t>
            </a:fld>
            <a:endParaRPr lang="pt-BR"/>
          </a:p>
        </p:txBody>
      </p:sp>
      <p:graphicFrame>
        <p:nvGraphicFramePr>
          <p:cNvPr id="19" name="Objeto 18"/>
          <p:cNvGraphicFramePr>
            <a:graphicFrameLocks noChangeAspect="1"/>
          </p:cNvGraphicFramePr>
          <p:nvPr/>
        </p:nvGraphicFramePr>
        <p:xfrm>
          <a:off x="1990711" y="928670"/>
          <a:ext cx="509587" cy="482600"/>
        </p:xfrm>
        <a:graphic>
          <a:graphicData uri="http://schemas.openxmlformats.org/presentationml/2006/ole">
            <p:oleObj spid="_x0000_s29698" name="Equação" r:id="rId3" imgW="241200" imgH="228600" progId="Equation.3">
              <p:embed/>
            </p:oleObj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642910" y="321468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graphicFrame>
        <p:nvGraphicFramePr>
          <p:cNvPr id="29701" name="Object 2"/>
          <p:cNvGraphicFramePr>
            <a:graphicFrameLocks noChangeAspect="1"/>
          </p:cNvGraphicFramePr>
          <p:nvPr/>
        </p:nvGraphicFramePr>
        <p:xfrm>
          <a:off x="1928794" y="2000240"/>
          <a:ext cx="509588" cy="482600"/>
        </p:xfrm>
        <a:graphic>
          <a:graphicData uri="http://schemas.openxmlformats.org/presentationml/2006/ole">
            <p:oleObj spid="_x0000_s29701" name="Equação" r:id="rId4" imgW="241200" imgH="228600" progId="Equation.3">
              <p:embed/>
            </p:oleObj>
          </a:graphicData>
        </a:graphic>
      </p:graphicFrame>
      <p:graphicFrame>
        <p:nvGraphicFramePr>
          <p:cNvPr id="29702" name="Object 2"/>
          <p:cNvGraphicFramePr>
            <a:graphicFrameLocks noChangeAspect="1"/>
          </p:cNvGraphicFramePr>
          <p:nvPr/>
        </p:nvGraphicFramePr>
        <p:xfrm>
          <a:off x="214282" y="4786322"/>
          <a:ext cx="830263" cy="911225"/>
        </p:xfrm>
        <a:graphic>
          <a:graphicData uri="http://schemas.openxmlformats.org/presentationml/2006/ole">
            <p:oleObj spid="_x0000_s29702" name="Equação" r:id="rId5" imgW="393480" imgH="431640" progId="Equation.3">
              <p:embed/>
            </p:oleObj>
          </a:graphicData>
        </a:graphic>
      </p:graphicFrame>
      <p:graphicFrame>
        <p:nvGraphicFramePr>
          <p:cNvPr id="29703" name="Object 2"/>
          <p:cNvGraphicFramePr>
            <a:graphicFrameLocks noChangeAspect="1"/>
          </p:cNvGraphicFramePr>
          <p:nvPr/>
        </p:nvGraphicFramePr>
        <p:xfrm>
          <a:off x="1571604" y="4786322"/>
          <a:ext cx="830262" cy="911225"/>
        </p:xfrm>
        <a:graphic>
          <a:graphicData uri="http://schemas.openxmlformats.org/presentationml/2006/ole">
            <p:oleObj spid="_x0000_s29703" name="Equação" r:id="rId6" imgW="393480" imgH="431640" progId="Equation.3">
              <p:embed/>
            </p:oleObj>
          </a:graphicData>
        </a:graphic>
      </p:graphicFrame>
      <p:graphicFrame>
        <p:nvGraphicFramePr>
          <p:cNvPr id="29704" name="Object 2"/>
          <p:cNvGraphicFramePr>
            <a:graphicFrameLocks noChangeAspect="1"/>
          </p:cNvGraphicFramePr>
          <p:nvPr/>
        </p:nvGraphicFramePr>
        <p:xfrm>
          <a:off x="2786050" y="4786322"/>
          <a:ext cx="1071562" cy="911225"/>
        </p:xfrm>
        <a:graphic>
          <a:graphicData uri="http://schemas.openxmlformats.org/presentationml/2006/ole">
            <p:oleObj spid="_x0000_s29704" name="Equação" r:id="rId7" imgW="507960" imgH="431640" progId="Equation.3">
              <p:embed/>
            </p:oleObj>
          </a:graphicData>
        </a:graphic>
      </p:graphicFrame>
      <p:graphicFrame>
        <p:nvGraphicFramePr>
          <p:cNvPr id="29706" name="Object 2"/>
          <p:cNvGraphicFramePr>
            <a:graphicFrameLocks noChangeAspect="1"/>
          </p:cNvGraphicFramePr>
          <p:nvPr/>
        </p:nvGraphicFramePr>
        <p:xfrm>
          <a:off x="6000760" y="5000636"/>
          <a:ext cx="911225" cy="500066"/>
        </p:xfrm>
        <a:graphic>
          <a:graphicData uri="http://schemas.openxmlformats.org/presentationml/2006/ole">
            <p:oleObj spid="_x0000_s29706" name="Equação" r:id="rId8" imgW="431640" imgH="228600" progId="Equation.3">
              <p:embed/>
            </p:oleObj>
          </a:graphicData>
        </a:graphic>
      </p:graphicFrame>
      <p:graphicFrame>
        <p:nvGraphicFramePr>
          <p:cNvPr id="29707" name="Object 2"/>
          <p:cNvGraphicFramePr>
            <a:graphicFrameLocks noChangeAspect="1"/>
          </p:cNvGraphicFramePr>
          <p:nvPr/>
        </p:nvGraphicFramePr>
        <p:xfrm>
          <a:off x="285720" y="6000768"/>
          <a:ext cx="749300" cy="482600"/>
        </p:xfrm>
        <a:graphic>
          <a:graphicData uri="http://schemas.openxmlformats.org/presentationml/2006/ole">
            <p:oleObj spid="_x0000_s29707" name="Equação" r:id="rId9" imgW="355320" imgH="228600" progId="Equation.3">
              <p:embed/>
            </p:oleObj>
          </a:graphicData>
        </a:graphic>
      </p:graphicFrame>
      <p:graphicFrame>
        <p:nvGraphicFramePr>
          <p:cNvPr id="29708" name="Object 2"/>
          <p:cNvGraphicFramePr>
            <a:graphicFrameLocks noChangeAspect="1"/>
          </p:cNvGraphicFramePr>
          <p:nvPr/>
        </p:nvGraphicFramePr>
        <p:xfrm>
          <a:off x="4286248" y="4786322"/>
          <a:ext cx="1071562" cy="911225"/>
        </p:xfrm>
        <a:graphic>
          <a:graphicData uri="http://schemas.openxmlformats.org/presentationml/2006/ole">
            <p:oleObj spid="_x0000_s29708" name="Equação" r:id="rId10" imgW="507960" imgH="431640" progId="Equation.3">
              <p:embed/>
            </p:oleObj>
          </a:graphicData>
        </a:graphic>
      </p:graphicFrame>
      <p:graphicFrame>
        <p:nvGraphicFramePr>
          <p:cNvPr id="29709" name="Object 2"/>
          <p:cNvGraphicFramePr>
            <a:graphicFrameLocks noChangeAspect="1"/>
          </p:cNvGraphicFramePr>
          <p:nvPr/>
        </p:nvGraphicFramePr>
        <p:xfrm>
          <a:off x="7358082" y="5000636"/>
          <a:ext cx="911225" cy="482600"/>
        </p:xfrm>
        <a:graphic>
          <a:graphicData uri="http://schemas.openxmlformats.org/presentationml/2006/ole">
            <p:oleObj spid="_x0000_s29709" name="Equação" r:id="rId11" imgW="431640" imgH="228600" progId="Equation.3">
              <p:embed/>
            </p:oleObj>
          </a:graphicData>
        </a:graphic>
      </p:graphicFrame>
      <p:graphicFrame>
        <p:nvGraphicFramePr>
          <p:cNvPr id="29710" name="Object 14"/>
          <p:cNvGraphicFramePr>
            <a:graphicFrameLocks noChangeAspect="1"/>
          </p:cNvGraphicFramePr>
          <p:nvPr/>
        </p:nvGraphicFramePr>
        <p:xfrm>
          <a:off x="1785918" y="6000768"/>
          <a:ext cx="681038" cy="482600"/>
        </p:xfrm>
        <a:graphic>
          <a:graphicData uri="http://schemas.openxmlformats.org/presentationml/2006/ole">
            <p:oleObj spid="_x0000_s29710" name="Equação" r:id="rId12" imgW="355320" imgH="228600" progId="Equation.3">
              <p:embed/>
            </p:oleObj>
          </a:graphicData>
        </a:graphic>
      </p:graphicFrame>
      <p:sp>
        <p:nvSpPr>
          <p:cNvPr id="22" name="CaixaDeTexto 21"/>
          <p:cNvSpPr txBox="1"/>
          <p:nvPr/>
        </p:nvSpPr>
        <p:spPr>
          <a:xfrm>
            <a:off x="357158" y="3929066"/>
            <a:ext cx="4214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1)  determine: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18</a:t>
            </a:fld>
            <a:endParaRPr lang="pt-BR"/>
          </a:p>
        </p:txBody>
      </p:sp>
      <p:graphicFrame>
        <p:nvGraphicFramePr>
          <p:cNvPr id="29702" name="Object 2"/>
          <p:cNvGraphicFramePr>
            <a:graphicFrameLocks noChangeAspect="1"/>
          </p:cNvGraphicFramePr>
          <p:nvPr/>
        </p:nvGraphicFramePr>
        <p:xfrm>
          <a:off x="3286116" y="428604"/>
          <a:ext cx="3240087" cy="482600"/>
        </p:xfrm>
        <a:graphic>
          <a:graphicData uri="http://schemas.openxmlformats.org/presentationml/2006/ole">
            <p:oleObj spid="_x0000_s30724" name="Equação" r:id="rId3" imgW="1536480" imgH="228600" progId="Equation.3">
              <p:embed/>
            </p:oleObj>
          </a:graphicData>
        </a:graphic>
      </p:graphicFrame>
      <p:sp>
        <p:nvSpPr>
          <p:cNvPr id="22" name="CaixaDeTexto 21"/>
          <p:cNvSpPr txBox="1"/>
          <p:nvPr/>
        </p:nvSpPr>
        <p:spPr>
          <a:xfrm>
            <a:off x="285720" y="428604"/>
            <a:ext cx="4214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2)  Esboce o gráfico de 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357158" y="1785926"/>
            <a:ext cx="87868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3)  O armazenamento de dados em um disco rígido ou a transmissão de dados por meio de uma rede são geralmente representados como uma cadeia de bytes. Cada byte é composto de  8 bits. Quantos bytes são necessários para codificar 100 bits de dados?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357158" y="3714752"/>
            <a:ext cx="878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4)  Demonstre ou discorde que </a:t>
            </a:r>
            <a:endParaRPr lang="pt-BR" dirty="0"/>
          </a:p>
        </p:txBody>
      </p:sp>
      <p:graphicFrame>
        <p:nvGraphicFramePr>
          <p:cNvPr id="30732" name="Object 6"/>
          <p:cNvGraphicFramePr>
            <a:graphicFrameLocks noChangeAspect="1"/>
          </p:cNvGraphicFramePr>
          <p:nvPr/>
        </p:nvGraphicFramePr>
        <p:xfrm>
          <a:off x="4403725" y="3786188"/>
          <a:ext cx="2435225" cy="482600"/>
        </p:xfrm>
        <a:graphic>
          <a:graphicData uri="http://schemas.openxmlformats.org/presentationml/2006/ole">
            <p:oleObj spid="_x0000_s30732" name="Equação" r:id="rId4" imgW="115560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12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857232"/>
            <a:ext cx="8143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função                        dada por</a:t>
            </a:r>
          </a:p>
          <a:p>
            <a:endParaRPr lang="pt-BR" dirty="0" smtClean="0"/>
          </a:p>
          <a:p>
            <a:endParaRPr lang="pt-BR" dirty="0" smtClean="0">
              <a:solidFill>
                <a:srgbClr val="0070C0"/>
              </a:solidFill>
            </a:endParaRPr>
          </a:p>
          <a:p>
            <a:r>
              <a:rPr lang="pt-BR" dirty="0" smtClean="0"/>
              <a:t>é denominada </a:t>
            </a:r>
            <a:r>
              <a:rPr lang="pt-BR" dirty="0" smtClean="0">
                <a:solidFill>
                  <a:srgbClr val="0070C0"/>
                </a:solidFill>
              </a:rPr>
              <a:t>função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0070C0"/>
                </a:solidFill>
              </a:rPr>
              <a:t>fatorial.</a:t>
            </a:r>
          </a:p>
          <a:p>
            <a:endParaRPr lang="pt-BR" i="1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19</a:t>
            </a:fld>
            <a:endParaRPr lang="pt-BR"/>
          </a:p>
        </p:txBody>
      </p:sp>
      <p:graphicFrame>
        <p:nvGraphicFramePr>
          <p:cNvPr id="19" name="Objeto 18"/>
          <p:cNvGraphicFramePr>
            <a:graphicFrameLocks noChangeAspect="1"/>
          </p:cNvGraphicFramePr>
          <p:nvPr/>
        </p:nvGraphicFramePr>
        <p:xfrm>
          <a:off x="1317625" y="857250"/>
          <a:ext cx="1635125" cy="455613"/>
        </p:xfrm>
        <a:graphic>
          <a:graphicData uri="http://schemas.openxmlformats.org/presentationml/2006/ole">
            <p:oleObj spid="_x0000_s32770" name="Equação" r:id="rId3" imgW="774360" imgH="215640" progId="Equation.3">
              <p:embed/>
            </p:oleObj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642910" y="250030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14282" y="3143248"/>
            <a:ext cx="892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pt-BR" dirty="0" smtClean="0"/>
              <a:t>f(1)=         f(2)=       f(3)=       f(4)=           </a:t>
            </a:r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1071538" y="1428736"/>
          <a:ext cx="6733408" cy="500066"/>
        </p:xfrm>
        <a:graphic>
          <a:graphicData uri="http://schemas.openxmlformats.org/presentationml/2006/ole">
            <p:oleObj spid="_x0000_s32773" name="Equação" r:id="rId4" imgW="2895480" imgH="215640" progId="Equation.3">
              <p:embed/>
            </p:oleObj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179512" y="4941168"/>
            <a:ext cx="8143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Obs</a:t>
            </a:r>
            <a:r>
              <a:rPr lang="pt-BR" dirty="0" smtClean="0"/>
              <a:t>: Por que</a:t>
            </a:r>
          </a:p>
          <a:p>
            <a:endParaRPr lang="pt-BR" dirty="0" smtClean="0"/>
          </a:p>
          <a:p>
            <a:r>
              <a:rPr lang="pt-BR" dirty="0" smtClean="0"/>
              <a:t>Explicação na função recursiva!!!  </a:t>
            </a:r>
            <a:endParaRPr lang="pt-BR" dirty="0" smtClean="0">
              <a:solidFill>
                <a:srgbClr val="0070C0"/>
              </a:solidFill>
            </a:endParaRPr>
          </a:p>
          <a:p>
            <a:endParaRPr lang="pt-BR" i="1" dirty="0"/>
          </a:p>
        </p:txBody>
      </p:sp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2051720" y="5013176"/>
          <a:ext cx="885825" cy="374650"/>
        </p:xfrm>
        <a:graphic>
          <a:graphicData uri="http://schemas.openxmlformats.org/presentationml/2006/ole">
            <p:oleObj spid="_x0000_s32774" name="Equação" r:id="rId5" imgW="419040" imgH="177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13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857232"/>
            <a:ext cx="8143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Função </a:t>
            </a:r>
            <a:r>
              <a:rPr lang="pt-BR" dirty="0" smtClean="0">
                <a:solidFill>
                  <a:srgbClr val="0070C0"/>
                </a:solidFill>
              </a:rPr>
              <a:t>valor inteiro</a:t>
            </a:r>
            <a:r>
              <a:rPr lang="pt-BR" dirty="0" smtClean="0"/>
              <a:t>: Dado </a:t>
            </a:r>
            <a:r>
              <a:rPr lang="pt-BR" i="1" dirty="0" smtClean="0"/>
              <a:t>x</a:t>
            </a:r>
            <a:r>
              <a:rPr lang="pt-BR" dirty="0" smtClean="0"/>
              <a:t> um real qualquer, a função INT(</a:t>
            </a:r>
            <a:r>
              <a:rPr lang="pt-BR" i="1" dirty="0" smtClean="0"/>
              <a:t>x</a:t>
            </a:r>
            <a:r>
              <a:rPr lang="pt-BR" dirty="0" smtClean="0"/>
              <a:t>), converte </a:t>
            </a:r>
            <a:r>
              <a:rPr lang="pt-BR" i="1" dirty="0" smtClean="0"/>
              <a:t>x</a:t>
            </a:r>
            <a:r>
              <a:rPr lang="pt-BR" dirty="0" smtClean="0"/>
              <a:t> em um inteiro deletando (truncando) a parte fracionária do número.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Função </a:t>
            </a:r>
            <a:r>
              <a:rPr lang="pt-BR" dirty="0" smtClean="0">
                <a:solidFill>
                  <a:srgbClr val="0070C0"/>
                </a:solidFill>
              </a:rPr>
              <a:t>valor absoluto</a:t>
            </a:r>
            <a:r>
              <a:rPr lang="pt-BR" dirty="0" smtClean="0"/>
              <a:t>:  ABS(</a:t>
            </a:r>
            <a:r>
              <a:rPr lang="pt-BR" i="1" dirty="0" smtClean="0"/>
              <a:t>x</a:t>
            </a:r>
            <a:r>
              <a:rPr lang="pt-BR" dirty="0" smtClean="0"/>
              <a:t>) ou  |</a:t>
            </a:r>
            <a:r>
              <a:rPr lang="pt-BR" i="1" dirty="0" smtClean="0"/>
              <a:t>x</a:t>
            </a:r>
            <a:r>
              <a:rPr lang="pt-BR" dirty="0" smtClean="0"/>
              <a:t>| é definido como sendo o maior dos valores entre </a:t>
            </a:r>
            <a:r>
              <a:rPr lang="pt-BR" i="1" dirty="0" smtClean="0"/>
              <a:t>x</a:t>
            </a:r>
            <a:r>
              <a:rPr lang="pt-BR" dirty="0" smtClean="0"/>
              <a:t> e –</a:t>
            </a:r>
            <a:r>
              <a:rPr lang="pt-BR" i="1" dirty="0" smtClean="0"/>
              <a:t>x</a:t>
            </a:r>
            <a:r>
              <a:rPr lang="pt-BR" dirty="0" smtClean="0"/>
              <a:t>.</a:t>
            </a:r>
          </a:p>
          <a:p>
            <a:endParaRPr lang="pt-BR" dirty="0" smtClean="0">
              <a:solidFill>
                <a:srgbClr val="0070C0"/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214282" y="342900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14282" y="4071942"/>
            <a:ext cx="8929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pt-BR" dirty="0" smtClean="0"/>
              <a:t>INT(3,14)=         INT                  </a:t>
            </a:r>
            <a:r>
              <a:rPr lang="pt-BR" dirty="0" err="1" smtClean="0"/>
              <a:t>INT</a:t>
            </a:r>
            <a:r>
              <a:rPr lang="pt-BR" dirty="0" smtClean="0"/>
              <a:t>(-8,5)=       INT(7)=</a:t>
            </a:r>
          </a:p>
          <a:p>
            <a:pPr marL="457200" indent="-457200"/>
            <a:endParaRPr lang="pt-BR" dirty="0" smtClean="0"/>
          </a:p>
          <a:p>
            <a:pPr marL="457200" indent="-457200"/>
            <a:r>
              <a:rPr lang="pt-BR" dirty="0" smtClean="0"/>
              <a:t>|-15|=            |7|=              |-3,3|=           |4,44|=         |-0,075|=          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2857488" y="4071942"/>
          <a:ext cx="781055" cy="449698"/>
        </p:xfrm>
        <a:graphic>
          <a:graphicData uri="http://schemas.openxmlformats.org/presentationml/2006/ole">
            <p:oleObj spid="_x0000_s33796" name="Equação" r:id="rId3" imgW="419040" imgH="241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14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857232"/>
            <a:ext cx="87154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Função </a:t>
            </a:r>
            <a:r>
              <a:rPr lang="pt-BR" dirty="0" smtClean="0">
                <a:solidFill>
                  <a:srgbClr val="0070C0"/>
                </a:solidFill>
              </a:rPr>
              <a:t>resto</a:t>
            </a:r>
            <a:r>
              <a:rPr lang="pt-BR" dirty="0" smtClean="0"/>
              <a:t>: Seja </a:t>
            </a:r>
            <a:r>
              <a:rPr lang="pt-BR" i="1" dirty="0" smtClean="0"/>
              <a:t>k</a:t>
            </a:r>
            <a:r>
              <a:rPr lang="pt-BR" dirty="0" smtClean="0"/>
              <a:t> um inteiro qualquer e seja </a:t>
            </a:r>
            <a:r>
              <a:rPr lang="pt-BR" i="1" dirty="0" smtClean="0"/>
              <a:t>M</a:t>
            </a:r>
            <a:r>
              <a:rPr lang="pt-BR" dirty="0" smtClean="0"/>
              <a:t> um inteiro positivo. Então, </a:t>
            </a:r>
            <a:r>
              <a:rPr lang="pt-BR" i="1" dirty="0" smtClean="0"/>
              <a:t>k</a:t>
            </a:r>
            <a:r>
              <a:rPr lang="pt-BR" dirty="0" smtClean="0"/>
              <a:t>(</a:t>
            </a:r>
            <a:r>
              <a:rPr lang="pt-BR" dirty="0" err="1" smtClean="0"/>
              <a:t>mod</a:t>
            </a:r>
            <a:r>
              <a:rPr lang="pt-BR" dirty="0" smtClean="0"/>
              <a:t> </a:t>
            </a:r>
            <a:r>
              <a:rPr lang="pt-BR" i="1" dirty="0" smtClean="0"/>
              <a:t>M</a:t>
            </a:r>
            <a:r>
              <a:rPr lang="pt-BR" dirty="0" smtClean="0"/>
              <a:t>) denotará o resto inteiro da divisão de </a:t>
            </a:r>
            <a:r>
              <a:rPr lang="pt-BR" i="1" dirty="0" smtClean="0"/>
              <a:t>k</a:t>
            </a:r>
            <a:r>
              <a:rPr lang="pt-BR" dirty="0" smtClean="0"/>
              <a:t> por  </a:t>
            </a:r>
            <a:r>
              <a:rPr lang="pt-BR" i="1" dirty="0" smtClean="0"/>
              <a:t>M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</a:pPr>
            <a:endParaRPr lang="pt-BR" dirty="0" smtClean="0"/>
          </a:p>
          <a:p>
            <a:endParaRPr lang="pt-BR" dirty="0" smtClean="0">
              <a:solidFill>
                <a:srgbClr val="0070C0"/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0" y="2924944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graphicFrame>
        <p:nvGraphicFramePr>
          <p:cNvPr id="34819" name="Object 4"/>
          <p:cNvGraphicFramePr>
            <a:graphicFrameLocks noChangeAspect="1"/>
          </p:cNvGraphicFramePr>
          <p:nvPr/>
        </p:nvGraphicFramePr>
        <p:xfrm>
          <a:off x="2143108" y="2000240"/>
          <a:ext cx="4357718" cy="511661"/>
        </p:xfrm>
        <a:graphic>
          <a:graphicData uri="http://schemas.openxmlformats.org/presentationml/2006/ole">
            <p:oleObj spid="_x0000_s34819" name="Equação" r:id="rId3" imgW="1726920" imgH="203040" progId="Equation.3">
              <p:embed/>
            </p:oleObj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193675" y="3789363"/>
          <a:ext cx="4881563" cy="454025"/>
        </p:xfrm>
        <a:graphic>
          <a:graphicData uri="http://schemas.openxmlformats.org/presentationml/2006/ole">
            <p:oleObj spid="_x0000_s34820" name="Equação" r:id="rId4" imgW="2184120" imgH="203040" progId="Equation.3">
              <p:embed/>
            </p:oleObj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179512" y="4653136"/>
          <a:ext cx="5619751" cy="454025"/>
        </p:xfrm>
        <a:graphic>
          <a:graphicData uri="http://schemas.openxmlformats.org/presentationml/2006/ole">
            <p:oleObj spid="_x0000_s34824" name="Equação" r:id="rId5" imgW="2514600" imgH="203040" progId="Equation.3">
              <p:embed/>
            </p:oleObj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214282" y="5500702"/>
          <a:ext cx="5929354" cy="440170"/>
        </p:xfrm>
        <a:graphic>
          <a:graphicData uri="http://schemas.openxmlformats.org/presentationml/2006/ole">
            <p:oleObj spid="_x0000_s34825" name="Equação" r:id="rId6" imgW="341604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0" y="857232"/>
            <a:ext cx="87154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</a:t>
            </a:r>
            <a:r>
              <a:rPr lang="pt-BR" i="1" dirty="0" smtClean="0"/>
              <a:t>Aritmética módulo M  </a:t>
            </a:r>
            <a:r>
              <a:rPr lang="pt-BR" dirty="0" smtClean="0"/>
              <a:t>se refere às operações aritméticas de adição, multiplicação e subtração em que o valor aritmético é substituído pelo seu valor equivalente no conjunto </a:t>
            </a:r>
            <a:r>
              <a:rPr lang="pt-BR" i="1" dirty="0" smtClean="0"/>
              <a:t>{0,1,2,...,M-1}.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endParaRPr lang="pt-BR" dirty="0" smtClean="0">
              <a:solidFill>
                <a:srgbClr val="0070C0"/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323528" y="3140968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14282" y="4005064"/>
            <a:ext cx="892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pt-BR" dirty="0" smtClean="0"/>
              <a:t>Na aritmética </a:t>
            </a:r>
            <a:r>
              <a:rPr lang="pt-BR" dirty="0" err="1" smtClean="0"/>
              <a:t>mod</a:t>
            </a:r>
            <a:r>
              <a:rPr lang="pt-BR" dirty="0" smtClean="0"/>
              <a:t> 12 (</a:t>
            </a:r>
            <a:r>
              <a:rPr lang="pt-BR" i="1" dirty="0" smtClean="0"/>
              <a:t>aritmética </a:t>
            </a:r>
            <a:r>
              <a:rPr lang="pt-BR" i="1" dirty="0" err="1" smtClean="0"/>
              <a:t>clock</a:t>
            </a:r>
            <a:r>
              <a:rPr lang="pt-BR" dirty="0" smtClean="0"/>
              <a:t>), tem-se:</a:t>
            </a:r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323528" y="4869160"/>
          <a:ext cx="993634" cy="396890"/>
        </p:xfrm>
        <a:graphic>
          <a:graphicData uri="http://schemas.openxmlformats.org/presentationml/2006/ole">
            <p:oleObj spid="_x0000_s60419" name="Equação" r:id="rId3" imgW="444240" imgH="177480" progId="Equation.3">
              <p:embed/>
            </p:oleObj>
          </a:graphicData>
        </a:graphic>
      </p:graphicFrame>
      <p:graphicFrame>
        <p:nvGraphicFramePr>
          <p:cNvPr id="34821" name="Object 4"/>
          <p:cNvGraphicFramePr>
            <a:graphicFrameLocks noChangeAspect="1"/>
          </p:cNvGraphicFramePr>
          <p:nvPr/>
        </p:nvGraphicFramePr>
        <p:xfrm>
          <a:off x="2051720" y="4869160"/>
          <a:ext cx="965200" cy="396875"/>
        </p:xfrm>
        <a:graphic>
          <a:graphicData uri="http://schemas.openxmlformats.org/presentationml/2006/ole">
            <p:oleObj spid="_x0000_s60420" name="Equação" r:id="rId4" imgW="431640" imgH="177480" progId="Equation.3">
              <p:embed/>
            </p:oleObj>
          </a:graphicData>
        </a:graphic>
      </p:graphicFrame>
      <p:graphicFrame>
        <p:nvGraphicFramePr>
          <p:cNvPr id="34822" name="Object 4"/>
          <p:cNvGraphicFramePr>
            <a:graphicFrameLocks noChangeAspect="1"/>
          </p:cNvGraphicFramePr>
          <p:nvPr/>
        </p:nvGraphicFramePr>
        <p:xfrm>
          <a:off x="3707904" y="4869160"/>
          <a:ext cx="936625" cy="396875"/>
        </p:xfrm>
        <a:graphic>
          <a:graphicData uri="http://schemas.openxmlformats.org/presentationml/2006/ole">
            <p:oleObj spid="_x0000_s60421" name="Equação" r:id="rId5" imgW="419040" imgH="177480" progId="Equation.3">
              <p:embed/>
            </p:oleObj>
          </a:graphicData>
        </a:graphic>
      </p:graphicFrame>
      <p:graphicFrame>
        <p:nvGraphicFramePr>
          <p:cNvPr id="34823" name="Object 4"/>
          <p:cNvGraphicFramePr>
            <a:graphicFrameLocks noChangeAspect="1"/>
          </p:cNvGraphicFramePr>
          <p:nvPr/>
        </p:nvGraphicFramePr>
        <p:xfrm>
          <a:off x="5364088" y="4941168"/>
          <a:ext cx="1135062" cy="396875"/>
        </p:xfrm>
        <a:graphic>
          <a:graphicData uri="http://schemas.openxmlformats.org/presentationml/2006/ole">
            <p:oleObj spid="_x0000_s60422" name="Equação" r:id="rId6" imgW="507960" imgH="177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15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857232"/>
            <a:ext cx="8715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Função </a:t>
            </a:r>
            <a:r>
              <a:rPr lang="pt-BR" dirty="0" smtClean="0">
                <a:solidFill>
                  <a:srgbClr val="0070C0"/>
                </a:solidFill>
              </a:rPr>
              <a:t>recursiva</a:t>
            </a:r>
            <a:r>
              <a:rPr lang="pt-BR" dirty="0" smtClean="0"/>
              <a:t>: Uma função é dita recursiva se a definição da função se referir à própria função.</a:t>
            </a:r>
            <a:endParaRPr lang="pt-BR" dirty="0" smtClean="0">
              <a:solidFill>
                <a:srgbClr val="0070C0"/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23</a:t>
            </a:fld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395536" y="19888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79512" y="2924944"/>
            <a:ext cx="8715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Função fatorial:</a:t>
            </a:r>
          </a:p>
          <a:p>
            <a:pPr marL="914400" lvl="1" indent="-457200">
              <a:buClr>
                <a:srgbClr val="0070C0"/>
              </a:buClr>
              <a:buAutoNum type="arabicParenR"/>
            </a:pPr>
            <a:r>
              <a:rPr lang="pt-BR" dirty="0" smtClean="0"/>
              <a:t>Se </a:t>
            </a:r>
            <a:r>
              <a:rPr lang="pt-BR" i="1" dirty="0" smtClean="0"/>
              <a:t>n=0</a:t>
            </a:r>
            <a:r>
              <a:rPr lang="pt-BR" dirty="0" smtClean="0"/>
              <a:t>, então </a:t>
            </a:r>
            <a:r>
              <a:rPr lang="pt-BR" i="1" dirty="0" smtClean="0"/>
              <a:t>n!=1</a:t>
            </a:r>
          </a:p>
          <a:p>
            <a:pPr marL="914400" lvl="1" indent="-457200">
              <a:buClr>
                <a:srgbClr val="0070C0"/>
              </a:buClr>
              <a:buAutoNum type="arabicParenR"/>
            </a:pPr>
            <a:r>
              <a:rPr lang="pt-BR" dirty="0" smtClean="0"/>
              <a:t>Se </a:t>
            </a:r>
            <a:r>
              <a:rPr lang="pt-BR" i="1" dirty="0" smtClean="0"/>
              <a:t>n&gt;0</a:t>
            </a:r>
            <a:r>
              <a:rPr lang="pt-BR" dirty="0" smtClean="0"/>
              <a:t>, então </a:t>
            </a:r>
            <a:r>
              <a:rPr lang="pt-BR" i="1" dirty="0" smtClean="0"/>
              <a:t>n!=n(n-1)!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79512" y="5157192"/>
            <a:ext cx="8715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err="1" smtClean="0"/>
              <a:t>Sequência</a:t>
            </a:r>
            <a:r>
              <a:rPr lang="pt-BR" dirty="0" smtClean="0"/>
              <a:t> de </a:t>
            </a:r>
            <a:r>
              <a:rPr lang="pt-BR" dirty="0" err="1" smtClean="0"/>
              <a:t>Fibonacci</a:t>
            </a:r>
            <a:r>
              <a:rPr lang="pt-BR" dirty="0" smtClean="0"/>
              <a:t>:</a:t>
            </a:r>
          </a:p>
          <a:p>
            <a:pPr marL="914400" lvl="1" indent="-457200">
              <a:buClr>
                <a:srgbClr val="0070C0"/>
              </a:buClr>
              <a:buAutoNum type="arabicParenR"/>
            </a:pPr>
            <a:r>
              <a:rPr lang="pt-BR" dirty="0" smtClean="0"/>
              <a:t>Se </a:t>
            </a:r>
            <a:r>
              <a:rPr lang="pt-BR" i="1" dirty="0" smtClean="0"/>
              <a:t>n=0</a:t>
            </a:r>
            <a:r>
              <a:rPr lang="pt-BR" dirty="0" smtClean="0"/>
              <a:t> ou </a:t>
            </a:r>
            <a:r>
              <a:rPr lang="pt-BR" i="1" dirty="0" smtClean="0"/>
              <a:t>n=1</a:t>
            </a:r>
            <a:r>
              <a:rPr lang="pt-BR" dirty="0" smtClean="0"/>
              <a:t>, então </a:t>
            </a:r>
          </a:p>
          <a:p>
            <a:pPr marL="914400" lvl="1" indent="-457200">
              <a:buClr>
                <a:srgbClr val="0070C0"/>
              </a:buClr>
              <a:buAutoNum type="arabicParenR"/>
            </a:pPr>
            <a:r>
              <a:rPr lang="pt-BR" dirty="0" smtClean="0"/>
              <a:t>Se n&gt;1, então </a:t>
            </a:r>
          </a:p>
        </p:txBody>
      </p:sp>
      <p:graphicFrame>
        <p:nvGraphicFramePr>
          <p:cNvPr id="14" name="Objeto 13"/>
          <p:cNvGraphicFramePr>
            <a:graphicFrameLocks noChangeAspect="1"/>
          </p:cNvGraphicFramePr>
          <p:nvPr/>
        </p:nvGraphicFramePr>
        <p:xfrm>
          <a:off x="4000496" y="5572140"/>
          <a:ext cx="890592" cy="471490"/>
        </p:xfrm>
        <a:graphic>
          <a:graphicData uri="http://schemas.openxmlformats.org/presentationml/2006/ole">
            <p:oleObj spid="_x0000_s35847" name="Equação" r:id="rId3" imgW="431640" imgH="228600" progId="Equation.3">
              <p:embed/>
            </p:oleObj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3059832" y="5877272"/>
          <a:ext cx="2111392" cy="500066"/>
        </p:xfrm>
        <a:graphic>
          <a:graphicData uri="http://schemas.openxmlformats.org/presentationml/2006/ole">
            <p:oleObj spid="_x0000_s35848" name="Equação" r:id="rId4" imgW="965160" imgH="228600" progId="Equation.3">
              <p:embed/>
            </p:oleObj>
          </a:graphicData>
        </a:graphic>
      </p:graphicFrame>
      <p:graphicFrame>
        <p:nvGraphicFramePr>
          <p:cNvPr id="35849" name="Object 9"/>
          <p:cNvGraphicFramePr>
            <a:graphicFrameLocks noChangeAspect="1"/>
          </p:cNvGraphicFramePr>
          <p:nvPr/>
        </p:nvGraphicFramePr>
        <p:xfrm>
          <a:off x="5148064" y="2924944"/>
          <a:ext cx="3105150" cy="1109663"/>
        </p:xfrm>
        <a:graphic>
          <a:graphicData uri="http://schemas.openxmlformats.org/presentationml/2006/ole">
            <p:oleObj spid="_x0000_s35849" name="Equação" r:id="rId5" imgW="2273040" imgH="8125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42844" y="357166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err="1" smtClean="0">
                <a:solidFill>
                  <a:srgbClr val="C00000"/>
                </a:solidFill>
              </a:rPr>
              <a:t>Sequência</a:t>
            </a:r>
            <a:r>
              <a:rPr lang="pt-BR" sz="3200" dirty="0" smtClean="0">
                <a:solidFill>
                  <a:srgbClr val="C00000"/>
                </a:solidFill>
              </a:rPr>
              <a:t> de </a:t>
            </a:r>
            <a:r>
              <a:rPr lang="pt-BR" sz="3200" dirty="0" err="1" smtClean="0">
                <a:solidFill>
                  <a:srgbClr val="C00000"/>
                </a:solidFill>
              </a:rPr>
              <a:t>Fibonacci</a:t>
            </a:r>
            <a:endParaRPr lang="pt-BR" sz="3200" dirty="0" smtClean="0">
              <a:solidFill>
                <a:srgbClr val="C00000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357158" y="1142984"/>
            <a:ext cx="857254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 smtClean="0"/>
              <a:t>No século XIII, o matemático italiano Leonardo </a:t>
            </a:r>
            <a:r>
              <a:rPr lang="pt-BR" dirty="0" err="1" smtClean="0"/>
              <a:t>Fibonacci</a:t>
            </a:r>
            <a:r>
              <a:rPr lang="pt-BR" dirty="0" smtClean="0"/>
              <a:t> estava estudando o crescimento de uma população de coelhos e se questionou a respeito de quantos coelhos teria no final de um ano, se tivesse somente um casal no início do ano e se nenhum coelho morresse nesse período. Ele se surpreendeu ao descobrir que a partir do terceiro mês, a quantidade de coelhos no mês seguinte era igual à soma dos dois meses anteriores. E dessa forma ele teria 144 coelhos no final do ano. </a:t>
            </a:r>
            <a:r>
              <a:rPr lang="pt-BR" dirty="0" err="1" smtClean="0"/>
              <a:t>Fibonacci</a:t>
            </a:r>
            <a:r>
              <a:rPr lang="pt-BR" dirty="0" smtClean="0"/>
              <a:t> ficou tão intrigado com essa relação que começou a estudar essa </a:t>
            </a:r>
            <a:r>
              <a:rPr lang="pt-BR" dirty="0" err="1" smtClean="0"/>
              <a:t>sequência</a:t>
            </a:r>
            <a:r>
              <a:rPr lang="pt-BR" dirty="0" smtClean="0"/>
              <a:t> (1, 1, 2, 3, 5, 8, 13, 21, 34, 55, 89, 144,...) na natureza e a encontrou nas pétalas das rosas, nos caules das árvores e nas conchas em espiral do </a:t>
            </a:r>
            <a:r>
              <a:rPr lang="pt-BR" dirty="0" err="1" smtClean="0"/>
              <a:t>náutilo</a:t>
            </a:r>
            <a:r>
              <a:rPr lang="pt-BR" dirty="0" smtClean="0"/>
              <a:t>, um molusco marinho; à medida que esse molusco vai crescendo, sua concha cresce seguindo a razão áurea, em uma espiral logarítmica.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25</a:t>
            </a:fld>
            <a:endParaRPr lang="pt-BR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642918"/>
            <a:ext cx="38100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aixaDeTexto 7"/>
          <p:cNvSpPr txBox="1"/>
          <p:nvPr/>
        </p:nvSpPr>
        <p:spPr>
          <a:xfrm>
            <a:off x="857224" y="3857628"/>
            <a:ext cx="7500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pt-BR" dirty="0" smtClean="0"/>
              <a:t>  A proporção entre 2 compartimentos é igual ao número</a:t>
            </a:r>
          </a:p>
          <a:p>
            <a:endParaRPr lang="pt-BR" dirty="0" smtClean="0"/>
          </a:p>
          <a:p>
            <a:r>
              <a:rPr lang="pt-BR" dirty="0" smtClean="0"/>
              <a:t> áureo ou número de ouro</a:t>
            </a:r>
          </a:p>
          <a:p>
            <a:endParaRPr lang="pt-BR" dirty="0" smtClean="0"/>
          </a:p>
          <a:p>
            <a:endParaRPr lang="pt-BR" dirty="0" smtClean="0"/>
          </a:p>
          <a:p>
            <a:pPr>
              <a:buFont typeface="Wingdings" pitchFamily="2" charset="2"/>
              <a:buChar char="v"/>
            </a:pPr>
            <a:r>
              <a:rPr lang="pt-BR" dirty="0" smtClean="0"/>
              <a:t>  Esse número representa a perfeição, a harmonia e a beleza da natureza. 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4146550" y="4305300"/>
          <a:ext cx="3736975" cy="892175"/>
        </p:xfrm>
        <a:graphic>
          <a:graphicData uri="http://schemas.openxmlformats.org/presentationml/2006/ole">
            <p:oleObj spid="_x0000_s54274" name="Equação" r:id="rId4" imgW="2234880" imgH="533160" progId="Equation.3">
              <p:embed/>
            </p:oleObj>
          </a:graphicData>
        </a:graphic>
      </p:graphicFrame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7686" y="642918"/>
            <a:ext cx="4786314" cy="296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4276" name="Object 1"/>
          <p:cNvGraphicFramePr>
            <a:graphicFrameLocks noChangeAspect="1"/>
          </p:cNvGraphicFramePr>
          <p:nvPr/>
        </p:nvGraphicFramePr>
        <p:xfrm>
          <a:off x="822325" y="5062538"/>
          <a:ext cx="1381125" cy="446087"/>
        </p:xfrm>
        <a:graphic>
          <a:graphicData uri="http://schemas.openxmlformats.org/presentationml/2006/ole">
            <p:oleObj spid="_x0000_s54276" name="Equação" r:id="rId6" imgW="825480" imgH="26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26</a:t>
            </a:fld>
            <a:endParaRPr lang="pt-BR"/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643050"/>
            <a:ext cx="460057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27</a:t>
            </a:fld>
            <a:endParaRPr lang="pt-BR"/>
          </a:p>
        </p:txBody>
      </p:sp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422" y="500042"/>
            <a:ext cx="3786214" cy="572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28</a:t>
            </a:fld>
            <a:endParaRPr lang="pt-BR"/>
          </a:p>
        </p:txBody>
      </p:sp>
      <p:pic>
        <p:nvPicPr>
          <p:cNvPr id="46082" name="Picture 2" descr="http://www.monitorinvestimentos.com.br/imagens/broto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928670"/>
            <a:ext cx="5357850" cy="4815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29</a:t>
            </a:fld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214282" y="571480"/>
            <a:ext cx="8715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>
                <a:solidFill>
                  <a:srgbClr val="FF0000"/>
                </a:solidFill>
              </a:rPr>
              <a:t>Função de </a:t>
            </a:r>
            <a:r>
              <a:rPr lang="pt-BR" dirty="0" err="1" smtClean="0">
                <a:solidFill>
                  <a:srgbClr val="FF0000"/>
                </a:solidFill>
              </a:rPr>
              <a:t>Ackermann</a:t>
            </a:r>
            <a:endParaRPr lang="pt-BR" i="1" dirty="0" smtClean="0">
              <a:solidFill>
                <a:srgbClr val="FF0000"/>
              </a:solidFill>
            </a:endParaRPr>
          </a:p>
        </p:txBody>
      </p:sp>
      <p:graphicFrame>
        <p:nvGraphicFramePr>
          <p:cNvPr id="14" name="Objeto 13"/>
          <p:cNvGraphicFramePr>
            <a:graphicFrameLocks noChangeAspect="1"/>
          </p:cNvGraphicFramePr>
          <p:nvPr/>
        </p:nvGraphicFramePr>
        <p:xfrm>
          <a:off x="639790" y="1285875"/>
          <a:ext cx="7932738" cy="1500188"/>
        </p:xfrm>
        <a:graphic>
          <a:graphicData uri="http://schemas.openxmlformats.org/presentationml/2006/ole">
            <p:oleObj spid="_x0000_s36866" name="Equação" r:id="rId3" imgW="3492360" imgH="6602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16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00034" y="1071546"/>
            <a:ext cx="79296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Uma </a:t>
            </a:r>
            <a:r>
              <a:rPr lang="pt-BR" dirty="0" err="1" smtClean="0">
                <a:solidFill>
                  <a:srgbClr val="0070C0"/>
                </a:solidFill>
              </a:rPr>
              <a:t>sequência</a:t>
            </a:r>
            <a:r>
              <a:rPr lang="pt-BR" dirty="0" smtClean="0">
                <a:solidFill>
                  <a:srgbClr val="0070C0"/>
                </a:solidFill>
              </a:rPr>
              <a:t>  </a:t>
            </a:r>
            <a:r>
              <a:rPr lang="pt-BR" dirty="0" smtClean="0"/>
              <a:t>         é uma função de um subconjunto dos números inteiros, ou do conjunto {0,1,2,...} ou do conjunto {1,2,3,...} para um conjunto S. 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Usamos a notação       para indicar a imagem do número inteiro </a:t>
            </a:r>
            <a:r>
              <a:rPr lang="pt-BR" i="1" dirty="0" smtClean="0"/>
              <a:t>n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Chamamos            de termo da </a:t>
            </a:r>
            <a:r>
              <a:rPr lang="pt-BR" dirty="0" err="1" smtClean="0">
                <a:solidFill>
                  <a:srgbClr val="0070C0"/>
                </a:solidFill>
              </a:rPr>
              <a:t>sequência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2571736" y="3571876"/>
          <a:ext cx="428628" cy="551093"/>
        </p:xfrm>
        <a:graphic>
          <a:graphicData uri="http://schemas.openxmlformats.org/presentationml/2006/ole">
            <p:oleObj spid="_x0000_s38914" name="Equação" r:id="rId3" imgW="177480" imgH="228600" progId="Equation.3">
              <p:embed/>
            </p:oleObj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857488" y="1000108"/>
          <a:ext cx="704850" cy="550863"/>
        </p:xfrm>
        <a:graphic>
          <a:graphicData uri="http://schemas.openxmlformats.org/presentationml/2006/ole">
            <p:oleObj spid="_x0000_s38915" name="Equação" r:id="rId4" imgW="291960" imgH="228600" progId="Equation.3">
              <p:embed/>
            </p:oleObj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571472" y="4429132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571472" y="5214950"/>
            <a:ext cx="7715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Liste os termos das </a:t>
            </a:r>
            <a:r>
              <a:rPr lang="pt-BR" dirty="0" err="1" smtClean="0"/>
              <a:t>sequências</a:t>
            </a:r>
            <a:r>
              <a:rPr lang="pt-BR" dirty="0" smtClean="0"/>
              <a:t>          , onde:</a:t>
            </a:r>
          </a:p>
          <a:p>
            <a:endParaRPr lang="pt-BR" dirty="0" smtClean="0"/>
          </a:p>
          <a:p>
            <a:r>
              <a:rPr lang="pt-BR" dirty="0" smtClean="0"/>
              <a:t>1)                        2)                          3)  </a:t>
            </a:r>
            <a:endParaRPr lang="pt-BR" dirty="0"/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3071802" y="2500306"/>
          <a:ext cx="428625" cy="550863"/>
        </p:xfrm>
        <a:graphic>
          <a:graphicData uri="http://schemas.openxmlformats.org/presentationml/2006/ole">
            <p:oleObj spid="_x0000_s38916" name="Equação" r:id="rId5" imgW="177480" imgH="228600" progId="Equation.3">
              <p:embed/>
            </p:oleObj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4429124" y="5214950"/>
          <a:ext cx="704850" cy="550863"/>
        </p:xfrm>
        <a:graphic>
          <a:graphicData uri="http://schemas.openxmlformats.org/presentationml/2006/ole">
            <p:oleObj spid="_x0000_s38917" name="Equação" r:id="rId6" imgW="291960" imgH="228600" progId="Equation.3">
              <p:embed/>
            </p:oleObj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1000100" y="5643578"/>
          <a:ext cx="1071563" cy="949325"/>
        </p:xfrm>
        <a:graphic>
          <a:graphicData uri="http://schemas.openxmlformats.org/presentationml/2006/ole">
            <p:oleObj spid="_x0000_s38918" name="Equação" r:id="rId7" imgW="444240" imgH="393480" progId="Equation.3">
              <p:embed/>
            </p:oleObj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3071802" y="5857892"/>
          <a:ext cx="1560512" cy="582612"/>
        </p:xfrm>
        <a:graphic>
          <a:graphicData uri="http://schemas.openxmlformats.org/presentationml/2006/ole">
            <p:oleObj spid="_x0000_s38919" name="Equação" r:id="rId8" imgW="647640" imgH="241200" progId="Equation.3">
              <p:embed/>
            </p:oleObj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5357818" y="5857892"/>
          <a:ext cx="1897062" cy="552450"/>
        </p:xfrm>
        <a:graphic>
          <a:graphicData uri="http://schemas.openxmlformats.org/presentationml/2006/ole">
            <p:oleObj spid="_x0000_s38920" name="Equação" r:id="rId9" imgW="78732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683568" y="33265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 17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00034" y="1071546"/>
            <a:ext cx="79296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</a:t>
            </a:r>
            <a:r>
              <a:rPr lang="pt-BR" dirty="0" smtClean="0">
                <a:solidFill>
                  <a:srgbClr val="0070C0"/>
                </a:solidFill>
              </a:rPr>
              <a:t>Somatório </a:t>
            </a:r>
            <a:r>
              <a:rPr lang="pt-BR" dirty="0" smtClean="0"/>
              <a:t>é a notação usada para expressar  a soma dos termos                                da </a:t>
            </a:r>
            <a:r>
              <a:rPr lang="pt-BR" dirty="0" err="1" smtClean="0"/>
              <a:t>sequência</a:t>
            </a:r>
            <a:r>
              <a:rPr lang="pt-BR" dirty="0" smtClean="0"/>
              <a:t> 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 Notação:</a:t>
            </a:r>
          </a:p>
          <a:p>
            <a:pPr>
              <a:buClr>
                <a:srgbClr val="0070C0"/>
              </a:buClr>
            </a:pPr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2362200" y="2157413"/>
          <a:ext cx="274638" cy="520700"/>
        </p:xfrm>
        <a:graphic>
          <a:graphicData uri="http://schemas.openxmlformats.org/presentationml/2006/ole">
            <p:oleObj spid="_x0000_s39938" name="Equação" r:id="rId3" imgW="114120" imgH="215640" progId="Equation.3">
              <p:embed/>
            </p:oleObj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571472" y="357187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643042" y="1428736"/>
          <a:ext cx="2052638" cy="550862"/>
        </p:xfrm>
        <a:graphic>
          <a:graphicData uri="http://schemas.openxmlformats.org/presentationml/2006/ole">
            <p:oleObj spid="_x0000_s39940" name="Equação" r:id="rId4" imgW="850680" imgH="228600" progId="Equation.3">
              <p:embed/>
            </p:oleObj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5510213" y="1428750"/>
          <a:ext cx="828675" cy="550863"/>
        </p:xfrm>
        <a:graphic>
          <a:graphicData uri="http://schemas.openxmlformats.org/presentationml/2006/ole">
            <p:oleObj spid="_x0000_s39941" name="Equação" r:id="rId5" imgW="342720" imgH="228600" progId="Equation.3">
              <p:embed/>
            </p:oleObj>
          </a:graphicData>
        </a:graphic>
      </p:graphicFrame>
      <p:graphicFrame>
        <p:nvGraphicFramePr>
          <p:cNvPr id="13" name="Objeto 12"/>
          <p:cNvGraphicFramePr>
            <a:graphicFrameLocks noChangeAspect="1"/>
          </p:cNvGraphicFramePr>
          <p:nvPr/>
        </p:nvGraphicFramePr>
        <p:xfrm>
          <a:off x="642938" y="4143375"/>
          <a:ext cx="1285875" cy="1250950"/>
        </p:xfrm>
        <a:graphic>
          <a:graphicData uri="http://schemas.openxmlformats.org/presentationml/2006/ole">
            <p:oleObj spid="_x0000_s39945" name="Equação" r:id="rId6" imgW="457200" imgH="444240" progId="Equation.3">
              <p:embed/>
            </p:oleObj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4857752" y="4286250"/>
          <a:ext cx="1108075" cy="1250950"/>
        </p:xfrm>
        <a:graphic>
          <a:graphicData uri="http://schemas.openxmlformats.org/presentationml/2006/ole">
            <p:oleObj spid="_x0000_s39946" name="Equação" r:id="rId7" imgW="393480" imgH="4442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32</a:t>
            </a:fld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285720" y="548680"/>
            <a:ext cx="88582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Dois conjuntos </a:t>
            </a:r>
            <a:r>
              <a:rPr lang="pt-BR" i="1" dirty="0" smtClean="0"/>
              <a:t>A</a:t>
            </a:r>
            <a:r>
              <a:rPr lang="pt-BR" dirty="0" smtClean="0"/>
              <a:t> e </a:t>
            </a:r>
            <a:r>
              <a:rPr lang="pt-BR" i="1" dirty="0" smtClean="0"/>
              <a:t>B</a:t>
            </a:r>
            <a:r>
              <a:rPr lang="pt-BR" dirty="0" smtClean="0"/>
              <a:t> são ditos </a:t>
            </a:r>
            <a:r>
              <a:rPr lang="pt-BR" dirty="0" smtClean="0">
                <a:solidFill>
                  <a:srgbClr val="0070C0"/>
                </a:solidFill>
              </a:rPr>
              <a:t>equipotentes</a:t>
            </a:r>
            <a:r>
              <a:rPr lang="pt-BR" dirty="0" smtClean="0"/>
              <a:t>, ou tendo o mesmo </a:t>
            </a:r>
            <a:r>
              <a:rPr lang="pt-BR" dirty="0" smtClean="0">
                <a:solidFill>
                  <a:srgbClr val="0070C0"/>
                </a:solidFill>
              </a:rPr>
              <a:t>número de elementos </a:t>
            </a:r>
            <a:r>
              <a:rPr lang="pt-BR" dirty="0" smtClean="0"/>
              <a:t>ou a mesma </a:t>
            </a:r>
            <a:r>
              <a:rPr lang="pt-BR" dirty="0" smtClean="0">
                <a:solidFill>
                  <a:srgbClr val="0070C0"/>
                </a:solidFill>
              </a:rPr>
              <a:t>cardinalidade</a:t>
            </a:r>
            <a:r>
              <a:rPr lang="pt-BR" dirty="0" smtClean="0"/>
              <a:t> se e somente se houver uma bijeção de </a:t>
            </a:r>
            <a:r>
              <a:rPr lang="pt-BR" i="1" dirty="0" smtClean="0"/>
              <a:t>A</a:t>
            </a:r>
            <a:r>
              <a:rPr lang="pt-BR" dirty="0" smtClean="0"/>
              <a:t> para </a:t>
            </a:r>
            <a:r>
              <a:rPr lang="pt-BR" i="1" dirty="0" smtClean="0"/>
              <a:t>B</a:t>
            </a:r>
            <a:r>
              <a:rPr lang="pt-BR" dirty="0" smtClean="0"/>
              <a:t>. </a:t>
            </a:r>
            <a:r>
              <a:rPr lang="pt-BR" dirty="0" err="1" smtClean="0"/>
              <a:t>Obs</a:t>
            </a:r>
            <a:r>
              <a:rPr lang="pt-BR" dirty="0" smtClean="0"/>
              <a:t>: denota-se cardinalidade de A por |A|. </a:t>
            </a:r>
          </a:p>
          <a:p>
            <a:pPr>
              <a:buClr>
                <a:srgbClr val="0070C0"/>
              </a:buClr>
            </a:pPr>
            <a:endParaRPr lang="pt-BR" i="1" dirty="0" smtClean="0">
              <a:solidFill>
                <a:srgbClr val="00B0F0"/>
              </a:solidFill>
            </a:endParaRP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Um conjunto A é </a:t>
            </a:r>
            <a:r>
              <a:rPr lang="pt-BR" dirty="0" smtClean="0">
                <a:solidFill>
                  <a:srgbClr val="0070C0"/>
                </a:solidFill>
              </a:rPr>
              <a:t>finito</a:t>
            </a:r>
            <a:r>
              <a:rPr lang="pt-BR" dirty="0" smtClean="0"/>
              <a:t> se A é vazio ou se A tem a mesma cardinalidade que o conjunto {1,2,3,...,n}, para algum inteiro positivo n.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sz="2000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Um conjunto é </a:t>
            </a:r>
            <a:r>
              <a:rPr lang="pt-BR" dirty="0" smtClean="0">
                <a:solidFill>
                  <a:srgbClr val="0070C0"/>
                </a:solidFill>
              </a:rPr>
              <a:t>infinito</a:t>
            </a:r>
            <a:r>
              <a:rPr lang="pt-BR" dirty="0" smtClean="0"/>
              <a:t> se não é finito.</a:t>
            </a: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Se um conjunto A é vazio então |A|=0. Se A é finito e tem n elementos então |A|=n.</a:t>
            </a:r>
          </a:p>
          <a:p>
            <a:pPr>
              <a:buClr>
                <a:srgbClr val="0070C0"/>
              </a:buClr>
            </a:pPr>
            <a:endParaRPr lang="pt-BR" sz="2000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O número cardinal do conjunto infinito N={1,2,3,...} é       (</a:t>
            </a:r>
            <a:r>
              <a:rPr lang="pt-BR" dirty="0" err="1" smtClean="0"/>
              <a:t>álefe-zero</a:t>
            </a:r>
            <a:r>
              <a:rPr lang="pt-BR" dirty="0" smtClean="0"/>
              <a:t>). Logo |A|=     se e somente se tem a mesma cardinalidade de N.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23528" y="116632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Definição</a:t>
            </a:r>
            <a:endParaRPr lang="pt-BR" sz="2800" dirty="0">
              <a:solidFill>
                <a:srgbClr val="C00000"/>
              </a:solidFill>
            </a:endParaRPr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20" y="5643578"/>
            <a:ext cx="278608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6021288"/>
            <a:ext cx="278608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33</a:t>
            </a:fld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179512" y="260648"/>
            <a:ext cx="88582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Um conjunto com cardinalidade        é dito </a:t>
            </a:r>
            <a:r>
              <a:rPr lang="pt-BR" dirty="0" smtClean="0">
                <a:solidFill>
                  <a:srgbClr val="0070C0"/>
                </a:solidFill>
              </a:rPr>
              <a:t>enumerável. </a:t>
            </a:r>
            <a:r>
              <a:rPr lang="pt-BR" dirty="0" smtClean="0"/>
              <a:t>Um conjunto finito ou enumerável é dito </a:t>
            </a:r>
            <a:r>
              <a:rPr lang="pt-BR" dirty="0" smtClean="0">
                <a:solidFill>
                  <a:srgbClr val="0070C0"/>
                </a:solidFill>
              </a:rPr>
              <a:t>contável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</a:pPr>
            <a:endParaRPr lang="pt-BR" i="1" dirty="0" smtClean="0">
              <a:solidFill>
                <a:srgbClr val="00B0F0"/>
              </a:solidFill>
            </a:endParaRPr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r>
              <a:rPr lang="pt-BR" dirty="0" smtClean="0"/>
              <a:t>O conjunto R (reais) é </a:t>
            </a:r>
            <a:r>
              <a:rPr lang="pt-BR" dirty="0" smtClean="0">
                <a:solidFill>
                  <a:srgbClr val="0070C0"/>
                </a:solidFill>
              </a:rPr>
              <a:t>não enumerável </a:t>
            </a:r>
            <a:r>
              <a:rPr lang="pt-BR" dirty="0" smtClean="0"/>
              <a:t>ou </a:t>
            </a:r>
            <a:r>
              <a:rPr lang="pt-BR" dirty="0" smtClean="0">
                <a:solidFill>
                  <a:srgbClr val="0070C0"/>
                </a:solidFill>
              </a:rPr>
              <a:t>não contável</a:t>
            </a:r>
            <a:r>
              <a:rPr lang="pt-BR" dirty="0" smtClean="0"/>
              <a:t>.</a:t>
            </a:r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</a:pPr>
            <a:endParaRPr lang="pt-BR" dirty="0" smtClean="0"/>
          </a:p>
          <a:p>
            <a:pPr>
              <a:buClr>
                <a:srgbClr val="0070C0"/>
              </a:buClr>
              <a:buFont typeface="Wingdings" pitchFamily="2" charset="2"/>
              <a:buChar char="Ø"/>
            </a:pPr>
            <a:endParaRPr lang="pt-BR" dirty="0" smtClean="0"/>
          </a:p>
          <a:p>
            <a:pPr>
              <a:buClr>
                <a:srgbClr val="0070C0"/>
              </a:buClr>
            </a:pPr>
            <a:endParaRPr lang="pt-BR" dirty="0" smtClean="0"/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04664"/>
            <a:ext cx="278608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aixaDeTexto 5"/>
          <p:cNvSpPr txBox="1"/>
          <p:nvPr/>
        </p:nvSpPr>
        <p:spPr>
          <a:xfrm>
            <a:off x="251520" y="1916832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C00000"/>
                </a:solidFill>
              </a:rPr>
              <a:t>Exemplos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79512" y="2420888"/>
            <a:ext cx="78146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70C0"/>
              </a:buClr>
              <a:buAutoNum type="arabicParenR"/>
            </a:pPr>
            <a:r>
              <a:rPr lang="pt-BR" dirty="0" smtClean="0"/>
              <a:t>|{x,y,z}|=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|{1,3,5,7,9}|=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 Conjunto S dos inteiros positivos ímpares.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 Conjunto dos números inteiros.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 Conjunto dos números reais.</a:t>
            </a:r>
          </a:p>
          <a:p>
            <a:pPr marL="457200" indent="-457200">
              <a:buClr>
                <a:srgbClr val="0070C0"/>
              </a:buClr>
              <a:buFontTx/>
              <a:buAutoNum type="arabicParenR"/>
            </a:pPr>
            <a:r>
              <a:rPr lang="pt-BR" dirty="0" smtClean="0"/>
              <a:t> Conjunto dos racionais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4725144"/>
            <a:ext cx="8964488" cy="12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70C0"/>
              </a:buClr>
              <a:buAutoNum type="arabicParenR" startAt="7"/>
            </a:pPr>
            <a:r>
              <a:rPr lang="pt-BR" dirty="0" smtClean="0"/>
              <a:t>|A|   t. q.   A={10, 20, 30, 40, ...}</a:t>
            </a:r>
          </a:p>
          <a:p>
            <a:pPr marL="457200" indent="-457200">
              <a:buClr>
                <a:srgbClr val="0070C0"/>
              </a:buClr>
              <a:buAutoNum type="arabicParenR" startAt="7"/>
            </a:pPr>
            <a:r>
              <a:rPr lang="pt-BR" dirty="0" smtClean="0"/>
              <a:t>|B|   t. q.   B={6, 7, 8, 9,...}</a:t>
            </a:r>
          </a:p>
          <a:p>
            <a:pPr marL="457200" indent="-457200">
              <a:buClr>
                <a:srgbClr val="0070C0"/>
              </a:buClr>
              <a:buAutoNum type="arabicParenR" startAt="7"/>
            </a:pPr>
            <a:r>
              <a:rPr lang="pt-BR" dirty="0" smtClean="0"/>
              <a:t>|C|   t. q.   C=</a:t>
            </a:r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411760" y="5445224"/>
          <a:ext cx="2246312" cy="504825"/>
        </p:xfrm>
        <a:graphic>
          <a:graphicData uri="http://schemas.openxmlformats.org/presentationml/2006/ole">
            <p:oleObj spid="_x0000_s41986" name="Equação" r:id="rId4" imgW="1244520" imgH="2793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34</a:t>
            </a:fld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071538" y="1357298"/>
            <a:ext cx="2643206" cy="40005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5286380" y="1357298"/>
            <a:ext cx="2643206" cy="40005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Objeto 13"/>
          <p:cNvGraphicFramePr>
            <a:graphicFrameLocks noChangeAspect="1"/>
          </p:cNvGraphicFramePr>
          <p:nvPr/>
        </p:nvGraphicFramePr>
        <p:xfrm>
          <a:off x="2071670" y="1571612"/>
          <a:ext cx="583411" cy="500066"/>
        </p:xfrm>
        <a:graphic>
          <a:graphicData uri="http://schemas.openxmlformats.org/presentationml/2006/ole">
            <p:oleObj spid="_x0000_s66563" name="Equação" r:id="rId3" imgW="101520" imgH="190440" progId="Equation.3">
              <p:embed/>
            </p:oleObj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1928794" y="2428868"/>
          <a:ext cx="622300" cy="500062"/>
        </p:xfrm>
        <a:graphic>
          <a:graphicData uri="http://schemas.openxmlformats.org/presentationml/2006/ole">
            <p:oleObj spid="_x0000_s66564" name="Equação" r:id="rId4" imgW="139680" imgH="190440" progId="Equation.3">
              <p:embed/>
            </p:oleObj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1998663" y="3055938"/>
          <a:ext cx="728662" cy="533400"/>
        </p:xfrm>
        <a:graphic>
          <a:graphicData uri="http://schemas.openxmlformats.org/presentationml/2006/ole">
            <p:oleObj spid="_x0000_s66565" name="Equação" r:id="rId5" imgW="126720" imgH="203040" progId="Equation.3">
              <p:embed/>
            </p:oleObj>
          </a:graphicData>
        </a:graphic>
      </p:graphicFrame>
      <p:graphicFrame>
        <p:nvGraphicFramePr>
          <p:cNvPr id="66566" name="Object 6"/>
          <p:cNvGraphicFramePr>
            <a:graphicFrameLocks noChangeAspect="1"/>
          </p:cNvGraphicFramePr>
          <p:nvPr/>
        </p:nvGraphicFramePr>
        <p:xfrm>
          <a:off x="1962150" y="3786188"/>
          <a:ext cx="801688" cy="500062"/>
        </p:xfrm>
        <a:graphic>
          <a:graphicData uri="http://schemas.openxmlformats.org/presentationml/2006/ole">
            <p:oleObj spid="_x0000_s66566" name="Equação" r:id="rId6" imgW="139680" imgH="190440" progId="Equation.3">
              <p:embed/>
            </p:oleObj>
          </a:graphicData>
        </a:graphic>
      </p:graphicFrame>
      <p:graphicFrame>
        <p:nvGraphicFramePr>
          <p:cNvPr id="66567" name="Object 7"/>
          <p:cNvGraphicFramePr>
            <a:graphicFrameLocks noChangeAspect="1"/>
          </p:cNvGraphicFramePr>
          <p:nvPr/>
        </p:nvGraphicFramePr>
        <p:xfrm>
          <a:off x="2071670" y="4357694"/>
          <a:ext cx="436562" cy="600075"/>
        </p:xfrm>
        <a:graphic>
          <a:graphicData uri="http://schemas.openxmlformats.org/presentationml/2006/ole">
            <p:oleObj spid="_x0000_s66567" name="Equação" r:id="rId7" imgW="75960" imgH="228600" progId="Equation.3">
              <p:embed/>
            </p:oleObj>
          </a:graphicData>
        </a:graphic>
      </p:graphicFrame>
      <p:graphicFrame>
        <p:nvGraphicFramePr>
          <p:cNvPr id="66568" name="Object 8"/>
          <p:cNvGraphicFramePr>
            <a:graphicFrameLocks noChangeAspect="1"/>
          </p:cNvGraphicFramePr>
          <p:nvPr/>
        </p:nvGraphicFramePr>
        <p:xfrm>
          <a:off x="6500826" y="1714488"/>
          <a:ext cx="582612" cy="500063"/>
        </p:xfrm>
        <a:graphic>
          <a:graphicData uri="http://schemas.openxmlformats.org/presentationml/2006/ole">
            <p:oleObj spid="_x0000_s66568" name="Equação" r:id="rId8" imgW="101520" imgH="190440" progId="Equation.3">
              <p:embed/>
            </p:oleObj>
          </a:graphicData>
        </a:graphic>
      </p:graphicFrame>
      <p:graphicFrame>
        <p:nvGraphicFramePr>
          <p:cNvPr id="66569" name="Object 9"/>
          <p:cNvGraphicFramePr>
            <a:graphicFrameLocks noChangeAspect="1"/>
          </p:cNvGraphicFramePr>
          <p:nvPr/>
        </p:nvGraphicFramePr>
        <p:xfrm>
          <a:off x="6357938" y="2484438"/>
          <a:ext cx="727075" cy="533400"/>
        </p:xfrm>
        <a:graphic>
          <a:graphicData uri="http://schemas.openxmlformats.org/presentationml/2006/ole">
            <p:oleObj spid="_x0000_s66569" name="Equação" r:id="rId9" imgW="126720" imgH="203040" progId="Equation.3">
              <p:embed/>
            </p:oleObj>
          </a:graphicData>
        </a:graphic>
      </p:graphicFrame>
      <p:graphicFrame>
        <p:nvGraphicFramePr>
          <p:cNvPr id="66570" name="Object 10"/>
          <p:cNvGraphicFramePr>
            <a:graphicFrameLocks noChangeAspect="1"/>
          </p:cNvGraphicFramePr>
          <p:nvPr/>
        </p:nvGraphicFramePr>
        <p:xfrm>
          <a:off x="6321425" y="3198813"/>
          <a:ext cx="800100" cy="533400"/>
        </p:xfrm>
        <a:graphic>
          <a:graphicData uri="http://schemas.openxmlformats.org/presentationml/2006/ole">
            <p:oleObj spid="_x0000_s66570" name="Equação" r:id="rId10" imgW="139680" imgH="203040" progId="Equation.3">
              <p:embed/>
            </p:oleObj>
          </a:graphicData>
        </a:graphic>
      </p:graphicFrame>
      <p:graphicFrame>
        <p:nvGraphicFramePr>
          <p:cNvPr id="66571" name="Object 11"/>
          <p:cNvGraphicFramePr>
            <a:graphicFrameLocks noChangeAspect="1"/>
          </p:cNvGraphicFramePr>
          <p:nvPr/>
        </p:nvGraphicFramePr>
        <p:xfrm>
          <a:off x="6321425" y="3770313"/>
          <a:ext cx="800100" cy="533400"/>
        </p:xfrm>
        <a:graphic>
          <a:graphicData uri="http://schemas.openxmlformats.org/presentationml/2006/ole">
            <p:oleObj spid="_x0000_s66571" name="Equação" r:id="rId11" imgW="139680" imgH="203040" progId="Equation.3">
              <p:embed/>
            </p:oleObj>
          </a:graphicData>
        </a:graphic>
      </p:graphicFrame>
      <p:graphicFrame>
        <p:nvGraphicFramePr>
          <p:cNvPr id="66572" name="Object 12"/>
          <p:cNvGraphicFramePr>
            <a:graphicFrameLocks noChangeAspect="1"/>
          </p:cNvGraphicFramePr>
          <p:nvPr/>
        </p:nvGraphicFramePr>
        <p:xfrm>
          <a:off x="6572264" y="4429132"/>
          <a:ext cx="223852" cy="600075"/>
        </p:xfrm>
        <a:graphic>
          <a:graphicData uri="http://schemas.openxmlformats.org/presentationml/2006/ole">
            <p:oleObj spid="_x0000_s66572" name="Equação" r:id="rId12" imgW="75960" imgH="228600" progId="Equation.3">
              <p:embed/>
            </p:oleObj>
          </a:graphicData>
        </a:graphic>
      </p:graphicFrame>
      <p:graphicFrame>
        <p:nvGraphicFramePr>
          <p:cNvPr id="66573" name="Object 13"/>
          <p:cNvGraphicFramePr>
            <a:graphicFrameLocks noChangeAspect="1"/>
          </p:cNvGraphicFramePr>
          <p:nvPr/>
        </p:nvGraphicFramePr>
        <p:xfrm>
          <a:off x="285720" y="285728"/>
          <a:ext cx="6007879" cy="741508"/>
        </p:xfrm>
        <a:graphic>
          <a:graphicData uri="http://schemas.openxmlformats.org/presentationml/2006/ole">
            <p:oleObj spid="_x0000_s66573" name="Equação" r:id="rId13" imgW="1498320" imgH="253800" progId="Equation.3">
              <p:embed/>
            </p:oleObj>
          </a:graphicData>
        </a:graphic>
      </p:graphicFrame>
      <p:cxnSp>
        <p:nvCxnSpPr>
          <p:cNvPr id="24" name="Conector de seta reta 23"/>
          <p:cNvCxnSpPr/>
          <p:nvPr/>
        </p:nvCxnSpPr>
        <p:spPr>
          <a:xfrm>
            <a:off x="2571736" y="1857364"/>
            <a:ext cx="37147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>
            <a:off x="2500298" y="2714620"/>
            <a:ext cx="37147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>
            <a:off x="2643174" y="3286124"/>
            <a:ext cx="37147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2571736" y="4000504"/>
            <a:ext cx="37147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35</a:t>
            </a:fld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071538" y="1357298"/>
            <a:ext cx="2643206" cy="4786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5286380" y="1357298"/>
            <a:ext cx="2643206" cy="4786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Objeto 13"/>
          <p:cNvGraphicFramePr>
            <a:graphicFrameLocks noChangeAspect="1"/>
          </p:cNvGraphicFramePr>
          <p:nvPr/>
        </p:nvGraphicFramePr>
        <p:xfrm>
          <a:off x="2071670" y="1571612"/>
          <a:ext cx="583411" cy="500066"/>
        </p:xfrm>
        <a:graphic>
          <a:graphicData uri="http://schemas.openxmlformats.org/presentationml/2006/ole">
            <p:oleObj spid="_x0000_s67586" name="Equação" r:id="rId3" imgW="101520" imgH="190440" progId="Equation.3">
              <p:embed/>
            </p:oleObj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2000250" y="2411413"/>
          <a:ext cx="622300" cy="500062"/>
        </p:xfrm>
        <a:graphic>
          <a:graphicData uri="http://schemas.openxmlformats.org/presentationml/2006/ole">
            <p:oleObj spid="_x0000_s67587" name="Equação" r:id="rId4" imgW="139680" imgH="190440" progId="Equation.3">
              <p:embed/>
            </p:oleObj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1998663" y="3055938"/>
          <a:ext cx="728662" cy="533400"/>
        </p:xfrm>
        <a:graphic>
          <a:graphicData uri="http://schemas.openxmlformats.org/presentationml/2006/ole">
            <p:oleObj spid="_x0000_s67588" name="Equação" r:id="rId5" imgW="126720" imgH="203040" progId="Equation.3">
              <p:embed/>
            </p:oleObj>
          </a:graphicData>
        </a:graphic>
      </p:graphicFrame>
      <p:graphicFrame>
        <p:nvGraphicFramePr>
          <p:cNvPr id="66566" name="Object 6"/>
          <p:cNvGraphicFramePr>
            <a:graphicFrameLocks noChangeAspect="1"/>
          </p:cNvGraphicFramePr>
          <p:nvPr/>
        </p:nvGraphicFramePr>
        <p:xfrm>
          <a:off x="1962150" y="3786188"/>
          <a:ext cx="801688" cy="500062"/>
        </p:xfrm>
        <a:graphic>
          <a:graphicData uri="http://schemas.openxmlformats.org/presentationml/2006/ole">
            <p:oleObj spid="_x0000_s67589" name="Equação" r:id="rId6" imgW="139680" imgH="190440" progId="Equation.3">
              <p:embed/>
            </p:oleObj>
          </a:graphicData>
        </a:graphic>
      </p:graphicFrame>
      <p:graphicFrame>
        <p:nvGraphicFramePr>
          <p:cNvPr id="66567" name="Object 7"/>
          <p:cNvGraphicFramePr>
            <a:graphicFrameLocks noChangeAspect="1"/>
          </p:cNvGraphicFramePr>
          <p:nvPr/>
        </p:nvGraphicFramePr>
        <p:xfrm>
          <a:off x="2143108" y="5214950"/>
          <a:ext cx="436562" cy="600075"/>
        </p:xfrm>
        <a:graphic>
          <a:graphicData uri="http://schemas.openxmlformats.org/presentationml/2006/ole">
            <p:oleObj spid="_x0000_s67590" name="Equação" r:id="rId7" imgW="75960" imgH="228600" progId="Equation.3">
              <p:embed/>
            </p:oleObj>
          </a:graphicData>
        </a:graphic>
      </p:graphicFrame>
      <p:graphicFrame>
        <p:nvGraphicFramePr>
          <p:cNvPr id="66568" name="Object 8"/>
          <p:cNvGraphicFramePr>
            <a:graphicFrameLocks noChangeAspect="1"/>
          </p:cNvGraphicFramePr>
          <p:nvPr/>
        </p:nvGraphicFramePr>
        <p:xfrm>
          <a:off x="6215074" y="1643050"/>
          <a:ext cx="800100" cy="533400"/>
        </p:xfrm>
        <a:graphic>
          <a:graphicData uri="http://schemas.openxmlformats.org/presentationml/2006/ole">
            <p:oleObj spid="_x0000_s67591" name="Equação" r:id="rId8" imgW="139680" imgH="203040" progId="Equation.3">
              <p:embed/>
            </p:oleObj>
          </a:graphicData>
        </a:graphic>
      </p:graphicFrame>
      <p:graphicFrame>
        <p:nvGraphicFramePr>
          <p:cNvPr id="66569" name="Object 9"/>
          <p:cNvGraphicFramePr>
            <a:graphicFrameLocks noChangeAspect="1"/>
          </p:cNvGraphicFramePr>
          <p:nvPr/>
        </p:nvGraphicFramePr>
        <p:xfrm>
          <a:off x="6288088" y="2373313"/>
          <a:ext cx="581025" cy="500062"/>
        </p:xfrm>
        <a:graphic>
          <a:graphicData uri="http://schemas.openxmlformats.org/presentationml/2006/ole">
            <p:oleObj spid="_x0000_s67592" name="Equação" r:id="rId9" imgW="101520" imgH="190440" progId="Equation.3">
              <p:embed/>
            </p:oleObj>
          </a:graphicData>
        </a:graphic>
      </p:graphicFrame>
      <p:graphicFrame>
        <p:nvGraphicFramePr>
          <p:cNvPr id="66570" name="Object 10"/>
          <p:cNvGraphicFramePr>
            <a:graphicFrameLocks noChangeAspect="1"/>
          </p:cNvGraphicFramePr>
          <p:nvPr/>
        </p:nvGraphicFramePr>
        <p:xfrm>
          <a:off x="5888039" y="3087688"/>
          <a:ext cx="898540" cy="500062"/>
        </p:xfrm>
        <a:graphic>
          <a:graphicData uri="http://schemas.openxmlformats.org/presentationml/2006/ole">
            <p:oleObj spid="_x0000_s67593" name="Equação" r:id="rId10" imgW="253800" imgH="190440" progId="Equation.3">
              <p:embed/>
            </p:oleObj>
          </a:graphicData>
        </a:graphic>
      </p:graphicFrame>
      <p:graphicFrame>
        <p:nvGraphicFramePr>
          <p:cNvPr id="66571" name="Object 11"/>
          <p:cNvGraphicFramePr>
            <a:graphicFrameLocks noChangeAspect="1"/>
          </p:cNvGraphicFramePr>
          <p:nvPr/>
        </p:nvGraphicFramePr>
        <p:xfrm>
          <a:off x="6321425" y="3786188"/>
          <a:ext cx="800100" cy="500062"/>
        </p:xfrm>
        <a:graphic>
          <a:graphicData uri="http://schemas.openxmlformats.org/presentationml/2006/ole">
            <p:oleObj spid="_x0000_s67594" name="Equação" r:id="rId11" imgW="139680" imgH="190440" progId="Equation.3">
              <p:embed/>
            </p:oleObj>
          </a:graphicData>
        </a:graphic>
      </p:graphicFrame>
      <p:graphicFrame>
        <p:nvGraphicFramePr>
          <p:cNvPr id="66572" name="Object 12"/>
          <p:cNvGraphicFramePr>
            <a:graphicFrameLocks noChangeAspect="1"/>
          </p:cNvGraphicFramePr>
          <p:nvPr/>
        </p:nvGraphicFramePr>
        <p:xfrm>
          <a:off x="6572264" y="5143512"/>
          <a:ext cx="223852" cy="600075"/>
        </p:xfrm>
        <a:graphic>
          <a:graphicData uri="http://schemas.openxmlformats.org/presentationml/2006/ole">
            <p:oleObj spid="_x0000_s67595" name="Equação" r:id="rId12" imgW="75960" imgH="228600" progId="Equation.3">
              <p:embed/>
            </p:oleObj>
          </a:graphicData>
        </a:graphic>
      </p:graphicFrame>
      <p:graphicFrame>
        <p:nvGraphicFramePr>
          <p:cNvPr id="67596" name="Object 12"/>
          <p:cNvGraphicFramePr>
            <a:graphicFrameLocks noChangeAspect="1"/>
          </p:cNvGraphicFramePr>
          <p:nvPr/>
        </p:nvGraphicFramePr>
        <p:xfrm>
          <a:off x="285750" y="285750"/>
          <a:ext cx="6007100" cy="741363"/>
        </p:xfrm>
        <a:graphic>
          <a:graphicData uri="http://schemas.openxmlformats.org/presentationml/2006/ole">
            <p:oleObj spid="_x0000_s67596" name="Equação" r:id="rId13" imgW="1498320" imgH="253800" progId="Equation.3">
              <p:embed/>
            </p:oleObj>
          </a:graphicData>
        </a:graphic>
      </p:graphicFrame>
      <p:graphicFrame>
        <p:nvGraphicFramePr>
          <p:cNvPr id="67597" name="Object 6"/>
          <p:cNvGraphicFramePr>
            <a:graphicFrameLocks noChangeAspect="1"/>
          </p:cNvGraphicFramePr>
          <p:nvPr/>
        </p:nvGraphicFramePr>
        <p:xfrm>
          <a:off x="2000250" y="4484688"/>
          <a:ext cx="801688" cy="533400"/>
        </p:xfrm>
        <a:graphic>
          <a:graphicData uri="http://schemas.openxmlformats.org/presentationml/2006/ole">
            <p:oleObj spid="_x0000_s67597" name="Equação" r:id="rId14" imgW="139680" imgH="203040" progId="Equation.3">
              <p:embed/>
            </p:oleObj>
          </a:graphicData>
        </a:graphic>
      </p:graphicFrame>
      <p:graphicFrame>
        <p:nvGraphicFramePr>
          <p:cNvPr id="67598" name="Object 11"/>
          <p:cNvGraphicFramePr>
            <a:graphicFrameLocks noChangeAspect="1"/>
          </p:cNvGraphicFramePr>
          <p:nvPr/>
        </p:nvGraphicFramePr>
        <p:xfrm>
          <a:off x="5929322" y="4500570"/>
          <a:ext cx="936640" cy="500062"/>
        </p:xfrm>
        <a:graphic>
          <a:graphicData uri="http://schemas.openxmlformats.org/presentationml/2006/ole">
            <p:oleObj spid="_x0000_s67598" name="Equação" r:id="rId15" imgW="291960" imgH="190440" progId="Equation.3">
              <p:embed/>
            </p:oleObj>
          </a:graphicData>
        </a:graphic>
      </p:graphicFrame>
      <p:cxnSp>
        <p:nvCxnSpPr>
          <p:cNvPr id="19" name="Conector de seta reta 18"/>
          <p:cNvCxnSpPr/>
          <p:nvPr/>
        </p:nvCxnSpPr>
        <p:spPr>
          <a:xfrm>
            <a:off x="2500298" y="1785926"/>
            <a:ext cx="35719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2500298" y="2643182"/>
            <a:ext cx="35719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2428860" y="3214686"/>
            <a:ext cx="35719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2571736" y="3929066"/>
            <a:ext cx="35719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2571736" y="4786322"/>
            <a:ext cx="357190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36</a:t>
            </a:fld>
            <a:endParaRPr lang="pt-BR"/>
          </a:p>
        </p:txBody>
      </p:sp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1143000" y="627063"/>
          <a:ext cx="2784475" cy="1630362"/>
        </p:xfrm>
        <a:graphic>
          <a:graphicData uri="http://schemas.openxmlformats.org/presentationml/2006/ole">
            <p:oleObj spid="_x0000_s68620" name="Equação" r:id="rId3" imgW="927000" imgH="5587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4E919-3179-4CD2-9AAC-7DF7B796E56F}" type="slidenum">
              <a:rPr lang="pt-BR" smtClean="0"/>
              <a:pPr/>
              <a:t>37</a:t>
            </a:fld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500034" y="928670"/>
            <a:ext cx="5572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>
                <a:solidFill>
                  <a:srgbClr val="0070C0"/>
                </a:solidFill>
              </a:rPr>
              <a:t>Referências Bibliográficas</a:t>
            </a:r>
            <a:endParaRPr lang="pt-BR" sz="3600" dirty="0">
              <a:solidFill>
                <a:srgbClr val="0070C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785786" y="2214554"/>
            <a:ext cx="79296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Rosen</a:t>
            </a:r>
            <a:r>
              <a:rPr lang="pt-BR" dirty="0" smtClean="0"/>
              <a:t>, </a:t>
            </a:r>
            <a:r>
              <a:rPr lang="pt-BR" dirty="0" err="1" smtClean="0"/>
              <a:t>Kennet</a:t>
            </a:r>
            <a:r>
              <a:rPr lang="pt-BR" dirty="0" smtClean="0"/>
              <a:t> H., Matemática discreta e suas aplicações.  São Paulo: McGraw-hill, 2009.</a:t>
            </a:r>
          </a:p>
          <a:p>
            <a:endParaRPr lang="pt-BR" dirty="0" smtClean="0"/>
          </a:p>
          <a:p>
            <a:r>
              <a:rPr lang="pt-BR" dirty="0" smtClean="0"/>
              <a:t>LIPSCHUTZ, S., LIPSON, M. Matemática Discreta, </a:t>
            </a:r>
            <a:r>
              <a:rPr lang="pt-BR" dirty="0" err="1" smtClean="0"/>
              <a:t>Bookman</a:t>
            </a:r>
            <a:r>
              <a:rPr lang="pt-BR" dirty="0" smtClean="0"/>
              <a:t>, 2004.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17500924</TotalTime>
  <Words>1897</Words>
  <Application>Microsoft Office PowerPoint</Application>
  <PresentationFormat>Apresentação na tela (4:3)</PresentationFormat>
  <Paragraphs>242</Paragraphs>
  <Slides>37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37</vt:i4>
      </vt:variant>
    </vt:vector>
  </HeadingPairs>
  <TitlesOfParts>
    <vt:vector size="40" baseType="lpstr">
      <vt:lpstr>Estrutura padrão</vt:lpstr>
      <vt:lpstr>Equação</vt:lpstr>
      <vt:lpstr>Microsoft Equation 3.0</vt:lpstr>
      <vt:lpstr>Matemática Discreta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PEARSON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upesseu</dc:creator>
  <cp:lastModifiedBy>Mario Molgora</cp:lastModifiedBy>
  <cp:revision>265</cp:revision>
  <dcterms:created xsi:type="dcterms:W3CDTF">2007-12-17T17:47:34Z</dcterms:created>
  <dcterms:modified xsi:type="dcterms:W3CDTF">2021-11-25T13:11:46Z</dcterms:modified>
</cp:coreProperties>
</file>