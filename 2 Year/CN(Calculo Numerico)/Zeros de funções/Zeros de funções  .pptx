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1" r:id="rId1"/>
  </p:sldMasterIdLst>
  <p:notesMasterIdLst>
    <p:notesMasterId r:id="rId56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34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318" r:id="rId24"/>
    <p:sldId id="321" r:id="rId25"/>
    <p:sldId id="279" r:id="rId26"/>
    <p:sldId id="280" r:id="rId27"/>
    <p:sldId id="281" r:id="rId28"/>
    <p:sldId id="283" r:id="rId29"/>
    <p:sldId id="344" r:id="rId30"/>
    <p:sldId id="343" r:id="rId31"/>
    <p:sldId id="342" r:id="rId32"/>
    <p:sldId id="341" r:id="rId33"/>
    <p:sldId id="335" r:id="rId34"/>
    <p:sldId id="345" r:id="rId35"/>
    <p:sldId id="336" r:id="rId36"/>
    <p:sldId id="337" r:id="rId37"/>
    <p:sldId id="338" r:id="rId38"/>
    <p:sldId id="339" r:id="rId39"/>
    <p:sldId id="291" r:id="rId40"/>
    <p:sldId id="293" r:id="rId41"/>
    <p:sldId id="328" r:id="rId42"/>
    <p:sldId id="329" r:id="rId43"/>
    <p:sldId id="330" r:id="rId44"/>
    <p:sldId id="331" r:id="rId45"/>
    <p:sldId id="305" r:id="rId46"/>
    <p:sldId id="332" r:id="rId47"/>
    <p:sldId id="306" r:id="rId48"/>
    <p:sldId id="333" r:id="rId49"/>
    <p:sldId id="334" r:id="rId50"/>
    <p:sldId id="313" r:id="rId51"/>
    <p:sldId id="314" r:id="rId52"/>
    <p:sldId id="315" r:id="rId53"/>
    <p:sldId id="317" r:id="rId54"/>
    <p:sldId id="292" r:id="rId55"/>
  </p:sldIdLst>
  <p:sldSz cx="9144000" cy="6858000" type="screen4x3"/>
  <p:notesSz cx="7099300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6573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559" autoAdjust="0"/>
    <p:restoredTop sz="94574" autoAdjust="0"/>
  </p:normalViewPr>
  <p:slideViewPr>
    <p:cSldViewPr>
      <p:cViewPr>
        <p:scale>
          <a:sx n="60" d="100"/>
          <a:sy n="60" d="100"/>
        </p:scale>
        <p:origin x="-1494" y="-2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40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4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2" Type="http://schemas.openxmlformats.org/officeDocument/2006/relationships/image" Target="../media/image11.wmf"/><Relationship Id="rId1" Type="http://schemas.openxmlformats.org/officeDocument/2006/relationships/image" Target="../media/image19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49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wmf"/><Relationship Id="rId1" Type="http://schemas.openxmlformats.org/officeDocument/2006/relationships/image" Target="../media/image58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4" Type="http://schemas.openxmlformats.org/officeDocument/2006/relationships/image" Target="../media/image88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EEF3B86B-BA34-42D5-8A79-3C19B809F4D6}" type="datetimeFigureOut">
              <a:rPr lang="pt-BR" smtClean="0"/>
              <a:pPr/>
              <a:t>06/06/2023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0E2597D9-E68B-4569-999C-01A626FF9C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D1404D-0974-450E-9F1E-B275F98F7480}" type="slidenum">
              <a:rPr lang="pt-BR"/>
              <a:pPr/>
              <a:t>40</a:t>
            </a:fld>
            <a:endParaRPr lang="pt-BR"/>
          </a:p>
        </p:txBody>
      </p:sp>
      <p:sp>
        <p:nvSpPr>
          <p:cNvPr id="1086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6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D1404D-0974-450E-9F1E-B275F98F7480}" type="slidenum">
              <a:rPr lang="pt-BR"/>
              <a:pPr/>
              <a:t>41</a:t>
            </a:fld>
            <a:endParaRPr lang="pt-BR"/>
          </a:p>
        </p:txBody>
      </p:sp>
      <p:sp>
        <p:nvSpPr>
          <p:cNvPr id="1086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6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D1404D-0974-450E-9F1E-B275F98F7480}" type="slidenum">
              <a:rPr lang="pt-BR"/>
              <a:pPr/>
              <a:t>42</a:t>
            </a:fld>
            <a:endParaRPr lang="pt-BR"/>
          </a:p>
        </p:txBody>
      </p:sp>
      <p:sp>
        <p:nvSpPr>
          <p:cNvPr id="1086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6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D1404D-0974-450E-9F1E-B275F98F7480}" type="slidenum">
              <a:rPr lang="pt-BR"/>
              <a:pPr/>
              <a:t>43</a:t>
            </a:fld>
            <a:endParaRPr lang="pt-BR"/>
          </a:p>
        </p:txBody>
      </p:sp>
      <p:sp>
        <p:nvSpPr>
          <p:cNvPr id="1086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6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D1404D-0974-450E-9F1E-B275F98F7480}" type="slidenum">
              <a:rPr lang="pt-BR"/>
              <a:pPr/>
              <a:t>44</a:t>
            </a:fld>
            <a:endParaRPr lang="pt-BR"/>
          </a:p>
        </p:txBody>
      </p:sp>
      <p:sp>
        <p:nvSpPr>
          <p:cNvPr id="1086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6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87F9DD-BF12-42E1-B629-4D979B9F24A6}" type="slidenum">
              <a:rPr lang="pt-BR"/>
              <a:pPr/>
              <a:t>45</a:t>
            </a:fld>
            <a:endParaRPr lang="pt-BR"/>
          </a:p>
        </p:txBody>
      </p:sp>
      <p:sp>
        <p:nvSpPr>
          <p:cNvPr id="1097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7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87F9DD-BF12-42E1-B629-4D979B9F24A6}" type="slidenum">
              <a:rPr lang="pt-BR"/>
              <a:pPr/>
              <a:t>46</a:t>
            </a:fld>
            <a:endParaRPr lang="pt-BR"/>
          </a:p>
        </p:txBody>
      </p:sp>
      <p:sp>
        <p:nvSpPr>
          <p:cNvPr id="1097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7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07FC8D-3984-40BB-8C3E-5DE856489FAB}" type="slidenum">
              <a:rPr lang="pt-BR"/>
              <a:pPr/>
              <a:t>47</a:t>
            </a:fld>
            <a:endParaRPr lang="pt-BR"/>
          </a:p>
        </p:txBody>
      </p:sp>
      <p:sp>
        <p:nvSpPr>
          <p:cNvPr id="1098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8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07FC8D-3984-40BB-8C3E-5DE856489FAB}" type="slidenum">
              <a:rPr lang="pt-BR"/>
              <a:pPr/>
              <a:t>48</a:t>
            </a:fld>
            <a:endParaRPr lang="pt-BR"/>
          </a:p>
        </p:txBody>
      </p:sp>
      <p:sp>
        <p:nvSpPr>
          <p:cNvPr id="1098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8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07FC8D-3984-40BB-8C3E-5DE856489FAB}" type="slidenum">
              <a:rPr lang="pt-BR"/>
              <a:pPr/>
              <a:t>49</a:t>
            </a:fld>
            <a:endParaRPr lang="pt-BR"/>
          </a:p>
        </p:txBody>
      </p:sp>
      <p:sp>
        <p:nvSpPr>
          <p:cNvPr id="1098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8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A12BB3-F652-43C4-BFBD-FC7E17BB8A4D}" type="slidenum">
              <a:rPr lang="pt-BR"/>
              <a:pPr/>
              <a:t>50</a:t>
            </a:fld>
            <a:endParaRPr lang="pt-BR"/>
          </a:p>
        </p:txBody>
      </p:sp>
      <p:sp>
        <p:nvSpPr>
          <p:cNvPr id="75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564FE5-5F52-4D70-9EED-89FB39794E02}" type="slidenum">
              <a:rPr lang="pt-BR"/>
              <a:pPr/>
              <a:t>51</a:t>
            </a:fld>
            <a:endParaRPr lang="pt-BR"/>
          </a:p>
        </p:txBody>
      </p:sp>
      <p:sp>
        <p:nvSpPr>
          <p:cNvPr id="75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3EFAFD-E0C1-4D33-980D-8ECC92C6B78C}" type="slidenum">
              <a:rPr lang="pt-BR"/>
              <a:pPr/>
              <a:t>52</a:t>
            </a:fld>
            <a:endParaRPr lang="pt-BR"/>
          </a:p>
        </p:txBody>
      </p:sp>
      <p:sp>
        <p:nvSpPr>
          <p:cNvPr id="1133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3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D6A420-CBF2-4D67-97F9-64472D1B88DF}" type="slidenum">
              <a:rPr lang="pt-BR"/>
              <a:pPr/>
              <a:t>53</a:t>
            </a:fld>
            <a:endParaRPr lang="pt-BR"/>
          </a:p>
        </p:txBody>
      </p:sp>
      <p:sp>
        <p:nvSpPr>
          <p:cNvPr id="1008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8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58F2-BB87-4166-A0CF-48AEEC4E9F73}" type="datetimeFigureOut">
              <a:rPr lang="pt-BR" smtClean="0"/>
              <a:pPr/>
              <a:t>06/06/2023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D976-52B7-4A26-BD33-259AD168FD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58F2-BB87-4166-A0CF-48AEEC4E9F73}" type="datetimeFigureOut">
              <a:rPr lang="pt-BR" smtClean="0"/>
              <a:pPr/>
              <a:t>06/06/2023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D976-52B7-4A26-BD33-259AD168FD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58F2-BB87-4166-A0CF-48AEEC4E9F73}" type="datetimeFigureOut">
              <a:rPr lang="pt-BR" smtClean="0"/>
              <a:pPr/>
              <a:t>06/06/2023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D976-52B7-4A26-BD33-259AD168FD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58F2-BB87-4166-A0CF-48AEEC4E9F73}" type="datetimeFigureOut">
              <a:rPr lang="pt-BR" smtClean="0"/>
              <a:pPr/>
              <a:t>06/06/2023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D976-52B7-4A26-BD33-259AD168FD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58F2-BB87-4166-A0CF-48AEEC4E9F73}" type="datetimeFigureOut">
              <a:rPr lang="pt-BR" smtClean="0"/>
              <a:pPr/>
              <a:t>06/06/2023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D976-52B7-4A26-BD33-259AD168FD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58F2-BB87-4166-A0CF-48AEEC4E9F73}" type="datetimeFigureOut">
              <a:rPr lang="pt-BR" smtClean="0"/>
              <a:pPr/>
              <a:t>06/06/2023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D976-52B7-4A26-BD33-259AD168FD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58F2-BB87-4166-A0CF-48AEEC4E9F73}" type="datetimeFigureOut">
              <a:rPr lang="pt-BR" smtClean="0"/>
              <a:pPr/>
              <a:t>06/06/2023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D976-52B7-4A26-BD33-259AD168FD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58F2-BB87-4166-A0CF-48AEEC4E9F73}" type="datetimeFigureOut">
              <a:rPr lang="pt-BR" smtClean="0"/>
              <a:pPr/>
              <a:t>06/06/2023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D976-52B7-4A26-BD33-259AD168FD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58F2-BB87-4166-A0CF-48AEEC4E9F73}" type="datetimeFigureOut">
              <a:rPr lang="pt-BR" smtClean="0"/>
              <a:pPr/>
              <a:t>06/06/2023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D976-52B7-4A26-BD33-259AD168FD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58F2-BB87-4166-A0CF-48AEEC4E9F73}" type="datetimeFigureOut">
              <a:rPr lang="pt-BR" smtClean="0"/>
              <a:pPr/>
              <a:t>06/06/2023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D976-52B7-4A26-BD33-259AD168FD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58F2-BB87-4166-A0CF-48AEEC4E9F73}" type="datetimeFigureOut">
              <a:rPr lang="pt-BR" smtClean="0"/>
              <a:pPr/>
              <a:t>06/06/2023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D976-52B7-4A26-BD33-259AD168FD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ítulo e texto em cima do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8229600" cy="2128837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4000500"/>
            <a:ext cx="8229600" cy="2130425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Introdução a Computação e Cálculo Numérico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0DED60-4156-4305-9EB2-2834EDD4E840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0938" y="36513"/>
            <a:ext cx="7793037" cy="11430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95300" y="1582738"/>
            <a:ext cx="4000500" cy="4649787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582738"/>
            <a:ext cx="4002088" cy="4649787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E9C50236-AC7C-4590-AC6E-14F0A323E59E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F58F2-BB87-4166-A0CF-48AEEC4E9F73}" type="datetimeFigureOut">
              <a:rPr lang="pt-BR" smtClean="0"/>
              <a:pPr/>
              <a:t>06/06/2023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0D976-52B7-4A26-BD33-259AD168FD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  <p:sldLayoutId id="2147483974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9.png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3.bin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image" Target="../media/image15.png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3.bin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Relationship Id="rId9" Type="http://schemas.openxmlformats.org/officeDocument/2006/relationships/oleObject" Target="../embeddings/oleObject16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18.bin"/><Relationship Id="rId4" Type="http://schemas.openxmlformats.org/officeDocument/2006/relationships/oleObject" Target="../embeddings/oleObject17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1.bin"/><Relationship Id="rId5" Type="http://schemas.openxmlformats.org/officeDocument/2006/relationships/oleObject" Target="../embeddings/oleObject20.bin"/><Relationship Id="rId10" Type="http://schemas.openxmlformats.org/officeDocument/2006/relationships/oleObject" Target="../embeddings/oleObject25.bin"/><Relationship Id="rId4" Type="http://schemas.openxmlformats.org/officeDocument/2006/relationships/image" Target="../media/image25.png"/><Relationship Id="rId9" Type="http://schemas.openxmlformats.org/officeDocument/2006/relationships/oleObject" Target="../embeddings/oleObject2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image" Target="../media/image26.png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7.bin"/><Relationship Id="rId5" Type="http://schemas.openxmlformats.org/officeDocument/2006/relationships/oleObject" Target="../embeddings/oleObject26.bin"/><Relationship Id="rId10" Type="http://schemas.openxmlformats.org/officeDocument/2006/relationships/oleObject" Target="../embeddings/oleObject31.bin"/><Relationship Id="rId4" Type="http://schemas.openxmlformats.org/officeDocument/2006/relationships/image" Target="../media/image27.png"/><Relationship Id="rId9" Type="http://schemas.openxmlformats.org/officeDocument/2006/relationships/oleObject" Target="../embeddings/oleObject30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6.bin"/><Relationship Id="rId5" Type="http://schemas.openxmlformats.org/officeDocument/2006/relationships/oleObject" Target="../embeddings/oleObject35.bin"/><Relationship Id="rId4" Type="http://schemas.openxmlformats.org/officeDocument/2006/relationships/oleObject" Target="../embeddings/oleObject34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39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oleObject" Target="../embeddings/oleObject40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5" Type="http://schemas.openxmlformats.org/officeDocument/2006/relationships/oleObject" Target="../embeddings/oleObject43.bin"/><Relationship Id="rId4" Type="http://schemas.openxmlformats.org/officeDocument/2006/relationships/oleObject" Target="../embeddings/oleObject42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48.bin"/><Relationship Id="rId5" Type="http://schemas.openxmlformats.org/officeDocument/2006/relationships/oleObject" Target="../embeddings/oleObject47.bin"/><Relationship Id="rId4" Type="http://schemas.openxmlformats.org/officeDocument/2006/relationships/oleObject" Target="../embeddings/oleObject46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54.bin"/><Relationship Id="rId5" Type="http://schemas.openxmlformats.org/officeDocument/2006/relationships/oleObject" Target="../embeddings/oleObject53.bin"/><Relationship Id="rId4" Type="http://schemas.openxmlformats.org/officeDocument/2006/relationships/oleObject" Target="../embeddings/oleObject52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oleObject" Target="../embeddings/oleObject58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faconnection.pro.br/matematica/limites-derivadas-e-integrais/derivadas/interpretacao-grafica-das-derivadas-primeira-e-segunda/" TargetMode="Externa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oleObject" Target="../embeddings/oleObject60.bin"/><Relationship Id="rId4" Type="http://schemas.openxmlformats.org/officeDocument/2006/relationships/oleObject" Target="../embeddings/oleObject59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oleObject" Target="../embeddings/oleObject62.bin"/><Relationship Id="rId4" Type="http://schemas.openxmlformats.org/officeDocument/2006/relationships/oleObject" Target="../embeddings/oleObject61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oleObject" Target="../embeddings/oleObject64.bin"/><Relationship Id="rId4" Type="http://schemas.openxmlformats.org/officeDocument/2006/relationships/oleObject" Target="../embeddings/oleObject63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oleObject" Target="../embeddings/oleObject66.bin"/><Relationship Id="rId4" Type="http://schemas.openxmlformats.org/officeDocument/2006/relationships/oleObject" Target="../embeddings/oleObject65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oleObject" Target="../embeddings/oleObject68.bin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7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71.bin"/><Relationship Id="rId5" Type="http://schemas.openxmlformats.org/officeDocument/2006/relationships/oleObject" Target="../embeddings/oleObject70.bin"/><Relationship Id="rId4" Type="http://schemas.openxmlformats.org/officeDocument/2006/relationships/oleObject" Target="../embeddings/oleObject69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3.vml"/><Relationship Id="rId4" Type="http://schemas.openxmlformats.org/officeDocument/2006/relationships/oleObject" Target="../embeddings/oleObject74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4.vml"/><Relationship Id="rId5" Type="http://schemas.openxmlformats.org/officeDocument/2006/relationships/oleObject" Target="../embeddings/oleObject76.bin"/><Relationship Id="rId4" Type="http://schemas.openxmlformats.org/officeDocument/2006/relationships/oleObject" Target="../embeddings/oleObject75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5.vml"/><Relationship Id="rId4" Type="http://schemas.openxmlformats.org/officeDocument/2006/relationships/oleObject" Target="../embeddings/oleObject77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oleObject" Target="../embeddings/oleObject8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80.bin"/><Relationship Id="rId5" Type="http://schemas.openxmlformats.org/officeDocument/2006/relationships/oleObject" Target="../embeddings/oleObject79.bin"/><Relationship Id="rId4" Type="http://schemas.openxmlformats.org/officeDocument/2006/relationships/oleObject" Target="../embeddings/oleObject78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7.vml"/><Relationship Id="rId4" Type="http://schemas.openxmlformats.org/officeDocument/2006/relationships/oleObject" Target="../embeddings/oleObject82.bin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com.br/url?sa=t&amp;rct=j&amp;q=resolu%C3%A7%C3%A3o%20num%C3%A9rica%20de%20equa%C3%A7%C3%B5es%20parte%20ii&amp;source=web&amp;cd=10&amp;ved=0CGcQFjAJ&amp;url=http://www.dsc.ufcg.edu.br/~cnum/modulos/Modulo4/CN_Parte2_Metodos.ppt&amp;ei=oZSFT7G5F4Si8QSRhpCwCA&amp;usg=AFQjCNHmd9GRcRHrua--wuA06-Uua51-eQ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sz="4200" dirty="0" smtClean="0"/>
              <a:t>Cálculo Numérico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t-BR" sz="3600" dirty="0" smtClean="0"/>
              <a:t>Zeros de funções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F4EC8C-0663-4AC6-AA36-CB58FF5BBF6F}" type="slidenum">
              <a:rPr lang="pt-BR" altLang="en-US" smtClean="0"/>
              <a:pPr>
                <a:defRPr/>
              </a:pPr>
              <a:t>1</a:t>
            </a:fld>
            <a:endParaRPr lang="pt-BR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Objetivo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t-BR" sz="3200" dirty="0" smtClean="0"/>
              <a:t>Estudar métodos numéricos para obtenção de </a:t>
            </a:r>
            <a:r>
              <a:rPr lang="pt-BR" sz="3200" b="1" dirty="0" smtClean="0"/>
              <a:t>zeros reais de funções.</a:t>
            </a:r>
            <a:endParaRPr lang="pt-BR" sz="3200" dirty="0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2</a:t>
            </a:fld>
            <a:endParaRPr lang="pt-BR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476672"/>
            <a:ext cx="7772400" cy="1143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pt-BR" sz="3800" dirty="0" smtClean="0"/>
              <a:t>Zero de uma função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endParaRPr lang="pt-BR" dirty="0" smtClean="0"/>
          </a:p>
          <a:p>
            <a:pPr algn="ctr" eaLnBrk="1" hangingPunct="1">
              <a:buFont typeface="Wingdings" pitchFamily="2" charset="2"/>
              <a:buNone/>
            </a:pPr>
            <a:endParaRPr lang="pt-BR" dirty="0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3</a:t>
            </a:fld>
            <a:endParaRPr lang="pt-BR" altLang="en-US"/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/>
        </p:nvGraphicFramePr>
        <p:xfrm>
          <a:off x="1216025" y="2565400"/>
          <a:ext cx="6089650" cy="981075"/>
        </p:xfrm>
        <a:graphic>
          <a:graphicData uri="http://schemas.openxmlformats.org/presentationml/2006/ole">
            <p:oleObj spid="_x0000_s115713" name="Equação" r:id="rId3" imgW="2679480" imgH="43164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4"/>
          <p:cNvSpPr>
            <a:spLocks noGrp="1" noChangeArrowheads="1"/>
          </p:cNvSpPr>
          <p:nvPr>
            <p:ph type="title"/>
          </p:nvPr>
        </p:nvSpPr>
        <p:spPr>
          <a:xfrm>
            <a:off x="642910" y="500042"/>
            <a:ext cx="6286544" cy="1143000"/>
          </a:xfrm>
        </p:spPr>
        <p:txBody>
          <a:bodyPr>
            <a:noAutofit/>
          </a:bodyPr>
          <a:lstStyle/>
          <a:p>
            <a:pPr eaLnBrk="1" hangingPunct="1"/>
            <a:r>
              <a:rPr lang="pt-BR" sz="4000" dirty="0" smtClean="0"/>
              <a:t>Zeros de Funções</a:t>
            </a:r>
            <a:br>
              <a:rPr lang="pt-BR" sz="4000" dirty="0" smtClean="0"/>
            </a:br>
            <a:endParaRPr lang="pt-BR" sz="4000" dirty="0" smtClean="0"/>
          </a:p>
        </p:txBody>
      </p:sp>
      <p:pic>
        <p:nvPicPr>
          <p:cNvPr id="1218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5656" y="1196752"/>
            <a:ext cx="6086475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4</a:t>
            </a:fld>
            <a:endParaRPr lang="pt-BR" altLang="en-US"/>
          </a:p>
        </p:txBody>
      </p:sp>
      <p:graphicFrame>
        <p:nvGraphicFramePr>
          <p:cNvPr id="7" name="Objeto 6"/>
          <p:cNvGraphicFramePr>
            <a:graphicFrameLocks noChangeAspect="1"/>
          </p:cNvGraphicFramePr>
          <p:nvPr/>
        </p:nvGraphicFramePr>
        <p:xfrm>
          <a:off x="2195736" y="3068960"/>
          <a:ext cx="177800" cy="215900"/>
        </p:xfrm>
        <a:graphic>
          <a:graphicData uri="http://schemas.openxmlformats.org/presentationml/2006/ole">
            <p:oleObj spid="_x0000_s121859" name="Equação" r:id="rId4" imgW="177480" imgH="215640" progId="Equation.3">
              <p:embed/>
            </p:oleObj>
          </a:graphicData>
        </a:graphic>
      </p:graphicFrame>
      <p:graphicFrame>
        <p:nvGraphicFramePr>
          <p:cNvPr id="121860" name="Object 4"/>
          <p:cNvGraphicFramePr>
            <a:graphicFrameLocks noChangeAspect="1"/>
          </p:cNvGraphicFramePr>
          <p:nvPr/>
        </p:nvGraphicFramePr>
        <p:xfrm>
          <a:off x="3419872" y="3068960"/>
          <a:ext cx="190500" cy="215900"/>
        </p:xfrm>
        <a:graphic>
          <a:graphicData uri="http://schemas.openxmlformats.org/presentationml/2006/ole">
            <p:oleObj spid="_x0000_s121860" name="Equação" r:id="rId5" imgW="190440" imgH="215640" progId="Equation.3">
              <p:embed/>
            </p:oleObj>
          </a:graphicData>
        </a:graphic>
      </p:graphicFrame>
      <p:graphicFrame>
        <p:nvGraphicFramePr>
          <p:cNvPr id="121861" name="Object 5"/>
          <p:cNvGraphicFramePr>
            <a:graphicFrameLocks noChangeAspect="1"/>
          </p:cNvGraphicFramePr>
          <p:nvPr/>
        </p:nvGraphicFramePr>
        <p:xfrm>
          <a:off x="4572000" y="3068960"/>
          <a:ext cx="177800" cy="215900"/>
        </p:xfrm>
        <a:graphic>
          <a:graphicData uri="http://schemas.openxmlformats.org/presentationml/2006/ole">
            <p:oleObj spid="_x0000_s121861" name="Equação" r:id="rId6" imgW="177480" imgH="215640" progId="Equation.3">
              <p:embed/>
            </p:oleObj>
          </a:graphicData>
        </a:graphic>
      </p:graphicFrame>
      <p:graphicFrame>
        <p:nvGraphicFramePr>
          <p:cNvPr id="121862" name="Object 6"/>
          <p:cNvGraphicFramePr>
            <a:graphicFrameLocks noChangeAspect="1"/>
          </p:cNvGraphicFramePr>
          <p:nvPr/>
        </p:nvGraphicFramePr>
        <p:xfrm>
          <a:off x="5652120" y="3068960"/>
          <a:ext cx="190500" cy="215900"/>
        </p:xfrm>
        <a:graphic>
          <a:graphicData uri="http://schemas.openxmlformats.org/presentationml/2006/ole">
            <p:oleObj spid="_x0000_s121862" name="Equação" r:id="rId7" imgW="190440" imgH="215640" progId="Equation.3">
              <p:embed/>
            </p:oleObj>
          </a:graphicData>
        </a:graphic>
      </p:graphicFrame>
      <p:graphicFrame>
        <p:nvGraphicFramePr>
          <p:cNvPr id="121864" name="Object 8"/>
          <p:cNvGraphicFramePr>
            <a:graphicFrameLocks noChangeAspect="1"/>
          </p:cNvGraphicFramePr>
          <p:nvPr/>
        </p:nvGraphicFramePr>
        <p:xfrm>
          <a:off x="6372200" y="3068960"/>
          <a:ext cx="190500" cy="228600"/>
        </p:xfrm>
        <a:graphic>
          <a:graphicData uri="http://schemas.openxmlformats.org/presentationml/2006/ole">
            <p:oleObj spid="_x0000_s121864" name="Equação" r:id="rId8" imgW="190440" imgH="228600" progId="Equation.3">
              <p:embed/>
            </p:oleObj>
          </a:graphicData>
        </a:graphic>
      </p:graphicFrame>
      <p:graphicFrame>
        <p:nvGraphicFramePr>
          <p:cNvPr id="121865" name="Object 9"/>
          <p:cNvGraphicFramePr>
            <a:graphicFrameLocks noChangeAspect="1"/>
          </p:cNvGraphicFramePr>
          <p:nvPr/>
        </p:nvGraphicFramePr>
        <p:xfrm>
          <a:off x="2987824" y="5589240"/>
          <a:ext cx="177800" cy="215900"/>
        </p:xfrm>
        <a:graphic>
          <a:graphicData uri="http://schemas.openxmlformats.org/presentationml/2006/ole">
            <p:oleObj spid="_x0000_s121865" name="Equação" r:id="rId9" imgW="177480" imgH="215640" progId="Equation.3">
              <p:embed/>
            </p:oleObj>
          </a:graphicData>
        </a:graphic>
      </p:graphicFrame>
      <p:graphicFrame>
        <p:nvGraphicFramePr>
          <p:cNvPr id="121866" name="Object 10"/>
          <p:cNvGraphicFramePr>
            <a:graphicFrameLocks noChangeAspect="1"/>
          </p:cNvGraphicFramePr>
          <p:nvPr/>
        </p:nvGraphicFramePr>
        <p:xfrm>
          <a:off x="4139952" y="5589240"/>
          <a:ext cx="190500" cy="215900"/>
        </p:xfrm>
        <a:graphic>
          <a:graphicData uri="http://schemas.openxmlformats.org/presentationml/2006/ole">
            <p:oleObj spid="_x0000_s121866" name="Equação" r:id="rId10" imgW="190440" imgH="215640" progId="Equation.3">
              <p:embed/>
            </p:oleObj>
          </a:graphicData>
        </a:graphic>
      </p:graphicFrame>
      <p:graphicFrame>
        <p:nvGraphicFramePr>
          <p:cNvPr id="121867" name="Object 11"/>
          <p:cNvGraphicFramePr>
            <a:graphicFrameLocks noChangeAspect="1"/>
          </p:cNvGraphicFramePr>
          <p:nvPr/>
        </p:nvGraphicFramePr>
        <p:xfrm>
          <a:off x="5652120" y="5589240"/>
          <a:ext cx="190500" cy="228600"/>
        </p:xfrm>
        <a:graphic>
          <a:graphicData uri="http://schemas.openxmlformats.org/presentationml/2006/ole">
            <p:oleObj spid="_x0000_s121867" name="Equação" r:id="rId11" imgW="190440" imgH="22860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548680"/>
            <a:ext cx="7615262" cy="796086"/>
          </a:xfrm>
        </p:spPr>
        <p:txBody>
          <a:bodyPr>
            <a:noAutofit/>
          </a:bodyPr>
          <a:lstStyle/>
          <a:p>
            <a:pPr eaLnBrk="1" hangingPunct="1"/>
            <a:r>
              <a:rPr lang="pt-BR" sz="4000" dirty="0" smtClean="0"/>
              <a:t>Obtenção de raízes reais de uma equação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785786" y="1643050"/>
            <a:ext cx="7772400" cy="4572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pt-BR" sz="2600" dirty="0" smtClean="0"/>
              <a:t>Para algumas equações como, por exemplo, as equações polinomiais de segundo grau, existem fórmulas explícitas que dão as raízes em função dos coeficientes;</a:t>
            </a:r>
          </a:p>
          <a:p>
            <a:pPr eaLnBrk="1" hangingPunct="1">
              <a:lnSpc>
                <a:spcPct val="90000"/>
              </a:lnSpc>
              <a:buNone/>
            </a:pPr>
            <a:endParaRPr lang="pt-BR" sz="2600" dirty="0" smtClean="0"/>
          </a:p>
          <a:p>
            <a:pPr eaLnBrk="1" hangingPunct="1">
              <a:lnSpc>
                <a:spcPct val="90000"/>
              </a:lnSpc>
            </a:pPr>
            <a:r>
              <a:rPr lang="pt-BR" sz="2600" dirty="0" smtClean="0"/>
              <a:t>No caso de polinômios de grau mais alto e no caso de funções mais complexas, é praticamente impossível encontrar os zeros exatamente;</a:t>
            </a:r>
          </a:p>
          <a:p>
            <a:pPr eaLnBrk="1" hangingPunct="1">
              <a:lnSpc>
                <a:spcPct val="90000"/>
              </a:lnSpc>
              <a:buNone/>
            </a:pPr>
            <a:endParaRPr lang="pt-BR" sz="2600" dirty="0" smtClean="0"/>
          </a:p>
          <a:p>
            <a:pPr eaLnBrk="1" hangingPunct="1">
              <a:lnSpc>
                <a:spcPct val="90000"/>
              </a:lnSpc>
            </a:pPr>
            <a:r>
              <a:rPr lang="pt-BR" sz="2600" dirty="0" smtClean="0"/>
              <a:t>Nesse caso, determinam-se </a:t>
            </a:r>
            <a:r>
              <a:rPr lang="pt-BR" sz="2600" b="1" dirty="0" smtClean="0"/>
              <a:t>aproximações.</a:t>
            </a:r>
            <a:endParaRPr lang="pt-BR" sz="2600" dirty="0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5</a:t>
            </a:fld>
            <a:endParaRPr lang="pt-BR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pt-BR" sz="4000" dirty="0" smtClean="0"/>
              <a:t>Métodos iterativos para obtenção de raízes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pt-BR" sz="2800" dirty="0" smtClean="0"/>
              <a:t>Partem  de uma aproximação inicial para a raiz e refina essa aproximação através de um processo iterativo;</a:t>
            </a:r>
          </a:p>
          <a:p>
            <a:pPr eaLnBrk="1" hangingPunct="1">
              <a:lnSpc>
                <a:spcPct val="90000"/>
              </a:lnSpc>
            </a:pPr>
            <a:r>
              <a:rPr lang="pt-BR" sz="2800" dirty="0" smtClean="0"/>
              <a:t>Esses métodos contemplam duas fases:</a:t>
            </a:r>
          </a:p>
          <a:p>
            <a:pPr eaLnBrk="1" hangingPunct="1">
              <a:lnSpc>
                <a:spcPct val="90000"/>
              </a:lnSpc>
              <a:buNone/>
            </a:pPr>
            <a:endParaRPr lang="pt-BR" sz="2800" dirty="0" smtClean="0"/>
          </a:p>
          <a:p>
            <a:pPr lvl="1" eaLnBrk="1" hangingPunct="1">
              <a:lnSpc>
                <a:spcPct val="90000"/>
              </a:lnSpc>
            </a:pPr>
            <a:r>
              <a:rPr lang="pt-BR" sz="2400" u="sng" dirty="0" smtClean="0"/>
              <a:t>Fase 1</a:t>
            </a:r>
            <a:r>
              <a:rPr lang="pt-BR" sz="2400" dirty="0" smtClean="0"/>
              <a:t>: Isolamento das raízes, que consiste em obter um intervalo que contém a raiz;</a:t>
            </a:r>
          </a:p>
          <a:p>
            <a:pPr lvl="1" eaLnBrk="1" hangingPunct="1">
              <a:lnSpc>
                <a:spcPct val="90000"/>
              </a:lnSpc>
              <a:buNone/>
            </a:pPr>
            <a:endParaRPr lang="pt-BR" sz="2400" dirty="0" smtClean="0"/>
          </a:p>
          <a:p>
            <a:pPr lvl="1" eaLnBrk="1" hangingPunct="1">
              <a:lnSpc>
                <a:spcPct val="90000"/>
              </a:lnSpc>
            </a:pPr>
            <a:r>
              <a:rPr lang="pt-BR" sz="2400" u="sng" dirty="0" smtClean="0"/>
              <a:t>Fase 2</a:t>
            </a:r>
            <a:r>
              <a:rPr lang="pt-BR" sz="2400" dirty="0" smtClean="0"/>
              <a:t>: Refinamento, que consiste em melhorar as aproximações iniciais obtidas na Fase 1 até atingir uma aproximação para raiz dentro de uma precisão prefixada.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6</a:t>
            </a:fld>
            <a:endParaRPr lang="pt-BR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pt-BR" sz="4000" u="sng" dirty="0" smtClean="0"/>
              <a:t>Fase 1</a:t>
            </a:r>
            <a:r>
              <a:rPr lang="pt-BR" sz="4000" dirty="0" smtClean="0"/>
              <a:t/>
            </a:r>
            <a:br>
              <a:rPr lang="pt-BR" sz="4000" dirty="0" smtClean="0"/>
            </a:br>
            <a:r>
              <a:rPr lang="pt-BR" sz="4000" dirty="0" smtClean="0"/>
              <a:t>Isolamento das Raízes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1412776"/>
            <a:ext cx="7772400" cy="4572000"/>
          </a:xfrm>
        </p:spPr>
        <p:txBody>
          <a:bodyPr/>
          <a:lstStyle/>
          <a:p>
            <a:pPr eaLnBrk="1" hangingPunct="1"/>
            <a:r>
              <a:rPr lang="pt-BR" dirty="0" smtClean="0"/>
              <a:t>Nesta fase é feita uma análise </a:t>
            </a:r>
            <a:r>
              <a:rPr lang="pt-BR" b="1" dirty="0" smtClean="0"/>
              <a:t>teórica</a:t>
            </a:r>
            <a:r>
              <a:rPr lang="pt-BR" dirty="0" smtClean="0"/>
              <a:t> e </a:t>
            </a:r>
            <a:r>
              <a:rPr lang="pt-BR" b="1" dirty="0" smtClean="0"/>
              <a:t>gráfica</a:t>
            </a:r>
            <a:r>
              <a:rPr lang="pt-BR" dirty="0" smtClean="0"/>
              <a:t> da função f(x);</a:t>
            </a:r>
          </a:p>
          <a:p>
            <a:pPr eaLnBrk="1" hangingPunct="1"/>
            <a:r>
              <a:rPr lang="pt-BR" dirty="0" smtClean="0"/>
              <a:t>Na análise teórica usamos o seguinte teorema: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7</a:t>
            </a:fld>
            <a:endParaRPr lang="pt-BR" altLang="en-US"/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/>
        </p:nvGraphicFramePr>
        <p:xfrm>
          <a:off x="1146175" y="3789363"/>
          <a:ext cx="7099300" cy="1304925"/>
        </p:xfrm>
        <a:graphic>
          <a:graphicData uri="http://schemas.openxmlformats.org/presentationml/2006/ole">
            <p:oleObj spid="_x0000_s119809" name="Equação" r:id="rId3" imgW="3593880" imgH="66024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0"/>
            <a:ext cx="8429684" cy="1071570"/>
          </a:xfrm>
        </p:spPr>
        <p:txBody>
          <a:bodyPr>
            <a:noAutofit/>
          </a:bodyPr>
          <a:lstStyle/>
          <a:p>
            <a:pPr eaLnBrk="1" hangingPunct="1"/>
            <a:r>
              <a:rPr lang="pt-BR" sz="3600" dirty="0" smtClean="0"/>
              <a:t>Isolamento das Raízes - Graficamente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8</a:t>
            </a:fld>
            <a:endParaRPr lang="pt-BR" altLang="en-US"/>
          </a:p>
        </p:txBody>
      </p:sp>
      <p:pic>
        <p:nvPicPr>
          <p:cNvPr id="14131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908720"/>
            <a:ext cx="6984776" cy="5475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41314" name="Object 2"/>
          <p:cNvGraphicFramePr>
            <a:graphicFrameLocks noChangeAspect="1"/>
          </p:cNvGraphicFramePr>
          <p:nvPr/>
        </p:nvGraphicFramePr>
        <p:xfrm>
          <a:off x="2123728" y="2780928"/>
          <a:ext cx="177800" cy="215900"/>
        </p:xfrm>
        <a:graphic>
          <a:graphicData uri="http://schemas.openxmlformats.org/presentationml/2006/ole">
            <p:oleObj spid="_x0000_s141314" name="Equação" r:id="rId4" imgW="177480" imgH="215640" progId="Equation.3">
              <p:embed/>
            </p:oleObj>
          </a:graphicData>
        </a:graphic>
      </p:graphicFrame>
      <p:graphicFrame>
        <p:nvGraphicFramePr>
          <p:cNvPr id="141315" name="Object 3"/>
          <p:cNvGraphicFramePr>
            <a:graphicFrameLocks noChangeAspect="1"/>
          </p:cNvGraphicFramePr>
          <p:nvPr/>
        </p:nvGraphicFramePr>
        <p:xfrm>
          <a:off x="6804248" y="2780928"/>
          <a:ext cx="190500" cy="215900"/>
        </p:xfrm>
        <a:graphic>
          <a:graphicData uri="http://schemas.openxmlformats.org/presentationml/2006/ole">
            <p:oleObj spid="_x0000_s141315" name="Equação" r:id="rId5" imgW="190440" imgH="215640" progId="Equation.3">
              <p:embed/>
            </p:oleObj>
          </a:graphicData>
        </a:graphic>
      </p:graphicFrame>
      <p:graphicFrame>
        <p:nvGraphicFramePr>
          <p:cNvPr id="141316" name="Object 4"/>
          <p:cNvGraphicFramePr>
            <a:graphicFrameLocks noChangeAspect="1"/>
          </p:cNvGraphicFramePr>
          <p:nvPr/>
        </p:nvGraphicFramePr>
        <p:xfrm>
          <a:off x="7380288" y="2414588"/>
          <a:ext cx="190500" cy="228600"/>
        </p:xfrm>
        <a:graphic>
          <a:graphicData uri="http://schemas.openxmlformats.org/presentationml/2006/ole">
            <p:oleObj spid="_x0000_s141316" name="Equação" r:id="rId6" imgW="190440" imgH="228600" progId="Equation.3">
              <p:embed/>
            </p:oleObj>
          </a:graphicData>
        </a:graphic>
      </p:graphicFrame>
      <p:graphicFrame>
        <p:nvGraphicFramePr>
          <p:cNvPr id="141317" name="Object 5"/>
          <p:cNvGraphicFramePr>
            <a:graphicFrameLocks noChangeAspect="1"/>
          </p:cNvGraphicFramePr>
          <p:nvPr/>
        </p:nvGraphicFramePr>
        <p:xfrm>
          <a:off x="5364088" y="2852936"/>
          <a:ext cx="177800" cy="215900"/>
        </p:xfrm>
        <a:graphic>
          <a:graphicData uri="http://schemas.openxmlformats.org/presentationml/2006/ole">
            <p:oleObj spid="_x0000_s141317" name="Equação" r:id="rId7" imgW="177480" imgH="215640" progId="Equation.3">
              <p:embed/>
            </p:oleObj>
          </a:graphicData>
        </a:graphic>
      </p:graphicFrame>
      <p:graphicFrame>
        <p:nvGraphicFramePr>
          <p:cNvPr id="141318" name="Object 6"/>
          <p:cNvGraphicFramePr>
            <a:graphicFrameLocks noChangeAspect="1"/>
          </p:cNvGraphicFramePr>
          <p:nvPr/>
        </p:nvGraphicFramePr>
        <p:xfrm>
          <a:off x="3707904" y="5877272"/>
          <a:ext cx="177800" cy="215900"/>
        </p:xfrm>
        <a:graphic>
          <a:graphicData uri="http://schemas.openxmlformats.org/presentationml/2006/ole">
            <p:oleObj spid="_x0000_s141318" name="Equação" r:id="rId8" imgW="177480" imgH="215640" progId="Equation.3">
              <p:embed/>
            </p:oleObj>
          </a:graphicData>
        </a:graphic>
      </p:graphicFrame>
      <p:graphicFrame>
        <p:nvGraphicFramePr>
          <p:cNvPr id="141319" name="Object 7"/>
          <p:cNvGraphicFramePr>
            <a:graphicFrameLocks noChangeAspect="1"/>
          </p:cNvGraphicFramePr>
          <p:nvPr/>
        </p:nvGraphicFramePr>
        <p:xfrm>
          <a:off x="4932040" y="5877272"/>
          <a:ext cx="190500" cy="215900"/>
        </p:xfrm>
        <a:graphic>
          <a:graphicData uri="http://schemas.openxmlformats.org/presentationml/2006/ole">
            <p:oleObj spid="_x0000_s141319" name="Equação" r:id="rId9" imgW="190440" imgH="21564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642918"/>
            <a:ext cx="885828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pt-BR" sz="3600" dirty="0" smtClean="0"/>
              <a:t>Isolamento das Raízes - Análise Teórica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>
          <a:xfrm>
            <a:off x="928662" y="1785926"/>
            <a:ext cx="7772400" cy="4572000"/>
          </a:xfrm>
        </p:spPr>
        <p:txBody>
          <a:bodyPr/>
          <a:lstStyle/>
          <a:p>
            <a:pPr eaLnBrk="1" hangingPunct="1"/>
            <a:r>
              <a:rPr lang="pt-BR" dirty="0" smtClean="0"/>
              <a:t>Como garantir que só existe uma raiz em um intervalo [a, b]?</a:t>
            </a:r>
          </a:p>
          <a:p>
            <a:pPr eaLnBrk="1" hangingPunct="1">
              <a:buNone/>
            </a:pPr>
            <a:endParaRPr lang="pt-BR" dirty="0" smtClean="0"/>
          </a:p>
          <a:p>
            <a:pPr lvl="1" eaLnBrk="1" hangingPunct="1"/>
            <a:r>
              <a:rPr lang="pt-BR" dirty="0" smtClean="0"/>
              <a:t>Através da análise do sinal da derivada de f(x):</a:t>
            </a:r>
          </a:p>
          <a:p>
            <a:pPr lvl="1" eaLnBrk="1" hangingPunct="1">
              <a:buNone/>
            </a:pPr>
            <a:endParaRPr lang="pt-BR" dirty="0" smtClean="0"/>
          </a:p>
          <a:p>
            <a:pPr lvl="1" eaLnBrk="1" hangingPunct="1">
              <a:buNone/>
            </a:pPr>
            <a:r>
              <a:rPr lang="pt-BR" dirty="0" smtClean="0"/>
              <a:t>“Se f’(x) existir e preservar sinal no intervalo [a, b], então esse intervalo contém um único zero de f(x)”.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9</a:t>
            </a:fld>
            <a:endParaRPr lang="pt-BR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pt-BR" dirty="0" smtClean="0"/>
              <a:t>Análise do sinal da derivada</a:t>
            </a:r>
            <a:br>
              <a:rPr lang="pt-BR" dirty="0" smtClean="0"/>
            </a:br>
            <a:r>
              <a:rPr lang="pt-BR" dirty="0" smtClean="0"/>
              <a:t>Graficamente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10</a:t>
            </a:fld>
            <a:endParaRPr lang="pt-BR" altLang="en-US"/>
          </a:p>
        </p:txBody>
      </p:sp>
      <p:pic>
        <p:nvPicPr>
          <p:cNvPr id="16896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2060848"/>
            <a:ext cx="7181850" cy="389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68962" name="Object 2"/>
          <p:cNvGraphicFramePr>
            <a:graphicFrameLocks noChangeAspect="1"/>
          </p:cNvGraphicFramePr>
          <p:nvPr/>
        </p:nvGraphicFramePr>
        <p:xfrm>
          <a:off x="2339752" y="4077072"/>
          <a:ext cx="152400" cy="139700"/>
        </p:xfrm>
        <a:graphic>
          <a:graphicData uri="http://schemas.openxmlformats.org/presentationml/2006/ole">
            <p:oleObj spid="_x0000_s168962" name="Equação" r:id="rId4" imgW="152280" imgH="139680" progId="Equation.3">
              <p:embed/>
            </p:oleObj>
          </a:graphicData>
        </a:graphic>
      </p:graphicFrame>
      <p:graphicFrame>
        <p:nvGraphicFramePr>
          <p:cNvPr id="168963" name="Object 3"/>
          <p:cNvGraphicFramePr>
            <a:graphicFrameLocks noChangeAspect="1"/>
          </p:cNvGraphicFramePr>
          <p:nvPr/>
        </p:nvGraphicFramePr>
        <p:xfrm>
          <a:off x="6156176" y="4077072"/>
          <a:ext cx="152400" cy="139700"/>
        </p:xfrm>
        <a:graphic>
          <a:graphicData uri="http://schemas.openxmlformats.org/presentationml/2006/ole">
            <p:oleObj spid="_x0000_s168963" name="Equação" r:id="rId5" imgW="152280" imgH="13968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pt-BR" sz="4000" dirty="0" smtClean="0"/>
              <a:t>Isolamento das Raízes</a:t>
            </a:r>
            <a:br>
              <a:rPr lang="pt-BR" sz="4000" dirty="0" smtClean="0"/>
            </a:br>
            <a:r>
              <a:rPr lang="pt-BR" sz="4000" dirty="0" smtClean="0"/>
              <a:t>Análise Gráfica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47800"/>
            <a:ext cx="8424936" cy="4572000"/>
          </a:xfrm>
        </p:spPr>
        <p:txBody>
          <a:bodyPr>
            <a:normAutofit/>
          </a:bodyPr>
          <a:lstStyle/>
          <a:p>
            <a:pPr algn="just" eaLnBrk="1" hangingPunct="1">
              <a:buNone/>
            </a:pPr>
            <a:r>
              <a:rPr lang="pt-BR" sz="2800" dirty="0" smtClean="0"/>
              <a:t>A análise gráfica da função f(x) é fundamental para se obter boas aproximações para a raiz. Essa análise pode ser realizada  como segue:</a:t>
            </a:r>
          </a:p>
          <a:p>
            <a:pPr lvl="1" eaLnBrk="1" hangingPunct="1"/>
            <a:r>
              <a:rPr lang="pt-BR" sz="2400" dirty="0" smtClean="0"/>
              <a:t>Esboçar o gráfico da função f(x) e localizar as abscissas dos pontos onde a curva intercepta o eixo x;</a:t>
            </a:r>
          </a:p>
          <a:p>
            <a:pPr lvl="1"/>
            <a:r>
              <a:rPr lang="pt-BR" sz="2400" dirty="0" smtClean="0"/>
              <a:t>A partir da equação f(x)=0, obter a equação equivalente g(x) = h(x), esboçar os gráficos das funções g(x) e h(x) (</a:t>
            </a:r>
            <a:r>
              <a:rPr lang="pt-BR" sz="2400" b="1" i="1" dirty="0" smtClean="0"/>
              <a:t>gráfico </a:t>
            </a:r>
            <a:r>
              <a:rPr lang="pt-BR" sz="2400" b="1" i="1" dirty="0" err="1" smtClean="0"/>
              <a:t>particionado</a:t>
            </a:r>
            <a:r>
              <a:rPr lang="pt-BR" sz="2400" dirty="0" smtClean="0"/>
              <a:t>)e localizar os pontos x onde as duas curvas se interceptam;</a:t>
            </a:r>
          </a:p>
          <a:p>
            <a:pPr lvl="1" eaLnBrk="1" hangingPunct="1"/>
            <a:r>
              <a:rPr lang="pt-BR" sz="2400" dirty="0" smtClean="0"/>
              <a:t>Usar programas que traçam gráficos de funções.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11</a:t>
            </a:fld>
            <a:endParaRPr lang="pt-BR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692696"/>
            <a:ext cx="8229600" cy="93610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sz="3100" dirty="0" smtClean="0"/>
              <a:t>Isolamento de Raízes </a:t>
            </a:r>
            <a:br>
              <a:rPr lang="pt-BR" sz="3100" dirty="0" smtClean="0"/>
            </a:br>
            <a:r>
              <a:rPr lang="pt-BR" sz="3100" dirty="0" smtClean="0"/>
              <a:t>Análise Gráfica – Esboço do gráfico</a:t>
            </a:r>
            <a:r>
              <a:rPr lang="pt-BR" sz="3200" dirty="0" smtClean="0"/>
              <a:t/>
            </a:r>
            <a:br>
              <a:rPr lang="pt-BR" sz="3200" dirty="0" smtClean="0"/>
            </a:br>
            <a:endParaRPr lang="pt-BR" sz="3200" dirty="0" smtClean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12</a:t>
            </a:fld>
            <a:endParaRPr lang="pt-BR" altLang="en-US"/>
          </a:p>
        </p:txBody>
      </p:sp>
      <p:sp>
        <p:nvSpPr>
          <p:cNvPr id="5" name="CaixaDeTexto 4"/>
          <p:cNvSpPr txBox="1"/>
          <p:nvPr/>
        </p:nvSpPr>
        <p:spPr>
          <a:xfrm>
            <a:off x="0" y="1484784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u="sng" dirty="0" smtClean="0"/>
              <a:t>Ex:</a:t>
            </a:r>
            <a:r>
              <a:rPr lang="pt-BR" sz="2400" dirty="0" smtClean="0"/>
              <a:t>  </a:t>
            </a:r>
            <a:r>
              <a:rPr lang="pt-BR" sz="2000" dirty="0" smtClean="0"/>
              <a:t>Isolar as raízes de       </a:t>
            </a:r>
          </a:p>
          <a:p>
            <a:r>
              <a:rPr lang="pt-BR" sz="2000" dirty="0" smtClean="0"/>
              <a:t>        </a:t>
            </a:r>
            <a:endParaRPr lang="pt-BR" sz="2000" dirty="0"/>
          </a:p>
        </p:txBody>
      </p:sp>
      <p:graphicFrame>
        <p:nvGraphicFramePr>
          <p:cNvPr id="6" name="Objeto 5"/>
          <p:cNvGraphicFramePr>
            <a:graphicFrameLocks noChangeAspect="1"/>
          </p:cNvGraphicFramePr>
          <p:nvPr/>
        </p:nvGraphicFramePr>
        <p:xfrm>
          <a:off x="2627784" y="1556792"/>
          <a:ext cx="1527175" cy="301625"/>
        </p:xfrm>
        <a:graphic>
          <a:graphicData uri="http://schemas.openxmlformats.org/presentationml/2006/ole">
            <p:oleObj spid="_x0000_s1026" name="Equação" r:id="rId3" imgW="1155600" imgH="228600" progId="Equation.3">
              <p:embed/>
            </p:oleObj>
          </a:graphicData>
        </a:graphic>
      </p:graphicFrame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63688" y="2060848"/>
            <a:ext cx="5829300" cy="454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" name="Objeto 9"/>
          <p:cNvGraphicFramePr>
            <a:graphicFrameLocks noChangeAspect="1"/>
          </p:cNvGraphicFramePr>
          <p:nvPr/>
        </p:nvGraphicFramePr>
        <p:xfrm>
          <a:off x="1907704" y="4437112"/>
          <a:ext cx="177800" cy="215900"/>
        </p:xfrm>
        <a:graphic>
          <a:graphicData uri="http://schemas.openxmlformats.org/presentationml/2006/ole">
            <p:oleObj spid="_x0000_s1029" name="Equação" r:id="rId5" imgW="177480" imgH="215640" progId="Equation.3">
              <p:embed/>
            </p:oleObj>
          </a:graphicData>
        </a:graphic>
      </p:graphicFrame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3707904" y="4437112"/>
          <a:ext cx="190500" cy="215900"/>
        </p:xfrm>
        <a:graphic>
          <a:graphicData uri="http://schemas.openxmlformats.org/presentationml/2006/ole">
            <p:oleObj spid="_x0000_s1030" name="Equação" r:id="rId6" imgW="190440" imgH="215640" progId="Equation.3">
              <p:embed/>
            </p:oleObj>
          </a:graphicData>
        </a:graphic>
      </p:graphicFrame>
      <p:graphicFrame>
        <p:nvGraphicFramePr>
          <p:cNvPr id="1031" name="Object 7"/>
          <p:cNvGraphicFramePr>
            <a:graphicFrameLocks noChangeAspect="1"/>
          </p:cNvGraphicFramePr>
          <p:nvPr/>
        </p:nvGraphicFramePr>
        <p:xfrm>
          <a:off x="4716016" y="4437112"/>
          <a:ext cx="190500" cy="228600"/>
        </p:xfrm>
        <a:graphic>
          <a:graphicData uri="http://schemas.openxmlformats.org/presentationml/2006/ole">
            <p:oleObj spid="_x0000_s1031" name="Equação" r:id="rId7" imgW="190440" imgH="228600" progId="Equation.3">
              <p:embed/>
            </p:oleObj>
          </a:graphicData>
        </a:graphic>
      </p:graphicFrame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5940152" y="5517232"/>
          <a:ext cx="249808" cy="303338"/>
        </p:xfrm>
        <a:graphic>
          <a:graphicData uri="http://schemas.openxmlformats.org/presentationml/2006/ole">
            <p:oleObj spid="_x0000_s1032" name="Equação" r:id="rId8" imgW="177480" imgH="215640" progId="Equation.3">
              <p:embed/>
            </p:oleObj>
          </a:graphicData>
        </a:graphic>
      </p:graphicFrame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5940152" y="5805264"/>
          <a:ext cx="254146" cy="288032"/>
        </p:xfrm>
        <a:graphic>
          <a:graphicData uri="http://schemas.openxmlformats.org/presentationml/2006/ole">
            <p:oleObj spid="_x0000_s1033" name="Equação" r:id="rId9" imgW="190440" imgH="215640" progId="Equation.3">
              <p:embed/>
            </p:oleObj>
          </a:graphicData>
        </a:graphic>
      </p:graphicFrame>
      <p:graphicFrame>
        <p:nvGraphicFramePr>
          <p:cNvPr id="1034" name="Object 10"/>
          <p:cNvGraphicFramePr>
            <a:graphicFrameLocks noChangeAspect="1"/>
          </p:cNvGraphicFramePr>
          <p:nvPr/>
        </p:nvGraphicFramePr>
        <p:xfrm>
          <a:off x="5940152" y="6021288"/>
          <a:ext cx="288032" cy="345639"/>
        </p:xfrm>
        <a:graphic>
          <a:graphicData uri="http://schemas.openxmlformats.org/presentationml/2006/ole">
            <p:oleObj spid="_x0000_s1034" name="Equação" r:id="rId10" imgW="190440" imgH="22860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404664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pt-BR" sz="2800" dirty="0" smtClean="0"/>
              <a:t>Isolamento de Raízes- Análise Gráfica –</a:t>
            </a:r>
            <a:br>
              <a:rPr lang="pt-BR" sz="2800" dirty="0" smtClean="0"/>
            </a:br>
            <a:r>
              <a:rPr lang="pt-BR" sz="2800" dirty="0" smtClean="0"/>
              <a:t> Equação Equivalente </a:t>
            </a:r>
            <a:r>
              <a:rPr lang="pt-BR" sz="2800" i="1" dirty="0" smtClean="0"/>
              <a:t>g(x)=h(x) </a:t>
            </a:r>
            <a:r>
              <a:rPr lang="pt-BR" sz="2800" dirty="0" smtClean="0"/>
              <a:t>ou</a:t>
            </a:r>
            <a:r>
              <a:rPr lang="pt-BR" sz="2800" i="1" dirty="0" smtClean="0"/>
              <a:t> gráfico </a:t>
            </a:r>
            <a:r>
              <a:rPr lang="pt-BR" sz="2800" i="1" dirty="0" err="1" smtClean="0"/>
              <a:t>particionado</a:t>
            </a:r>
            <a:endParaRPr lang="pt-BR" sz="2800" i="1" dirty="0" smtClean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13</a:t>
            </a:fld>
            <a:endParaRPr lang="pt-BR" altLang="en-US"/>
          </a:p>
        </p:txBody>
      </p:sp>
      <p:pic>
        <p:nvPicPr>
          <p:cNvPr id="2867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7704" y="1556792"/>
            <a:ext cx="3981450" cy="465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4048" y="4725144"/>
            <a:ext cx="1123950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8675" name="Object 3"/>
          <p:cNvGraphicFramePr>
            <a:graphicFrameLocks noChangeAspect="1"/>
          </p:cNvGraphicFramePr>
          <p:nvPr/>
        </p:nvGraphicFramePr>
        <p:xfrm>
          <a:off x="4788024" y="4725144"/>
          <a:ext cx="250825" cy="303213"/>
        </p:xfrm>
        <a:graphic>
          <a:graphicData uri="http://schemas.openxmlformats.org/presentationml/2006/ole">
            <p:oleObj spid="_x0000_s28675" name="Equação" r:id="rId5" imgW="177480" imgH="215640" progId="Equation.3">
              <p:embed/>
            </p:oleObj>
          </a:graphicData>
        </a:graphic>
      </p:graphicFrame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4788024" y="5013176"/>
          <a:ext cx="255588" cy="288925"/>
        </p:xfrm>
        <a:graphic>
          <a:graphicData uri="http://schemas.openxmlformats.org/presentationml/2006/ole">
            <p:oleObj spid="_x0000_s28676" name="Equação" r:id="rId6" imgW="190440" imgH="215640" progId="Equation.3">
              <p:embed/>
            </p:oleObj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4788024" y="5229200"/>
          <a:ext cx="288925" cy="346075"/>
        </p:xfrm>
        <a:graphic>
          <a:graphicData uri="http://schemas.openxmlformats.org/presentationml/2006/ole">
            <p:oleObj spid="_x0000_s28677" name="Equação" r:id="rId7" imgW="190440" imgH="228600" progId="Equation.3">
              <p:embed/>
            </p:oleObj>
          </a:graphicData>
        </a:graphic>
      </p:graphicFrame>
      <p:graphicFrame>
        <p:nvGraphicFramePr>
          <p:cNvPr id="28678" name="Object 6"/>
          <p:cNvGraphicFramePr>
            <a:graphicFrameLocks noChangeAspect="1"/>
          </p:cNvGraphicFramePr>
          <p:nvPr/>
        </p:nvGraphicFramePr>
        <p:xfrm>
          <a:off x="2195736" y="3573016"/>
          <a:ext cx="250825" cy="303213"/>
        </p:xfrm>
        <a:graphic>
          <a:graphicData uri="http://schemas.openxmlformats.org/presentationml/2006/ole">
            <p:oleObj spid="_x0000_s28678" name="Equação" r:id="rId8" imgW="177480" imgH="215640" progId="Equation.3">
              <p:embed/>
            </p:oleObj>
          </a:graphicData>
        </a:graphic>
      </p:graphicFrame>
      <p:graphicFrame>
        <p:nvGraphicFramePr>
          <p:cNvPr id="28679" name="Object 7"/>
          <p:cNvGraphicFramePr>
            <a:graphicFrameLocks noChangeAspect="1"/>
          </p:cNvGraphicFramePr>
          <p:nvPr/>
        </p:nvGraphicFramePr>
        <p:xfrm>
          <a:off x="3491880" y="4221088"/>
          <a:ext cx="255588" cy="288925"/>
        </p:xfrm>
        <a:graphic>
          <a:graphicData uri="http://schemas.openxmlformats.org/presentationml/2006/ole">
            <p:oleObj spid="_x0000_s28679" name="Equação" r:id="rId9" imgW="190440" imgH="215640" progId="Equation.3">
              <p:embed/>
            </p:oleObj>
          </a:graphicData>
        </a:graphic>
      </p:graphicFrame>
      <p:graphicFrame>
        <p:nvGraphicFramePr>
          <p:cNvPr id="28680" name="Object 8"/>
          <p:cNvGraphicFramePr>
            <a:graphicFrameLocks noChangeAspect="1"/>
          </p:cNvGraphicFramePr>
          <p:nvPr/>
        </p:nvGraphicFramePr>
        <p:xfrm>
          <a:off x="4283968" y="4221088"/>
          <a:ext cx="288925" cy="346075"/>
        </p:xfrm>
        <a:graphic>
          <a:graphicData uri="http://schemas.openxmlformats.org/presentationml/2006/ole">
            <p:oleObj spid="_x0000_s28680" name="Equação" r:id="rId10" imgW="190440" imgH="22860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1268760"/>
            <a:ext cx="8229600" cy="638944"/>
          </a:xfrm>
        </p:spPr>
        <p:txBody>
          <a:bodyPr>
            <a:noAutofit/>
          </a:bodyPr>
          <a:lstStyle/>
          <a:p>
            <a:pPr eaLnBrk="1" hangingPunct="1"/>
            <a:r>
              <a:rPr lang="pt-BR" sz="4000" dirty="0" smtClean="0"/>
              <a:t>Exercícios:</a:t>
            </a:r>
            <a:br>
              <a:rPr lang="pt-BR" sz="4000" dirty="0" smtClean="0"/>
            </a:br>
            <a:endParaRPr lang="pt-BR" sz="4000" i="1" dirty="0" smtClean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14</a:t>
            </a:fld>
            <a:endParaRPr lang="pt-BR" altLang="en-US"/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33793" name="Object 1"/>
          <p:cNvGraphicFramePr>
            <a:graphicFrameLocks noChangeAspect="1"/>
          </p:cNvGraphicFramePr>
          <p:nvPr/>
        </p:nvGraphicFramePr>
        <p:xfrm>
          <a:off x="428596" y="2786058"/>
          <a:ext cx="8151813" cy="3346450"/>
        </p:xfrm>
        <a:graphic>
          <a:graphicData uri="http://schemas.openxmlformats.org/presentationml/2006/ole">
            <p:oleObj spid="_x0000_s2050" name="Equação" r:id="rId3" imgW="3682800" imgH="1511280" progId="Equation.3">
              <p:embed/>
            </p:oleObj>
          </a:graphicData>
        </a:graphic>
      </p:graphicFrame>
      <p:sp>
        <p:nvSpPr>
          <p:cNvPr id="8" name="CaixaDeTexto 7"/>
          <p:cNvSpPr txBox="1"/>
          <p:nvPr/>
        </p:nvSpPr>
        <p:spPr>
          <a:xfrm>
            <a:off x="179512" y="1700808"/>
            <a:ext cx="80648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Isole as raízes das funções a seguir, utilizando a equação equivalente  g(x)=h(x)  (gráfico </a:t>
            </a:r>
            <a:r>
              <a:rPr lang="pt-BR" sz="2400" dirty="0" err="1" smtClean="0">
                <a:latin typeface="Times New Roman" pitchFamily="18" charset="0"/>
                <a:cs typeface="Times New Roman" pitchFamily="18" charset="0"/>
              </a:rPr>
              <a:t>particionado</a:t>
            </a:r>
            <a:r>
              <a:rPr lang="pt-BR" sz="240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pt-BR" sz="24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Resultado de imagem para papel milimetrado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714356"/>
            <a:ext cx="6000792" cy="5643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pt-BR" u="sng" dirty="0" smtClean="0"/>
              <a:t>Fase 2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Refinamento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t-BR" dirty="0" smtClean="0"/>
              <a:t>Um método iterativo consiste em uma </a:t>
            </a:r>
            <a:r>
              <a:rPr lang="pt-BR" dirty="0" err="1" smtClean="0"/>
              <a:t>seqüência</a:t>
            </a:r>
            <a:r>
              <a:rPr lang="pt-BR" dirty="0" smtClean="0"/>
              <a:t> de instruções que são executadas passo a passo, algumas das quais repetidas em ciclos.</a:t>
            </a:r>
          </a:p>
          <a:p>
            <a:pPr eaLnBrk="1" hangingPunct="1">
              <a:buNone/>
            </a:pPr>
            <a:endParaRPr lang="pt-BR" dirty="0" smtClean="0"/>
          </a:p>
          <a:p>
            <a:pPr eaLnBrk="1" hangingPunct="1"/>
            <a:r>
              <a:rPr lang="pt-BR" dirty="0" smtClean="0"/>
              <a:t>A execução de um ciclo recebe o nome de </a:t>
            </a:r>
            <a:r>
              <a:rPr lang="pt-BR" b="1" dirty="0" smtClean="0"/>
              <a:t>iteração</a:t>
            </a:r>
            <a:r>
              <a:rPr lang="pt-BR" dirty="0" smtClean="0"/>
              <a:t>.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16</a:t>
            </a:fld>
            <a:endParaRPr lang="pt-BR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pt-BR" u="sng" dirty="0" smtClean="0"/>
              <a:t>Refinamento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Critérios de Parada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Quando utilizamos um método iterativo precisamos decidir o momento de parar;</a:t>
            </a:r>
          </a:p>
          <a:p>
            <a:r>
              <a:rPr lang="pt-BR" dirty="0" smtClean="0"/>
              <a:t>Que tipo de teste efetuar para verificar se a raiz aproximada      está suficientemente próximo da raiz exata        ?</a:t>
            </a:r>
          </a:p>
          <a:p>
            <a:r>
              <a:rPr lang="pt-BR" dirty="0" smtClean="0">
                <a:sym typeface="Symbol" pitchFamily="18" charset="2"/>
              </a:rPr>
              <a:t>  </a:t>
            </a:r>
            <a:r>
              <a:rPr lang="pt-BR" dirty="0" smtClean="0"/>
              <a:t> é </a:t>
            </a:r>
            <a:r>
              <a:rPr lang="pt-BR" i="1" dirty="0" smtClean="0"/>
              <a:t>raiz aproximada</a:t>
            </a:r>
            <a:r>
              <a:rPr lang="pt-BR" dirty="0" smtClean="0"/>
              <a:t> com precisão </a:t>
            </a:r>
            <a:r>
              <a:rPr lang="pt-BR" dirty="0" smtClean="0">
                <a:sym typeface="Symbol" pitchFamily="18" charset="2"/>
              </a:rPr>
              <a:t> se:</a:t>
            </a:r>
          </a:p>
          <a:p>
            <a:pPr lvl="1"/>
            <a:r>
              <a:rPr lang="pt-BR" dirty="0" smtClean="0">
                <a:sym typeface="Symbol" pitchFamily="18" charset="2"/>
              </a:rPr>
              <a:t>              &lt;    ou</a:t>
            </a:r>
          </a:p>
          <a:p>
            <a:pPr lvl="1"/>
            <a:r>
              <a:rPr lang="pt-BR" dirty="0" smtClean="0">
                <a:sym typeface="Symbol" pitchFamily="18" charset="2"/>
              </a:rPr>
              <a:t>| f(   ) | &lt; 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17</a:t>
            </a:fld>
            <a:endParaRPr lang="pt-BR" altLang="en-US"/>
          </a:p>
        </p:txBody>
      </p:sp>
      <p:graphicFrame>
        <p:nvGraphicFramePr>
          <p:cNvPr id="172035" name="Object 3"/>
          <p:cNvGraphicFramePr>
            <a:graphicFrameLocks noChangeAspect="1"/>
          </p:cNvGraphicFramePr>
          <p:nvPr/>
        </p:nvGraphicFramePr>
        <p:xfrm>
          <a:off x="4572000" y="3789040"/>
          <a:ext cx="388938" cy="357187"/>
        </p:xfrm>
        <a:graphic>
          <a:graphicData uri="http://schemas.openxmlformats.org/presentationml/2006/ole">
            <p:oleObj spid="_x0000_s172035" name="Equação" r:id="rId3" imgW="152280" imgH="139680" progId="Equation.3">
              <p:embed/>
            </p:oleObj>
          </a:graphicData>
        </a:graphic>
      </p:graphicFrame>
      <p:graphicFrame>
        <p:nvGraphicFramePr>
          <p:cNvPr id="172041" name="Object 9"/>
          <p:cNvGraphicFramePr>
            <a:graphicFrameLocks noChangeAspect="1"/>
          </p:cNvGraphicFramePr>
          <p:nvPr/>
        </p:nvGraphicFramePr>
        <p:xfrm>
          <a:off x="3579813" y="3252788"/>
          <a:ext cx="355600" cy="422275"/>
        </p:xfrm>
        <a:graphic>
          <a:graphicData uri="http://schemas.openxmlformats.org/presentationml/2006/ole">
            <p:oleObj spid="_x0000_s172041" name="Equação" r:id="rId4" imgW="139680" imgH="164880" progId="Equation.3">
              <p:embed/>
            </p:oleObj>
          </a:graphicData>
        </a:graphic>
      </p:graphicFrame>
      <p:graphicFrame>
        <p:nvGraphicFramePr>
          <p:cNvPr id="172043" name="Object 11"/>
          <p:cNvGraphicFramePr>
            <a:graphicFrameLocks noChangeAspect="1"/>
          </p:cNvGraphicFramePr>
          <p:nvPr/>
        </p:nvGraphicFramePr>
        <p:xfrm>
          <a:off x="1259632" y="4797152"/>
          <a:ext cx="1196975" cy="519113"/>
        </p:xfrm>
        <a:graphic>
          <a:graphicData uri="http://schemas.openxmlformats.org/presentationml/2006/ole">
            <p:oleObj spid="_x0000_s172043" name="Equação" r:id="rId5" imgW="469800" imgH="203040" progId="Equation.3">
              <p:embed/>
            </p:oleObj>
          </a:graphicData>
        </a:graphic>
      </p:graphicFrame>
      <p:graphicFrame>
        <p:nvGraphicFramePr>
          <p:cNvPr id="172044" name="Object 12"/>
          <p:cNvGraphicFramePr>
            <a:graphicFrameLocks noChangeAspect="1"/>
          </p:cNvGraphicFramePr>
          <p:nvPr/>
        </p:nvGraphicFramePr>
        <p:xfrm>
          <a:off x="1691680" y="5373216"/>
          <a:ext cx="355600" cy="422275"/>
        </p:xfrm>
        <a:graphic>
          <a:graphicData uri="http://schemas.openxmlformats.org/presentationml/2006/ole">
            <p:oleObj spid="_x0000_s172044" name="Equação" r:id="rId6" imgW="139680" imgH="164880" progId="Equation.3">
              <p:embed/>
            </p:oleObj>
          </a:graphicData>
        </a:graphic>
      </p:graphicFrame>
      <p:graphicFrame>
        <p:nvGraphicFramePr>
          <p:cNvPr id="172045" name="Object 13"/>
          <p:cNvGraphicFramePr>
            <a:graphicFrameLocks noChangeAspect="1"/>
          </p:cNvGraphicFramePr>
          <p:nvPr/>
        </p:nvGraphicFramePr>
        <p:xfrm>
          <a:off x="714348" y="4214818"/>
          <a:ext cx="388937" cy="455612"/>
        </p:xfrm>
        <a:graphic>
          <a:graphicData uri="http://schemas.openxmlformats.org/presentationml/2006/ole">
            <p:oleObj spid="_x0000_s172045" name="Equação" r:id="rId7" imgW="152280" imgH="17748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10" y="0"/>
            <a:ext cx="7772400" cy="72494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u="sng" dirty="0" smtClean="0"/>
              <a:t>Refinamento</a:t>
            </a:r>
            <a:r>
              <a:rPr lang="pt-BR" dirty="0" smtClean="0"/>
              <a:t>:  Critérios de Parada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idx="1"/>
          </p:nvPr>
        </p:nvSpPr>
        <p:spPr>
          <a:xfrm>
            <a:off x="359024" y="714356"/>
            <a:ext cx="8784976" cy="1204912"/>
          </a:xfrm>
        </p:spPr>
        <p:txBody>
          <a:bodyPr>
            <a:normAutofit/>
          </a:bodyPr>
          <a:lstStyle/>
          <a:p>
            <a:pPr algn="just" eaLnBrk="1" hangingPunct="1">
              <a:buNone/>
            </a:pPr>
            <a:r>
              <a:rPr lang="pt-BR" sz="2400" dirty="0" smtClean="0"/>
              <a:t>	Como não conhecemos a raiz    </a:t>
            </a:r>
            <a:r>
              <a:rPr lang="pt-BR" sz="2400" dirty="0" smtClean="0">
                <a:sym typeface="Symbol" pitchFamily="18" charset="2"/>
              </a:rPr>
              <a:t>, uma forma de efetuar o teste de parada é reduzir o intervalo que contém a raiz, até conseguir um intervalo [a, b] tal que: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18</a:t>
            </a:fld>
            <a:endParaRPr lang="pt-BR" altLang="en-US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422400" y="1844675"/>
          <a:ext cx="6389688" cy="4765675"/>
        </p:xfrm>
        <a:graphic>
          <a:graphicData uri="http://schemas.openxmlformats.org/presentationml/2006/ole">
            <p:oleObj spid="_x0000_s3074" name="Equação" r:id="rId3" imgW="2946240" imgH="2819160" progId="Equation.3">
              <p:embed/>
            </p:oleObj>
          </a:graphicData>
        </a:graphic>
      </p:graphicFrame>
      <p:graphicFrame>
        <p:nvGraphicFramePr>
          <p:cNvPr id="7" name="Objeto 6"/>
          <p:cNvGraphicFramePr>
            <a:graphicFrameLocks noChangeAspect="1"/>
          </p:cNvGraphicFramePr>
          <p:nvPr/>
        </p:nvGraphicFramePr>
        <p:xfrm>
          <a:off x="4499992" y="836712"/>
          <a:ext cx="292224" cy="267872"/>
        </p:xfrm>
        <a:graphic>
          <a:graphicData uri="http://schemas.openxmlformats.org/presentationml/2006/ole">
            <p:oleObj spid="_x0000_s3075" name="Equação" r:id="rId4" imgW="152280" imgH="139680" progId="Equation.3">
              <p:embed/>
            </p:oleObj>
          </a:graphicData>
        </a:graphic>
      </p:graphicFrame>
      <p:cxnSp>
        <p:nvCxnSpPr>
          <p:cNvPr id="9" name="Conector de seta reta 8"/>
          <p:cNvCxnSpPr/>
          <p:nvPr/>
        </p:nvCxnSpPr>
        <p:spPr>
          <a:xfrm>
            <a:off x="2915816" y="4005064"/>
            <a:ext cx="720080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t-BR" sz="4000" dirty="0" smtClean="0"/>
              <a:t>Método da Bissecção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>
          <a:xfrm>
            <a:off x="755576" y="1700808"/>
            <a:ext cx="8064896" cy="4716016"/>
          </a:xfrm>
        </p:spPr>
        <p:txBody>
          <a:bodyPr/>
          <a:lstStyle/>
          <a:p>
            <a:pPr algn="ctr" eaLnBrk="1" hangingPunct="1"/>
            <a:r>
              <a:rPr lang="pt-BR" dirty="0" smtClean="0"/>
              <a:t>Seja a função f(x) contínua no intervalo [a, b] e tal que </a:t>
            </a:r>
          </a:p>
          <a:p>
            <a:pPr algn="ctr" eaLnBrk="1" hangingPunct="1">
              <a:buNone/>
            </a:pPr>
            <a:r>
              <a:rPr lang="pt-BR" dirty="0" smtClean="0"/>
              <a:t>f(a)f(b) &lt; 0. O objetivo deste método é reduzir a amplitude do intervalo que contém a raiz até atingir a precisão requerida</a:t>
            </a:r>
            <a:r>
              <a:rPr lang="pt-BR" dirty="0" smtClean="0">
                <a:sym typeface="Symbol" pitchFamily="18" charset="2"/>
              </a:rPr>
              <a:t>, usando para isto sucessivas divisões de [a, b] ao meio.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19</a:t>
            </a:fld>
            <a:endParaRPr lang="pt-BR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pt-BR" sz="4000" dirty="0" smtClean="0"/>
              <a:t>Método da Bissecção – Interpretação Geométrica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20</a:t>
            </a:fld>
            <a:endParaRPr lang="pt-BR" altLang="en-US"/>
          </a:p>
        </p:txBody>
      </p:sp>
      <p:pic>
        <p:nvPicPr>
          <p:cNvPr id="3379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20" y="1428736"/>
            <a:ext cx="6480720" cy="5165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75105" name="Object 1"/>
          <p:cNvGraphicFramePr>
            <a:graphicFrameLocks noChangeAspect="1"/>
          </p:cNvGraphicFramePr>
          <p:nvPr/>
        </p:nvGraphicFramePr>
        <p:xfrm>
          <a:off x="4000496" y="5429264"/>
          <a:ext cx="1714866" cy="1012823"/>
        </p:xfrm>
        <a:graphic>
          <a:graphicData uri="http://schemas.openxmlformats.org/presentationml/2006/ole">
            <p:oleObj spid="_x0000_s175105" name="Equação" r:id="rId4" imgW="863280" imgH="50796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t-BR" sz="3600" dirty="0" smtClean="0"/>
              <a:t>Estimativa do número de iterações</a:t>
            </a:r>
          </a:p>
        </p:txBody>
      </p:sp>
      <p:sp>
        <p:nvSpPr>
          <p:cNvPr id="205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1422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sz="2200" dirty="0" smtClean="0"/>
              <a:t>Dada uma precisão </a:t>
            </a:r>
            <a:r>
              <a:rPr lang="pt-BR" sz="2200" dirty="0" smtClean="0">
                <a:sym typeface="Symbol" pitchFamily="18" charset="2"/>
              </a:rPr>
              <a:t> e um intervalo inicial [a, b], é possível saber quantas iterações serão efetuadas pelo método da bissecção até que se obtenha b – a &lt;     ;</a:t>
            </a:r>
          </a:p>
          <a:p>
            <a:pPr eaLnBrk="1" hangingPunct="1">
              <a:lnSpc>
                <a:spcPct val="90000"/>
              </a:lnSpc>
            </a:pPr>
            <a:r>
              <a:rPr lang="pt-BR" sz="2200" dirty="0" smtClean="0">
                <a:sym typeface="Symbol" pitchFamily="18" charset="2"/>
              </a:rPr>
              <a:t>Vimos que</a:t>
            </a:r>
          </a:p>
        </p:txBody>
      </p:sp>
      <p:graphicFrame>
        <p:nvGraphicFramePr>
          <p:cNvPr id="2050" name="Object 6"/>
          <p:cNvGraphicFramePr>
            <a:graphicFrameLocks noChangeAspect="1"/>
          </p:cNvGraphicFramePr>
          <p:nvPr>
            <p:ph sz="half" idx="2"/>
          </p:nvPr>
        </p:nvGraphicFramePr>
        <p:xfrm>
          <a:off x="2557463" y="3068638"/>
          <a:ext cx="4100512" cy="901700"/>
        </p:xfrm>
        <a:graphic>
          <a:graphicData uri="http://schemas.openxmlformats.org/presentationml/2006/ole">
            <p:oleObj spid="_x0000_s4098" name="Equation" r:id="rId3" imgW="1790640" imgH="393480" progId="Equation.3">
              <p:embed/>
            </p:oleObj>
          </a:graphicData>
        </a:graphic>
      </p:graphicFrame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0DED60-4156-4305-9EB2-2834EDD4E840}" type="slidenum">
              <a:rPr lang="pt-BR" altLang="en-US" smtClean="0"/>
              <a:pPr>
                <a:defRPr/>
              </a:pPr>
              <a:t>21</a:t>
            </a:fld>
            <a:endParaRPr lang="pt-BR" altLang="en-US"/>
          </a:p>
        </p:txBody>
      </p:sp>
      <p:graphicFrame>
        <p:nvGraphicFramePr>
          <p:cNvPr id="2051" name="Object 7"/>
          <p:cNvGraphicFramePr>
            <a:graphicFrameLocks noChangeAspect="1"/>
          </p:cNvGraphicFramePr>
          <p:nvPr/>
        </p:nvGraphicFramePr>
        <p:xfrm>
          <a:off x="179388" y="4078288"/>
          <a:ext cx="8785225" cy="863600"/>
        </p:xfrm>
        <a:graphic>
          <a:graphicData uri="http://schemas.openxmlformats.org/presentationml/2006/ole">
            <p:oleObj spid="_x0000_s4099" name="Equation" r:id="rId4" imgW="3886200" imgH="393480" progId="Equation.3">
              <p:embed/>
            </p:oleObj>
          </a:graphicData>
        </a:graphic>
      </p:graphicFrame>
      <p:graphicFrame>
        <p:nvGraphicFramePr>
          <p:cNvPr id="2052" name="Object 9"/>
          <p:cNvGraphicFramePr>
            <a:graphicFrameLocks noChangeAspect="1"/>
          </p:cNvGraphicFramePr>
          <p:nvPr/>
        </p:nvGraphicFramePr>
        <p:xfrm>
          <a:off x="2916238" y="5084763"/>
          <a:ext cx="3240087" cy="936625"/>
        </p:xfrm>
        <a:graphic>
          <a:graphicData uri="http://schemas.openxmlformats.org/presentationml/2006/ole">
            <p:oleObj spid="_x0000_s4100" name="Equation" r:id="rId5" imgW="1511280" imgH="419040" progId="Equation.3">
              <p:embed/>
            </p:oleObj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Exercícios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35480"/>
            <a:ext cx="8229600" cy="557416"/>
          </a:xfrm>
        </p:spPr>
        <p:txBody>
          <a:bodyPr>
            <a:normAutofit fontScale="25000" lnSpcReduction="20000"/>
          </a:bodyPr>
          <a:lstStyle/>
          <a:p>
            <a:pPr eaLnBrk="1" hangingPunct="1">
              <a:buNone/>
            </a:pPr>
            <a:r>
              <a:rPr lang="pt-BR" sz="9600" dirty="0" smtClean="0"/>
              <a:t>Através do método da bissecção</a:t>
            </a:r>
            <a:r>
              <a:rPr lang="pt-BR" sz="9600" smtClean="0"/>
              <a:t>, calcule:</a:t>
            </a:r>
            <a:endParaRPr lang="pt-BR" sz="9600" dirty="0" smtClean="0"/>
          </a:p>
          <a:p>
            <a:pPr>
              <a:buNone/>
            </a:pPr>
            <a:r>
              <a:rPr lang="pt-BR" sz="9600" dirty="0" smtClean="0"/>
              <a:t>	</a:t>
            </a:r>
            <a:endParaRPr lang="pt-BR" sz="9600" dirty="0" smtClean="0">
              <a:sym typeface="Symbol" pitchFamily="18" charset="2"/>
            </a:endParaRPr>
          </a:p>
          <a:p>
            <a:pPr eaLnBrk="1" hangingPunct="1">
              <a:buNone/>
            </a:pPr>
            <a:endParaRPr lang="pt-BR" sz="2800" dirty="0" smtClean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22</a:t>
            </a:fld>
            <a:endParaRPr lang="pt-BR" altLang="en-US"/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34817" name="Object 1"/>
          <p:cNvGraphicFramePr>
            <a:graphicFrameLocks noChangeAspect="1"/>
          </p:cNvGraphicFramePr>
          <p:nvPr/>
        </p:nvGraphicFramePr>
        <p:xfrm>
          <a:off x="571472" y="2571744"/>
          <a:ext cx="6234113" cy="2216150"/>
        </p:xfrm>
        <a:graphic>
          <a:graphicData uri="http://schemas.openxmlformats.org/presentationml/2006/ole">
            <p:oleObj spid="_x0000_s5122" name="Equação" r:id="rId3" imgW="2641320" imgH="939600" progId="Equation.3">
              <p:embed/>
            </p:oleObj>
          </a:graphicData>
        </a:graphic>
      </p:graphicFrame>
      <p:sp>
        <p:nvSpPr>
          <p:cNvPr id="9" name="CaixaDeTexto 8"/>
          <p:cNvSpPr txBox="1"/>
          <p:nvPr/>
        </p:nvSpPr>
        <p:spPr>
          <a:xfrm>
            <a:off x="5643570" y="2571744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4 casas decimais</a:t>
            </a:r>
            <a:endParaRPr lang="pt-BR" dirty="0"/>
          </a:p>
        </p:txBody>
      </p:sp>
      <p:sp>
        <p:nvSpPr>
          <p:cNvPr id="10" name="CaixaDeTexto 9"/>
          <p:cNvSpPr txBox="1"/>
          <p:nvPr/>
        </p:nvSpPr>
        <p:spPr>
          <a:xfrm>
            <a:off x="5643570" y="4357694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5 casas decimais</a:t>
            </a:r>
            <a:endParaRPr lang="pt-BR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10" y="285728"/>
            <a:ext cx="7772400" cy="714396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Resolução  (a):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23</a:t>
            </a:fld>
            <a:endParaRPr lang="pt-BR" altLang="en-US"/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9" name="Tabela 8"/>
          <p:cNvGraphicFramePr>
            <a:graphicFrameLocks noGrp="1"/>
          </p:cNvGraphicFramePr>
          <p:nvPr/>
        </p:nvGraphicFramePr>
        <p:xfrm>
          <a:off x="428596" y="1214422"/>
          <a:ext cx="8286810" cy="442915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81135"/>
                <a:gridCol w="1381135"/>
                <a:gridCol w="1381135"/>
                <a:gridCol w="1381135"/>
                <a:gridCol w="1381135"/>
                <a:gridCol w="1381135"/>
              </a:tblGrid>
              <a:tr h="915245">
                <a:tc>
                  <a:txBody>
                    <a:bodyPr/>
                    <a:lstStyle/>
                    <a:p>
                      <a:pPr algn="ctr"/>
                      <a:r>
                        <a:rPr lang="pt-BR" sz="3600" b="0" i="1" dirty="0" smtClean="0"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endParaRPr lang="pt-BR" sz="3600" b="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i="0" dirty="0"/>
                    </a:p>
                  </a:txBody>
                  <a:tcPr/>
                </a:tc>
              </a:tr>
              <a:tr h="878478"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2,5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2,6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2,55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0,0367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i="0" dirty="0"/>
                    </a:p>
                  </a:txBody>
                  <a:tcPr/>
                </a:tc>
              </a:tr>
              <a:tr h="878478"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1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2,5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2,55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2,525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0,0157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0,025</a:t>
                      </a:r>
                      <a:endParaRPr lang="pt-BR" i="0" dirty="0"/>
                    </a:p>
                  </a:txBody>
                  <a:tcPr/>
                </a:tc>
              </a:tr>
              <a:tr h="878478"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2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2,5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2,525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2,5125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0,0053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0,0125</a:t>
                      </a:r>
                      <a:endParaRPr lang="pt-BR" i="0" dirty="0"/>
                    </a:p>
                  </a:txBody>
                  <a:tcPr/>
                </a:tc>
              </a:tr>
              <a:tr h="878478"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3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2,5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2,5125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2,5063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0,0001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0,0062</a:t>
                      </a:r>
                      <a:endParaRPr lang="pt-BR" i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Objeto 9"/>
          <p:cNvGraphicFramePr>
            <a:graphicFrameLocks noChangeAspect="1"/>
          </p:cNvGraphicFramePr>
          <p:nvPr/>
        </p:nvGraphicFramePr>
        <p:xfrm>
          <a:off x="4643438" y="1285860"/>
          <a:ext cx="1214446" cy="818431"/>
        </p:xfrm>
        <a:graphic>
          <a:graphicData uri="http://schemas.openxmlformats.org/presentationml/2006/ole">
            <p:oleObj spid="_x0000_s73732" name="Equação" r:id="rId3" imgW="583920" imgH="393480" progId="Equation.3">
              <p:embed/>
            </p:oleObj>
          </a:graphicData>
        </a:graphic>
      </p:graphicFrame>
      <p:graphicFrame>
        <p:nvGraphicFramePr>
          <p:cNvPr id="73733" name="Object 5"/>
          <p:cNvGraphicFramePr>
            <a:graphicFrameLocks noChangeAspect="1"/>
          </p:cNvGraphicFramePr>
          <p:nvPr/>
        </p:nvGraphicFramePr>
        <p:xfrm>
          <a:off x="6215074" y="1428736"/>
          <a:ext cx="844550" cy="476250"/>
        </p:xfrm>
        <a:graphic>
          <a:graphicData uri="http://schemas.openxmlformats.org/presentationml/2006/ole">
            <p:oleObj spid="_x0000_s73733" name="Equação" r:id="rId4" imgW="406080" imgH="228600" progId="Equation.3">
              <p:embed/>
            </p:oleObj>
          </a:graphicData>
        </a:graphic>
      </p:graphicFrame>
      <p:graphicFrame>
        <p:nvGraphicFramePr>
          <p:cNvPr id="73734" name="Object 6"/>
          <p:cNvGraphicFramePr>
            <a:graphicFrameLocks noChangeAspect="1"/>
          </p:cNvGraphicFramePr>
          <p:nvPr/>
        </p:nvGraphicFramePr>
        <p:xfrm>
          <a:off x="7429520" y="1428736"/>
          <a:ext cx="1189037" cy="476250"/>
        </p:xfrm>
        <a:graphic>
          <a:graphicData uri="http://schemas.openxmlformats.org/presentationml/2006/ole">
            <p:oleObj spid="_x0000_s73734" name="Equação" r:id="rId5" imgW="571320" imgH="228600" progId="Equation.3">
              <p:embed/>
            </p:oleObj>
          </a:graphicData>
        </a:graphic>
      </p:graphicFrame>
      <p:graphicFrame>
        <p:nvGraphicFramePr>
          <p:cNvPr id="73735" name="Object 7"/>
          <p:cNvGraphicFramePr>
            <a:graphicFrameLocks noChangeAspect="1"/>
          </p:cNvGraphicFramePr>
          <p:nvPr/>
        </p:nvGraphicFramePr>
        <p:xfrm>
          <a:off x="2357422" y="1285860"/>
          <a:ext cx="342900" cy="714375"/>
        </p:xfrm>
        <a:graphic>
          <a:graphicData uri="http://schemas.openxmlformats.org/presentationml/2006/ole">
            <p:oleObj spid="_x0000_s73735" name="Equação" r:id="rId6" imgW="164880" imgH="342720" progId="Equation.3">
              <p:embed/>
            </p:oleObj>
          </a:graphicData>
        </a:graphic>
      </p:graphicFrame>
      <p:graphicFrame>
        <p:nvGraphicFramePr>
          <p:cNvPr id="73736" name="Object 8"/>
          <p:cNvGraphicFramePr>
            <a:graphicFrameLocks noChangeAspect="1"/>
          </p:cNvGraphicFramePr>
          <p:nvPr/>
        </p:nvGraphicFramePr>
        <p:xfrm>
          <a:off x="3714744" y="1357298"/>
          <a:ext cx="317500" cy="714375"/>
        </p:xfrm>
        <a:graphic>
          <a:graphicData uri="http://schemas.openxmlformats.org/presentationml/2006/ole">
            <p:oleObj spid="_x0000_s73736" name="Equação" r:id="rId7" imgW="152280" imgH="342720" progId="Equation.3">
              <p:embed/>
            </p:oleObj>
          </a:graphicData>
        </a:graphic>
      </p:graphicFrame>
      <p:graphicFrame>
        <p:nvGraphicFramePr>
          <p:cNvPr id="73737" name="Object 9"/>
          <p:cNvGraphicFramePr>
            <a:graphicFrameLocks noChangeAspect="1"/>
          </p:cNvGraphicFramePr>
          <p:nvPr/>
        </p:nvGraphicFramePr>
        <p:xfrm>
          <a:off x="1225550" y="5876925"/>
          <a:ext cx="6297613" cy="530225"/>
        </p:xfrm>
        <a:graphic>
          <a:graphicData uri="http://schemas.openxmlformats.org/presentationml/2006/ole">
            <p:oleObj spid="_x0000_s73737" name="Equação" r:id="rId8" imgW="3022560" imgH="25380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285728"/>
            <a:ext cx="8572560" cy="714396"/>
          </a:xfrm>
        </p:spPr>
        <p:txBody>
          <a:bodyPr>
            <a:normAutofit/>
          </a:bodyPr>
          <a:lstStyle/>
          <a:p>
            <a:r>
              <a:rPr lang="pt-BR" sz="2400" dirty="0" smtClean="0"/>
              <a:t>Resolução  (b):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24</a:t>
            </a:fld>
            <a:endParaRPr lang="pt-BR" altLang="en-US"/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9" name="Tabela 8"/>
          <p:cNvGraphicFramePr>
            <a:graphicFrameLocks noGrp="1"/>
          </p:cNvGraphicFramePr>
          <p:nvPr/>
        </p:nvGraphicFramePr>
        <p:xfrm>
          <a:off x="428596" y="1214422"/>
          <a:ext cx="8286810" cy="442915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81135"/>
                <a:gridCol w="1381135"/>
                <a:gridCol w="1381135"/>
                <a:gridCol w="1381135"/>
                <a:gridCol w="1381135"/>
                <a:gridCol w="1381135"/>
              </a:tblGrid>
              <a:tr h="915245">
                <a:tc>
                  <a:txBody>
                    <a:bodyPr/>
                    <a:lstStyle/>
                    <a:p>
                      <a:pPr algn="ctr"/>
                      <a:r>
                        <a:rPr lang="pt-BR" sz="3600" b="0" i="1" dirty="0" smtClean="0"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endParaRPr lang="pt-BR" sz="3600" b="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i="0" dirty="0"/>
                    </a:p>
                  </a:txBody>
                  <a:tcPr/>
                </a:tc>
              </a:tr>
              <a:tr h="878478"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0,5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1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0,75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0,27482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i="0" dirty="0"/>
                    </a:p>
                  </a:txBody>
                  <a:tcPr/>
                </a:tc>
              </a:tr>
              <a:tr h="878478"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1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0,5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0,75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0,625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smtClean="0"/>
                        <a:t>-0,07938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0,125</a:t>
                      </a:r>
                      <a:endParaRPr lang="pt-BR" i="0" dirty="0"/>
                    </a:p>
                  </a:txBody>
                  <a:tcPr/>
                </a:tc>
              </a:tr>
              <a:tr h="878478"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2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0,625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0,75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0,6875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0,09796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0,0625</a:t>
                      </a:r>
                      <a:endParaRPr lang="pt-BR" i="0" dirty="0"/>
                    </a:p>
                  </a:txBody>
                  <a:tcPr/>
                </a:tc>
              </a:tr>
              <a:tr h="878478"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3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0,625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0,6875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0,65625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0,00945</a:t>
                      </a:r>
                      <a:endParaRPr lang="pt-B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0" dirty="0" smtClean="0"/>
                        <a:t>0,03125</a:t>
                      </a:r>
                      <a:endParaRPr lang="pt-BR" i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Objeto 9"/>
          <p:cNvGraphicFramePr>
            <a:graphicFrameLocks noChangeAspect="1"/>
          </p:cNvGraphicFramePr>
          <p:nvPr/>
        </p:nvGraphicFramePr>
        <p:xfrm>
          <a:off x="4643438" y="1285860"/>
          <a:ext cx="1214446" cy="818431"/>
        </p:xfrm>
        <a:graphic>
          <a:graphicData uri="http://schemas.openxmlformats.org/presentationml/2006/ole">
            <p:oleObj spid="_x0000_s105475" name="Equação" r:id="rId3" imgW="583920" imgH="393480" progId="Equation.3">
              <p:embed/>
            </p:oleObj>
          </a:graphicData>
        </a:graphic>
      </p:graphicFrame>
      <p:graphicFrame>
        <p:nvGraphicFramePr>
          <p:cNvPr id="73733" name="Object 5"/>
          <p:cNvGraphicFramePr>
            <a:graphicFrameLocks noChangeAspect="1"/>
          </p:cNvGraphicFramePr>
          <p:nvPr/>
        </p:nvGraphicFramePr>
        <p:xfrm>
          <a:off x="6215074" y="1428736"/>
          <a:ext cx="844550" cy="476250"/>
        </p:xfrm>
        <a:graphic>
          <a:graphicData uri="http://schemas.openxmlformats.org/presentationml/2006/ole">
            <p:oleObj spid="_x0000_s105476" name="Equação" r:id="rId4" imgW="406080" imgH="228600" progId="Equation.3">
              <p:embed/>
            </p:oleObj>
          </a:graphicData>
        </a:graphic>
      </p:graphicFrame>
      <p:graphicFrame>
        <p:nvGraphicFramePr>
          <p:cNvPr id="73734" name="Object 6"/>
          <p:cNvGraphicFramePr>
            <a:graphicFrameLocks noChangeAspect="1"/>
          </p:cNvGraphicFramePr>
          <p:nvPr/>
        </p:nvGraphicFramePr>
        <p:xfrm>
          <a:off x="7429520" y="1428736"/>
          <a:ext cx="1189037" cy="476250"/>
        </p:xfrm>
        <a:graphic>
          <a:graphicData uri="http://schemas.openxmlformats.org/presentationml/2006/ole">
            <p:oleObj spid="_x0000_s105477" name="Equação" r:id="rId5" imgW="571320" imgH="228600" progId="Equation.3">
              <p:embed/>
            </p:oleObj>
          </a:graphicData>
        </a:graphic>
      </p:graphicFrame>
      <p:graphicFrame>
        <p:nvGraphicFramePr>
          <p:cNvPr id="73735" name="Object 7"/>
          <p:cNvGraphicFramePr>
            <a:graphicFrameLocks noChangeAspect="1"/>
          </p:cNvGraphicFramePr>
          <p:nvPr/>
        </p:nvGraphicFramePr>
        <p:xfrm>
          <a:off x="2357422" y="1285860"/>
          <a:ext cx="342900" cy="714375"/>
        </p:xfrm>
        <a:graphic>
          <a:graphicData uri="http://schemas.openxmlformats.org/presentationml/2006/ole">
            <p:oleObj spid="_x0000_s105478" name="Equação" r:id="rId6" imgW="164880" imgH="342720" progId="Equation.3">
              <p:embed/>
            </p:oleObj>
          </a:graphicData>
        </a:graphic>
      </p:graphicFrame>
      <p:graphicFrame>
        <p:nvGraphicFramePr>
          <p:cNvPr id="73736" name="Object 8"/>
          <p:cNvGraphicFramePr>
            <a:graphicFrameLocks noChangeAspect="1"/>
          </p:cNvGraphicFramePr>
          <p:nvPr/>
        </p:nvGraphicFramePr>
        <p:xfrm>
          <a:off x="3714744" y="1357298"/>
          <a:ext cx="317500" cy="714375"/>
        </p:xfrm>
        <a:graphic>
          <a:graphicData uri="http://schemas.openxmlformats.org/presentationml/2006/ole">
            <p:oleObj spid="_x0000_s105479" name="Equação" r:id="rId7" imgW="152280" imgH="342720" progId="Equation.3">
              <p:embed/>
            </p:oleObj>
          </a:graphicData>
        </a:graphic>
      </p:graphicFrame>
      <p:graphicFrame>
        <p:nvGraphicFramePr>
          <p:cNvPr id="73737" name="Object 9"/>
          <p:cNvGraphicFramePr>
            <a:graphicFrameLocks noChangeAspect="1"/>
          </p:cNvGraphicFramePr>
          <p:nvPr/>
        </p:nvGraphicFramePr>
        <p:xfrm>
          <a:off x="1206522" y="5948363"/>
          <a:ext cx="6508750" cy="530225"/>
        </p:xfrm>
        <a:graphic>
          <a:graphicData uri="http://schemas.openxmlformats.org/presentationml/2006/ole">
            <p:oleObj spid="_x0000_s105480" name="Equação" r:id="rId8" imgW="3124080" imgH="25380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25</a:t>
            </a:fld>
            <a:endParaRPr lang="pt-BR" altLang="en-US"/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>
          <a:xfrm>
            <a:off x="0" y="0"/>
            <a:ext cx="8697144" cy="6858000"/>
          </a:xfrm>
        </p:spPr>
        <p:txBody>
          <a:bodyPr>
            <a:normAutofit/>
          </a:bodyPr>
          <a:lstStyle/>
          <a:p>
            <a:pPr lvl="1">
              <a:buNone/>
            </a:pPr>
            <a:r>
              <a:rPr lang="pt-BR" sz="2400" u="sng" dirty="0" smtClean="0">
                <a:solidFill>
                  <a:srgbClr val="FF0000"/>
                </a:solidFill>
              </a:rPr>
              <a:t>Trabalho </a:t>
            </a:r>
            <a:r>
              <a:rPr lang="pt-BR" sz="2400" u="sng" dirty="0" smtClean="0">
                <a:solidFill>
                  <a:srgbClr val="FF0000"/>
                </a:solidFill>
              </a:rPr>
              <a:t>3</a:t>
            </a:r>
          </a:p>
          <a:p>
            <a:pPr lvl="1">
              <a:buNone/>
            </a:pPr>
            <a:r>
              <a:rPr lang="pt-BR" sz="2400" dirty="0" smtClean="0">
                <a:solidFill>
                  <a:srgbClr val="FF0000"/>
                </a:solidFill>
              </a:rPr>
              <a:t>Implementar um algoritmo que calcule o(s) intervalo(s) que contém a(s) raiz(</a:t>
            </a:r>
            <a:r>
              <a:rPr lang="pt-BR" sz="2400" dirty="0" err="1" smtClean="0">
                <a:solidFill>
                  <a:srgbClr val="FF0000"/>
                </a:solidFill>
              </a:rPr>
              <a:t>es</a:t>
            </a:r>
            <a:r>
              <a:rPr lang="pt-BR" sz="2400" dirty="0" smtClean="0">
                <a:solidFill>
                  <a:srgbClr val="FF0000"/>
                </a:solidFill>
              </a:rPr>
              <a:t>) de polinômios, especificado um intervalo inicial. </a:t>
            </a:r>
          </a:p>
          <a:p>
            <a:pPr lvl="1">
              <a:buNone/>
            </a:pPr>
            <a:r>
              <a:rPr lang="pt-BR" sz="2400" dirty="0" smtClean="0">
                <a:solidFill>
                  <a:srgbClr val="FF0000"/>
                </a:solidFill>
              </a:rPr>
              <a:t>Entrada</a:t>
            </a:r>
            <a:r>
              <a:rPr lang="pt-BR" sz="2400" dirty="0" smtClean="0">
                <a:solidFill>
                  <a:srgbClr val="FF0000"/>
                </a:solidFill>
              </a:rPr>
              <a:t>: Grau do polinômio, coeficientes, intervalo inicial</a:t>
            </a:r>
            <a:r>
              <a:rPr lang="pt-BR" sz="2400" dirty="0" smtClean="0">
                <a:solidFill>
                  <a:srgbClr val="FF0000"/>
                </a:solidFill>
              </a:rPr>
              <a:t>.</a:t>
            </a:r>
          </a:p>
          <a:p>
            <a:pPr lvl="1">
              <a:buNone/>
            </a:pPr>
            <a:r>
              <a:rPr lang="pt-BR" sz="2400" dirty="0" smtClean="0">
                <a:solidFill>
                  <a:srgbClr val="FF0000"/>
                </a:solidFill>
              </a:rPr>
              <a:t>Saída:  intervalo(s)</a:t>
            </a:r>
            <a:endParaRPr lang="pt-BR" sz="2400" dirty="0" smtClean="0">
              <a:solidFill>
                <a:srgbClr val="FF0000"/>
              </a:solidFill>
            </a:endParaRPr>
          </a:p>
          <a:p>
            <a:pPr lvl="1">
              <a:buNone/>
            </a:pPr>
            <a:endParaRPr lang="pt-BR" sz="2400" dirty="0"/>
          </a:p>
          <a:p>
            <a:pPr lvl="1">
              <a:buNone/>
            </a:pPr>
            <a:r>
              <a:rPr lang="pt-BR" sz="2400" u="sng" dirty="0" smtClean="0">
                <a:solidFill>
                  <a:srgbClr val="FF0000"/>
                </a:solidFill>
              </a:rPr>
              <a:t>Trabalho </a:t>
            </a:r>
            <a:r>
              <a:rPr lang="pt-BR" sz="2400" u="sng" dirty="0" smtClean="0">
                <a:solidFill>
                  <a:srgbClr val="FF0000"/>
                </a:solidFill>
              </a:rPr>
              <a:t>4 </a:t>
            </a:r>
            <a:endParaRPr lang="pt-BR" sz="2400" u="sng" dirty="0" smtClean="0">
              <a:solidFill>
                <a:srgbClr val="FF0000"/>
              </a:solidFill>
            </a:endParaRPr>
          </a:p>
          <a:p>
            <a:pPr lvl="1">
              <a:buNone/>
            </a:pPr>
            <a:r>
              <a:rPr lang="pt-BR" sz="2400" dirty="0" smtClean="0">
                <a:solidFill>
                  <a:srgbClr val="FF0000"/>
                </a:solidFill>
              </a:rPr>
              <a:t>Implementar um algoritmo que calcule a raiz para funções polinomiais pelo método da </a:t>
            </a:r>
            <a:r>
              <a:rPr lang="pt-BR" sz="2400" dirty="0" err="1" smtClean="0">
                <a:solidFill>
                  <a:srgbClr val="FF0000"/>
                </a:solidFill>
              </a:rPr>
              <a:t>Bissecção</a:t>
            </a:r>
            <a:r>
              <a:rPr lang="pt-BR" sz="2400" dirty="0" smtClean="0">
                <a:solidFill>
                  <a:srgbClr val="FF0000"/>
                </a:solidFill>
              </a:rPr>
              <a:t>.</a:t>
            </a:r>
          </a:p>
          <a:p>
            <a:pPr lvl="1">
              <a:buNone/>
            </a:pPr>
            <a:r>
              <a:rPr lang="pt-BR" sz="2400" dirty="0" smtClean="0">
                <a:solidFill>
                  <a:srgbClr val="FF0000"/>
                </a:solidFill>
              </a:rPr>
              <a:t>Entrada: Grau do polinômio, coeficientes, intervalo que contém a raiz, erro</a:t>
            </a:r>
            <a:r>
              <a:rPr lang="pt-BR" sz="2400" dirty="0" smtClean="0">
                <a:solidFill>
                  <a:srgbClr val="FF0000"/>
                </a:solidFill>
              </a:rPr>
              <a:t>.</a:t>
            </a:r>
          </a:p>
          <a:p>
            <a:pPr lvl="1">
              <a:buNone/>
            </a:pPr>
            <a:r>
              <a:rPr lang="pt-BR" sz="2400" dirty="0" smtClean="0">
                <a:solidFill>
                  <a:srgbClr val="FF0000"/>
                </a:solidFill>
              </a:rPr>
              <a:t>Saída: </a:t>
            </a:r>
            <a:r>
              <a:rPr lang="pt-BR" sz="2400" dirty="0" err="1" smtClean="0">
                <a:solidFill>
                  <a:srgbClr val="FF0000"/>
                </a:solidFill>
              </a:rPr>
              <a:t>Print</a:t>
            </a:r>
            <a:r>
              <a:rPr lang="pt-BR" sz="2400" dirty="0" smtClean="0">
                <a:solidFill>
                  <a:srgbClr val="FF0000"/>
                </a:solidFill>
              </a:rPr>
              <a:t> das respostas de cada iteração, solução, erro final e tempo </a:t>
            </a:r>
            <a:r>
              <a:rPr lang="pt-BR" sz="2400" smtClean="0">
                <a:solidFill>
                  <a:srgbClr val="FF0000"/>
                </a:solidFill>
              </a:rPr>
              <a:t>de execução.</a:t>
            </a:r>
            <a:endParaRPr lang="pt-BR" sz="2400" dirty="0" smtClean="0">
              <a:solidFill>
                <a:srgbClr val="FF0000"/>
              </a:solidFill>
            </a:endParaRPr>
          </a:p>
          <a:p>
            <a:pPr lvl="1">
              <a:buNone/>
            </a:pPr>
            <a:endParaRPr lang="pt-BR" sz="2400" dirty="0" smtClean="0">
              <a:solidFill>
                <a:srgbClr val="FF0000"/>
              </a:solidFill>
            </a:endParaRPr>
          </a:p>
          <a:p>
            <a:pPr lvl="1">
              <a:buNone/>
            </a:pPr>
            <a:endParaRPr lang="pt-BR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Método das cordas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619250" lvl="2" indent="-363538">
              <a:spcBef>
                <a:spcPct val="0"/>
              </a:spcBef>
              <a:buSzPct val="120000"/>
              <a:buNone/>
            </a:pPr>
            <a:endParaRPr lang="pt-BR" sz="1600" dirty="0" smtClean="0"/>
          </a:p>
          <a:p>
            <a:pPr marL="363538" indent="-363538">
              <a:spcBef>
                <a:spcPct val="0"/>
              </a:spcBef>
            </a:pPr>
            <a:r>
              <a:rPr lang="pt-BR" dirty="0" smtClean="0"/>
              <a:t>Método da </a:t>
            </a:r>
            <a:r>
              <a:rPr lang="pt-BR" i="1" dirty="0" smtClean="0">
                <a:solidFill>
                  <a:srgbClr val="B4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Cordas</a:t>
            </a:r>
          </a:p>
          <a:p>
            <a:pPr marL="1076325" lvl="1" indent="-449263">
              <a:spcBef>
                <a:spcPct val="0"/>
              </a:spcBef>
              <a:buSzPct val="75000"/>
            </a:pPr>
            <a:endParaRPr lang="pt-BR" sz="1200" dirty="0" smtClean="0"/>
          </a:p>
          <a:p>
            <a:pPr marL="1076325" lvl="1" indent="-449263">
              <a:spcBef>
                <a:spcPct val="0"/>
              </a:spcBef>
              <a:buSzTx/>
            </a:pPr>
            <a:r>
              <a:rPr lang="pt-BR" sz="2600" dirty="0" smtClean="0"/>
              <a:t>Calcula a média </a:t>
            </a:r>
            <a:r>
              <a:rPr lang="pt-BR" sz="2600" dirty="0" smtClean="0">
                <a:solidFill>
                  <a:srgbClr val="E0660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ponderada</a:t>
            </a:r>
            <a:r>
              <a:rPr lang="pt-BR" sz="2600" dirty="0" smtClean="0"/>
              <a:t> dos limites do intervalo que contém a raiz (</a:t>
            </a:r>
            <a:r>
              <a:rPr lang="pt-BR" sz="2600" i="1" dirty="0" smtClean="0"/>
              <a:t>[</a:t>
            </a:r>
            <a:r>
              <a:rPr lang="pt-BR" sz="2600" i="1" dirty="0" smtClean="0">
                <a:solidFill>
                  <a:srgbClr val="B4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pt-BR" sz="2600" i="1" dirty="0" smtClean="0"/>
              <a:t>,</a:t>
            </a:r>
            <a:r>
              <a:rPr lang="pt-BR" sz="2600" i="1" dirty="0" smtClean="0">
                <a:solidFill>
                  <a:srgbClr val="CC3300"/>
                </a:solidFill>
              </a:rPr>
              <a:t> </a:t>
            </a:r>
            <a:r>
              <a:rPr lang="pt-BR" sz="2600" i="1" dirty="0" smtClean="0">
                <a:solidFill>
                  <a:srgbClr val="B4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pt-BR" sz="2600" i="1" dirty="0" smtClean="0"/>
              <a:t>] </a:t>
            </a:r>
            <a:r>
              <a:rPr lang="pt-BR" sz="2600" dirty="0" smtClean="0"/>
              <a:t>).</a:t>
            </a:r>
          </a:p>
          <a:p>
            <a:pPr marL="1076325" lvl="1" indent="-449263">
              <a:spcBef>
                <a:spcPct val="0"/>
              </a:spcBef>
              <a:buSzTx/>
              <a:buNone/>
            </a:pPr>
            <a:endParaRPr lang="pt-BR" sz="2600" dirty="0" smtClean="0"/>
          </a:p>
          <a:p>
            <a:pPr marL="763588" lvl="1" indent="-363538">
              <a:spcBef>
                <a:spcPct val="0"/>
              </a:spcBef>
              <a:buNone/>
            </a:pPr>
            <a:endParaRPr lang="pt-BR" sz="2600" dirty="0" smtClean="0"/>
          </a:p>
          <a:p>
            <a:pPr marL="763588" lvl="1" indent="-363538" algn="ctr">
              <a:spcBef>
                <a:spcPct val="0"/>
              </a:spcBef>
              <a:buNone/>
            </a:pPr>
            <a:r>
              <a:rPr lang="pt-BR" sz="2400" dirty="0" err="1" smtClean="0"/>
              <a:t>Obs</a:t>
            </a:r>
            <a:r>
              <a:rPr lang="pt-BR" sz="2400" dirty="0" smtClean="0"/>
              <a:t>: No método da </a:t>
            </a:r>
            <a:r>
              <a:rPr lang="pt-BR" sz="2400" i="1" dirty="0" err="1" smtClean="0">
                <a:solidFill>
                  <a:srgbClr val="B4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Bissecção</a:t>
            </a:r>
            <a:r>
              <a:rPr lang="pt-BR" sz="2400" i="1" dirty="0" smtClean="0">
                <a:solidFill>
                  <a:srgbClr val="B4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pt-BR" sz="2400" dirty="0" smtClean="0"/>
              <a:t>é calcula a média </a:t>
            </a:r>
            <a:r>
              <a:rPr lang="pt-BR" sz="2400" dirty="0" smtClean="0">
                <a:solidFill>
                  <a:srgbClr val="E0660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aritmética</a:t>
            </a:r>
            <a:r>
              <a:rPr lang="pt-BR" sz="2400" dirty="0" smtClean="0"/>
              <a:t> dos limites do intervalo que contém a raiz (</a:t>
            </a:r>
            <a:r>
              <a:rPr lang="pt-BR" sz="2400" i="1" dirty="0" smtClean="0"/>
              <a:t>[</a:t>
            </a:r>
            <a:r>
              <a:rPr lang="pt-BR" sz="2400" i="1" dirty="0" smtClean="0">
                <a:solidFill>
                  <a:srgbClr val="B4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pt-BR" sz="2400" i="1" dirty="0" smtClean="0"/>
              <a:t>,</a:t>
            </a:r>
            <a:r>
              <a:rPr lang="pt-BR" sz="2400" i="1" dirty="0" smtClean="0">
                <a:solidFill>
                  <a:srgbClr val="CC3300"/>
                </a:solidFill>
              </a:rPr>
              <a:t> </a:t>
            </a:r>
            <a:r>
              <a:rPr lang="pt-BR" sz="2400" i="1" dirty="0" smtClean="0">
                <a:solidFill>
                  <a:srgbClr val="B4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pt-BR" sz="2400" i="1" dirty="0" smtClean="0"/>
              <a:t>] </a:t>
            </a:r>
            <a:r>
              <a:rPr lang="pt-BR" sz="2400" dirty="0" smtClean="0"/>
              <a:t>).</a:t>
            </a:r>
          </a:p>
          <a:p>
            <a:pPr marL="1076325" lvl="1" indent="-449263">
              <a:spcBef>
                <a:spcPct val="0"/>
              </a:spcBef>
              <a:buSzTx/>
            </a:pPr>
            <a:endParaRPr lang="pt-BR" sz="24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26</a:t>
            </a:fld>
            <a:endParaRPr lang="pt-BR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8"/>
          <p:cNvGrpSpPr>
            <a:grpSpLocks noGrp="1"/>
          </p:cNvGrpSpPr>
          <p:nvPr>
            <p:ph idx="1"/>
          </p:nvPr>
        </p:nvGrpSpPr>
        <p:grpSpPr bwMode="auto">
          <a:xfrm>
            <a:off x="323528" y="764704"/>
            <a:ext cx="5768432" cy="4392488"/>
            <a:chOff x="252" y="1922"/>
            <a:chExt cx="2607" cy="1970"/>
          </a:xfrm>
        </p:grpSpPr>
        <p:sp>
          <p:nvSpPr>
            <p:cNvPr id="6" name="Line 7"/>
            <p:cNvSpPr>
              <a:spLocks noChangeShapeType="1"/>
            </p:cNvSpPr>
            <p:nvPr/>
          </p:nvSpPr>
          <p:spPr bwMode="auto">
            <a:xfrm flipH="1">
              <a:off x="563" y="1942"/>
              <a:ext cx="6" cy="19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 type="triangle" w="med" len="lg"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auto">
            <a:xfrm rot="-5400000" flipH="1" flipV="1">
              <a:off x="1542" y="1888"/>
              <a:ext cx="3" cy="2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 type="triangle" w="med" len="lg"/>
              <a:tailEnd/>
            </a:ln>
            <a:effectLst/>
          </p:spPr>
          <p:txBody>
            <a:bodyPr wrap="none"/>
            <a:lstStyle/>
            <a:p>
              <a:endParaRPr lang="pt-BR" b="1" dirty="0"/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2766" y="3219"/>
              <a:ext cx="93" cy="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marL="342900" indent="-342900" algn="ctr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None/>
              </a:pPr>
              <a:r>
                <a:rPr lang="pt-BR" sz="1200">
                  <a:cs typeface="Times New Roman" pitchFamily="18" charset="0"/>
                </a:rPr>
                <a:t>x</a:t>
              </a:r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666" y="3226"/>
              <a:ext cx="79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marL="342900" indent="-342900" algn="ctr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None/>
              </a:pPr>
              <a:r>
                <a:rPr lang="pt-BR" sz="1200">
                  <a:cs typeface="Times New Roman" pitchFamily="18" charset="0"/>
                  <a:sym typeface="Symbol" pitchFamily="18" charset="2"/>
                </a:rPr>
                <a:t>a</a:t>
              </a:r>
              <a:endParaRPr lang="pt-BR" sz="1200" baseline="-25000">
                <a:cs typeface="Times New Roman" pitchFamily="18" charset="0"/>
              </a:endParaRPr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305" y="1922"/>
              <a:ext cx="229" cy="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marL="342900" indent="-342900" algn="ctr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None/>
              </a:pPr>
              <a:r>
                <a:rPr lang="pt-BR" sz="1200">
                  <a:cs typeface="Times New Roman" pitchFamily="18" charset="0"/>
                </a:rPr>
                <a:t>f(x)</a:t>
              </a:r>
            </a:p>
          </p:txBody>
        </p:sp>
        <p:sp>
          <p:nvSpPr>
            <p:cNvPr id="12" name="Line 13"/>
            <p:cNvSpPr>
              <a:spLocks noChangeShapeType="1"/>
            </p:cNvSpPr>
            <p:nvPr/>
          </p:nvSpPr>
          <p:spPr bwMode="auto">
            <a:xfrm flipH="1">
              <a:off x="788" y="3181"/>
              <a:ext cx="1" cy="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13" name="Line 14"/>
            <p:cNvSpPr>
              <a:spLocks noChangeShapeType="1"/>
            </p:cNvSpPr>
            <p:nvPr/>
          </p:nvSpPr>
          <p:spPr bwMode="auto">
            <a:xfrm flipH="1">
              <a:off x="2504" y="2256"/>
              <a:ext cx="3" cy="9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15" name="Rectangle 16"/>
            <p:cNvSpPr>
              <a:spLocks noChangeArrowheads="1"/>
            </p:cNvSpPr>
            <p:nvPr/>
          </p:nvSpPr>
          <p:spPr bwMode="auto">
            <a:xfrm>
              <a:off x="2434" y="3226"/>
              <a:ext cx="103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marL="342900" indent="-342900" algn="ctr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None/>
              </a:pPr>
              <a:r>
                <a:rPr lang="pt-BR" sz="1200">
                  <a:cs typeface="Times New Roman" pitchFamily="18" charset="0"/>
                  <a:sym typeface="Symbol" pitchFamily="18" charset="2"/>
                </a:rPr>
                <a:t>b </a:t>
              </a:r>
              <a:endParaRPr lang="pt-BR" sz="1200" baseline="-25000">
                <a:cs typeface="Times New Roman" pitchFamily="18" charset="0"/>
              </a:endParaRPr>
            </a:p>
          </p:txBody>
        </p:sp>
        <p:sp>
          <p:nvSpPr>
            <p:cNvPr id="16" name="Rectangle 17"/>
            <p:cNvSpPr>
              <a:spLocks noChangeArrowheads="1"/>
            </p:cNvSpPr>
            <p:nvPr/>
          </p:nvSpPr>
          <p:spPr bwMode="auto">
            <a:xfrm>
              <a:off x="1242" y="3232"/>
              <a:ext cx="105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marL="342900" indent="-342900" algn="ctr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None/>
              </a:pPr>
              <a:r>
                <a:rPr lang="pt-BR" sz="120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cs typeface="Times New Roman" pitchFamily="18" charset="0"/>
                  <a:sym typeface="Symbol" pitchFamily="18" charset="2"/>
                </a:rPr>
                <a:t>x</a:t>
              </a:r>
              <a:endParaRPr lang="pt-BR" sz="1200" baseline="-25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 flipV="1">
              <a:off x="769" y="2241"/>
              <a:ext cx="1746" cy="1353"/>
            </a:xfrm>
            <a:prstGeom prst="line">
              <a:avLst/>
            </a:prstGeom>
            <a:noFill/>
            <a:ln w="22225">
              <a:solidFill>
                <a:srgbClr val="FF9966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18" name="Line 19"/>
            <p:cNvSpPr>
              <a:spLocks noChangeShapeType="1"/>
            </p:cNvSpPr>
            <p:nvPr/>
          </p:nvSpPr>
          <p:spPr bwMode="auto">
            <a:xfrm>
              <a:off x="1295" y="3140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20" name="Line 21"/>
            <p:cNvSpPr>
              <a:spLocks noChangeShapeType="1"/>
            </p:cNvSpPr>
            <p:nvPr/>
          </p:nvSpPr>
          <p:spPr bwMode="auto">
            <a:xfrm rot="16200000" flipH="1">
              <a:off x="1530" y="1282"/>
              <a:ext cx="3" cy="19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21" name="Oval 22"/>
            <p:cNvSpPr>
              <a:spLocks noChangeArrowheads="1"/>
            </p:cNvSpPr>
            <p:nvPr/>
          </p:nvSpPr>
          <p:spPr bwMode="auto">
            <a:xfrm>
              <a:off x="2489" y="2233"/>
              <a:ext cx="33" cy="3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2" name="Line 23"/>
            <p:cNvSpPr>
              <a:spLocks noChangeShapeType="1"/>
            </p:cNvSpPr>
            <p:nvPr/>
          </p:nvSpPr>
          <p:spPr bwMode="auto">
            <a:xfrm rot="5400000" flipH="1">
              <a:off x="654" y="3469"/>
              <a:ext cx="1" cy="2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23" name="Oval 24"/>
            <p:cNvSpPr>
              <a:spLocks noChangeArrowheads="1"/>
            </p:cNvSpPr>
            <p:nvPr/>
          </p:nvSpPr>
          <p:spPr bwMode="auto">
            <a:xfrm>
              <a:off x="770" y="3562"/>
              <a:ext cx="33" cy="3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" name="Rectangle 25"/>
            <p:cNvSpPr>
              <a:spLocks noChangeArrowheads="1"/>
            </p:cNvSpPr>
            <p:nvPr/>
          </p:nvSpPr>
          <p:spPr bwMode="auto">
            <a:xfrm>
              <a:off x="267" y="2175"/>
              <a:ext cx="259" cy="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marL="342900" indent="-342900" algn="ctr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None/>
              </a:pPr>
              <a:r>
                <a:rPr lang="pt-BR" sz="1200">
                  <a:cs typeface="Times New Roman" pitchFamily="18" charset="0"/>
                  <a:sym typeface="Symbol" pitchFamily="18" charset="2"/>
                </a:rPr>
                <a:t>f(b)</a:t>
              </a:r>
              <a:endParaRPr lang="pt-BR" sz="1200" baseline="-25000">
                <a:cs typeface="Times New Roman" pitchFamily="18" charset="0"/>
              </a:endParaRPr>
            </a:p>
          </p:txBody>
        </p:sp>
        <p:sp>
          <p:nvSpPr>
            <p:cNvPr id="25" name="Rectangle 26"/>
            <p:cNvSpPr>
              <a:spLocks noChangeArrowheads="1"/>
            </p:cNvSpPr>
            <p:nvPr/>
          </p:nvSpPr>
          <p:spPr bwMode="auto">
            <a:xfrm>
              <a:off x="261" y="3500"/>
              <a:ext cx="259" cy="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marL="342900" indent="-342900" algn="ctr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None/>
              </a:pPr>
              <a:r>
                <a:rPr lang="pt-BR" sz="1200">
                  <a:cs typeface="Times New Roman" pitchFamily="18" charset="0"/>
                  <a:sym typeface="Symbol" pitchFamily="18" charset="2"/>
                </a:rPr>
                <a:t>f(a)</a:t>
              </a:r>
              <a:endParaRPr lang="pt-BR" sz="1200" baseline="-25000">
                <a:cs typeface="Times New Roman" pitchFamily="18" charset="0"/>
              </a:endParaRPr>
            </a:p>
          </p:txBody>
        </p:sp>
      </p:grp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27</a:t>
            </a:fld>
            <a:endParaRPr lang="pt-BR" altLang="en-US"/>
          </a:p>
        </p:txBody>
      </p:sp>
      <p:graphicFrame>
        <p:nvGraphicFramePr>
          <p:cNvPr id="46082" name="Object 2"/>
          <p:cNvGraphicFramePr>
            <a:graphicFrameLocks noChangeAspect="1"/>
          </p:cNvGraphicFramePr>
          <p:nvPr/>
        </p:nvGraphicFramePr>
        <p:xfrm>
          <a:off x="2699792" y="4149080"/>
          <a:ext cx="3795462" cy="1008112"/>
        </p:xfrm>
        <a:graphic>
          <a:graphicData uri="http://schemas.openxmlformats.org/presentationml/2006/ole">
            <p:oleObj spid="_x0000_s6146" name="Equation" r:id="rId3" imgW="1396800" imgH="431640" progId="Equation.3">
              <p:embed/>
            </p:oleObj>
          </a:graphicData>
        </a:graphic>
      </p:graphicFrame>
      <p:graphicFrame>
        <p:nvGraphicFramePr>
          <p:cNvPr id="46083" name="Object 3"/>
          <p:cNvGraphicFramePr>
            <a:graphicFrameLocks noChangeAspect="1"/>
          </p:cNvGraphicFramePr>
          <p:nvPr/>
        </p:nvGraphicFramePr>
        <p:xfrm>
          <a:off x="6084168" y="2420888"/>
          <a:ext cx="2820987" cy="1081088"/>
        </p:xfrm>
        <a:graphic>
          <a:graphicData uri="http://schemas.openxmlformats.org/presentationml/2006/ole">
            <p:oleObj spid="_x0000_s6147" name="Equação" r:id="rId4" imgW="1193760" imgH="533160" progId="Equation.3">
              <p:embed/>
            </p:oleObj>
          </a:graphicData>
        </a:graphic>
      </p:graphicFrame>
      <p:sp>
        <p:nvSpPr>
          <p:cNvPr id="28" name="CaixaDeTexto 27"/>
          <p:cNvSpPr txBox="1"/>
          <p:nvPr/>
        </p:nvSpPr>
        <p:spPr>
          <a:xfrm>
            <a:off x="6084168" y="1124744"/>
            <a:ext cx="28083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Média ponderada com pesos |</a:t>
            </a:r>
            <a:r>
              <a:rPr lang="pt-BR" sz="2400" i="1" dirty="0" smtClean="0">
                <a:latin typeface="+mn-lt"/>
              </a:rPr>
              <a:t>f(a) </a:t>
            </a:r>
            <a:r>
              <a:rPr lang="pt-BR" sz="2400" dirty="0" smtClean="0">
                <a:latin typeface="+mn-lt"/>
              </a:rPr>
              <a:t>|</a:t>
            </a:r>
            <a:r>
              <a:rPr lang="pt-BR" sz="2400" i="1" dirty="0" smtClean="0">
                <a:latin typeface="+mn-lt"/>
              </a:rPr>
              <a:t>  </a:t>
            </a:r>
            <a:r>
              <a:rPr lang="pt-BR" sz="2400" dirty="0" smtClean="0"/>
              <a:t>e  |</a:t>
            </a:r>
            <a:r>
              <a:rPr lang="pt-BR" sz="2400" i="1" dirty="0" smtClean="0">
                <a:latin typeface="+mn-lt"/>
              </a:rPr>
              <a:t>f(b</a:t>
            </a:r>
            <a:r>
              <a:rPr lang="pt-BR" sz="2400" dirty="0" smtClean="0">
                <a:latin typeface="+mn-lt"/>
              </a:rPr>
              <a:t>)|:</a:t>
            </a:r>
            <a:endParaRPr lang="pt-BR" sz="2400" dirty="0">
              <a:latin typeface="+mn-lt"/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683568" y="5445224"/>
            <a:ext cx="74168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Geometricamente, </a:t>
            </a:r>
            <a:r>
              <a:rPr lang="pt-BR" sz="2800" i="1" dirty="0" smtClean="0">
                <a:latin typeface="+mn-lt"/>
              </a:rPr>
              <a:t>x</a:t>
            </a:r>
            <a:r>
              <a:rPr lang="pt-BR" sz="2400" i="1" dirty="0" smtClean="0">
                <a:latin typeface="+mn-lt"/>
              </a:rPr>
              <a:t> </a:t>
            </a:r>
            <a:r>
              <a:rPr lang="pt-BR" sz="2400" dirty="0" smtClean="0"/>
              <a:t>é a intersecção entre o eixo </a:t>
            </a:r>
            <a:r>
              <a:rPr lang="pt-BR" sz="2800" i="1" dirty="0" err="1" smtClean="0">
                <a:latin typeface="+mn-lt"/>
              </a:rPr>
              <a:t>ox</a:t>
            </a:r>
            <a:r>
              <a:rPr lang="pt-BR" sz="2400" dirty="0" smtClean="0"/>
              <a:t> e a reta que passa por </a:t>
            </a:r>
            <a:r>
              <a:rPr lang="pt-BR" sz="2800" i="1" dirty="0" smtClean="0">
                <a:latin typeface="+mn-lt"/>
              </a:rPr>
              <a:t>(a, f(a))</a:t>
            </a:r>
            <a:r>
              <a:rPr lang="pt-BR" sz="2800" dirty="0" smtClean="0"/>
              <a:t> </a:t>
            </a:r>
            <a:r>
              <a:rPr lang="pt-BR" sz="2400" dirty="0" smtClean="0"/>
              <a:t>e </a:t>
            </a:r>
            <a:r>
              <a:rPr lang="pt-BR" sz="2800" i="1" dirty="0" smtClean="0">
                <a:latin typeface="+mn-lt"/>
              </a:rPr>
              <a:t>(b, f(b)).</a:t>
            </a:r>
            <a:endParaRPr lang="pt-BR" sz="2800" i="1" dirty="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28</a:t>
            </a:fld>
            <a:endParaRPr lang="pt-BR" altLang="en-US"/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9713" y="1728788"/>
            <a:ext cx="6124575" cy="340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29</a:t>
            </a:fld>
            <a:endParaRPr lang="pt-BR" altLang="en-US"/>
          </a:p>
        </p:txBody>
      </p:sp>
      <p:pic>
        <p:nvPicPr>
          <p:cNvPr id="22426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38288" y="1724025"/>
            <a:ext cx="6067425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30</a:t>
            </a:fld>
            <a:endParaRPr lang="pt-BR" altLang="en-US"/>
          </a:p>
        </p:txBody>
      </p:sp>
      <p:pic>
        <p:nvPicPr>
          <p:cNvPr id="22323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8763" y="1733550"/>
            <a:ext cx="6086475" cy="339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31</a:t>
            </a:fld>
            <a:endParaRPr lang="pt-BR" altLang="en-US"/>
          </a:p>
        </p:txBody>
      </p:sp>
      <p:pic>
        <p:nvPicPr>
          <p:cNvPr id="22221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3050" y="1728788"/>
            <a:ext cx="6057900" cy="340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32</a:t>
            </a:fld>
            <a:endParaRPr lang="pt-BR" altLang="en-US"/>
          </a:p>
        </p:txBody>
      </p:sp>
      <p:pic>
        <p:nvPicPr>
          <p:cNvPr id="22118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19238" y="1728788"/>
            <a:ext cx="6105525" cy="340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pt-BR" dirty="0" smtClean="0"/>
              <a:t> </a:t>
            </a:r>
            <a:r>
              <a:rPr lang="pt-BR" sz="3200" dirty="0" smtClean="0"/>
              <a:t>Método das cordas – Interpretação Geométrica</a:t>
            </a:r>
            <a:endParaRPr lang="pt-BR" sz="3200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33</a:t>
            </a:fld>
            <a:endParaRPr lang="pt-BR" altLang="en-US"/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9968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2571744"/>
            <a:ext cx="5692267" cy="3141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CaixaDeTexto 9"/>
          <p:cNvSpPr txBox="1"/>
          <p:nvPr/>
        </p:nvSpPr>
        <p:spPr>
          <a:xfrm>
            <a:off x="1857356" y="5715016"/>
            <a:ext cx="6572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u="sng" dirty="0" smtClean="0">
                <a:hlinkClick r:id="rId3"/>
              </a:rPr>
              <a:t> https://www.alfaconnection.pro.br/matematica/limites-derivadas-e-integrais/derivadas/interpretacao-grafica-das-derivadas-primeira-e-segunda</a:t>
            </a:r>
            <a:r>
              <a:rPr lang="pt-BR" dirty="0" smtClean="0">
                <a:hlinkClick r:id="rId3"/>
              </a:rPr>
              <a:t>/</a:t>
            </a:r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714348" y="1142984"/>
            <a:ext cx="77153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pt-BR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f´</a:t>
            </a:r>
            <a:r>
              <a:rPr lang="pt-BR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´(x) existe e não muda de sinal no intervalo [a,b], então uma das extremidades do intervalo será fixa.</a:t>
            </a:r>
            <a:endParaRPr lang="pt-BR" sz="28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1071538" y="571501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Fonte:</a:t>
            </a:r>
            <a:endParaRPr lang="pt-BR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pt-BR" dirty="0" smtClean="0"/>
              <a:t> </a:t>
            </a:r>
            <a:r>
              <a:rPr lang="pt-BR" sz="3200" dirty="0" smtClean="0"/>
              <a:t>Método das cordas – Interpretação Geométrica</a:t>
            </a:r>
            <a:endParaRPr lang="pt-BR" sz="3200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34</a:t>
            </a:fld>
            <a:endParaRPr lang="pt-BR" altLang="en-US"/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06505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00" y="1142984"/>
            <a:ext cx="6929486" cy="4888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CaixaDeTexto 14"/>
          <p:cNvSpPr txBox="1"/>
          <p:nvPr/>
        </p:nvSpPr>
        <p:spPr>
          <a:xfrm>
            <a:off x="2928926" y="6143644"/>
            <a:ext cx="3286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/>
              <a:t>Caso 1</a:t>
            </a:r>
            <a:endParaRPr lang="pt-BR" sz="2400" dirty="0"/>
          </a:p>
        </p:txBody>
      </p:sp>
      <p:graphicFrame>
        <p:nvGraphicFramePr>
          <p:cNvPr id="16" name="Objeto 15"/>
          <p:cNvGraphicFramePr>
            <a:graphicFrameLocks noChangeAspect="1"/>
          </p:cNvGraphicFramePr>
          <p:nvPr/>
        </p:nvGraphicFramePr>
        <p:xfrm>
          <a:off x="2357423" y="1357298"/>
          <a:ext cx="2214578" cy="770288"/>
        </p:xfrm>
        <a:graphic>
          <a:graphicData uri="http://schemas.openxmlformats.org/presentationml/2006/ole">
            <p:oleObj spid="_x0000_s225282" name="Equação" r:id="rId4" imgW="583920" imgH="203040" progId="Equation.3">
              <p:embed/>
            </p:oleObj>
          </a:graphicData>
        </a:graphic>
      </p:graphicFrame>
      <p:graphicFrame>
        <p:nvGraphicFramePr>
          <p:cNvPr id="106507" name="Object 11"/>
          <p:cNvGraphicFramePr>
            <a:graphicFrameLocks noChangeAspect="1"/>
          </p:cNvGraphicFramePr>
          <p:nvPr/>
        </p:nvGraphicFramePr>
        <p:xfrm>
          <a:off x="5572125" y="1357313"/>
          <a:ext cx="1974850" cy="769937"/>
        </p:xfrm>
        <a:graphic>
          <a:graphicData uri="http://schemas.openxmlformats.org/presentationml/2006/ole">
            <p:oleObj spid="_x0000_s225283" name="Equação" r:id="rId5" imgW="520560" imgH="20304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pt-BR" dirty="0" smtClean="0"/>
              <a:t> </a:t>
            </a:r>
            <a:r>
              <a:rPr lang="pt-BR" sz="3200" dirty="0" smtClean="0"/>
              <a:t>Método das cordas – Interpretação Geométrica</a:t>
            </a:r>
            <a:endParaRPr lang="pt-BR" sz="3200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35</a:t>
            </a:fld>
            <a:endParaRPr lang="pt-BR" altLang="en-US"/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2928926" y="6143644"/>
            <a:ext cx="3286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/>
              <a:t>Caso 2</a:t>
            </a:r>
            <a:endParaRPr lang="pt-BR" sz="2400" dirty="0"/>
          </a:p>
        </p:txBody>
      </p:sp>
      <p:pic>
        <p:nvPicPr>
          <p:cNvPr id="1075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00" y="1071546"/>
            <a:ext cx="7000924" cy="4786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7523" name="Object 3"/>
          <p:cNvGraphicFramePr>
            <a:graphicFrameLocks noChangeAspect="1"/>
          </p:cNvGraphicFramePr>
          <p:nvPr/>
        </p:nvGraphicFramePr>
        <p:xfrm>
          <a:off x="3571868" y="1357298"/>
          <a:ext cx="2214578" cy="770040"/>
        </p:xfrm>
        <a:graphic>
          <a:graphicData uri="http://schemas.openxmlformats.org/presentationml/2006/ole">
            <p:oleObj spid="_x0000_s200706" name="Equação" r:id="rId4" imgW="583920" imgH="203040" progId="Equation.3">
              <p:embed/>
            </p:oleObj>
          </a:graphicData>
        </a:graphic>
      </p:graphicFrame>
      <p:graphicFrame>
        <p:nvGraphicFramePr>
          <p:cNvPr id="107524" name="Object 4"/>
          <p:cNvGraphicFramePr>
            <a:graphicFrameLocks noChangeAspect="1"/>
          </p:cNvGraphicFramePr>
          <p:nvPr/>
        </p:nvGraphicFramePr>
        <p:xfrm>
          <a:off x="6500826" y="1428736"/>
          <a:ext cx="2020888" cy="769938"/>
        </p:xfrm>
        <a:graphic>
          <a:graphicData uri="http://schemas.openxmlformats.org/presentationml/2006/ole">
            <p:oleObj spid="_x0000_s200707" name="Equação" r:id="rId5" imgW="533160" imgH="20304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pt-BR" dirty="0" smtClean="0"/>
              <a:t> </a:t>
            </a:r>
            <a:r>
              <a:rPr lang="pt-BR" sz="3200" dirty="0" smtClean="0"/>
              <a:t>Método das cordas – Interpretação Geométrica</a:t>
            </a:r>
            <a:endParaRPr lang="pt-BR" sz="3200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36</a:t>
            </a:fld>
            <a:endParaRPr lang="pt-BR" altLang="en-US"/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2928926" y="6143644"/>
            <a:ext cx="3286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/>
              <a:t>Caso 3</a:t>
            </a:r>
            <a:endParaRPr lang="pt-BR" sz="2400" dirty="0"/>
          </a:p>
        </p:txBody>
      </p:sp>
      <p:pic>
        <p:nvPicPr>
          <p:cNvPr id="1085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10" y="1357298"/>
            <a:ext cx="7502337" cy="452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8547" name="Object 3"/>
          <p:cNvGraphicFramePr>
            <a:graphicFrameLocks noChangeAspect="1"/>
          </p:cNvGraphicFramePr>
          <p:nvPr/>
        </p:nvGraphicFramePr>
        <p:xfrm>
          <a:off x="2214546" y="1428736"/>
          <a:ext cx="2465388" cy="857250"/>
        </p:xfrm>
        <a:graphic>
          <a:graphicData uri="http://schemas.openxmlformats.org/presentationml/2006/ole">
            <p:oleObj spid="_x0000_s201730" name="Equação" r:id="rId4" imgW="583920" imgH="203040" progId="Equation.3">
              <p:embed/>
            </p:oleObj>
          </a:graphicData>
        </a:graphic>
      </p:graphicFrame>
      <p:graphicFrame>
        <p:nvGraphicFramePr>
          <p:cNvPr id="108548" name="Object 4"/>
          <p:cNvGraphicFramePr>
            <a:graphicFrameLocks noChangeAspect="1"/>
          </p:cNvGraphicFramePr>
          <p:nvPr/>
        </p:nvGraphicFramePr>
        <p:xfrm>
          <a:off x="5535613" y="1500188"/>
          <a:ext cx="2251075" cy="857250"/>
        </p:xfrm>
        <a:graphic>
          <a:graphicData uri="http://schemas.openxmlformats.org/presentationml/2006/ole">
            <p:oleObj spid="_x0000_s201731" name="Equação" r:id="rId5" imgW="533160" imgH="20304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pt-BR" dirty="0" smtClean="0"/>
              <a:t> </a:t>
            </a:r>
            <a:r>
              <a:rPr lang="pt-BR" sz="3200" dirty="0" smtClean="0"/>
              <a:t>Método das cordas – Interpretação Geométrica</a:t>
            </a:r>
            <a:endParaRPr lang="pt-BR" sz="3200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37</a:t>
            </a:fld>
            <a:endParaRPr lang="pt-BR" altLang="en-US"/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2928926" y="6143644"/>
            <a:ext cx="3286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/>
              <a:t>Caso 4</a:t>
            </a:r>
            <a:endParaRPr lang="pt-BR" sz="2400" dirty="0"/>
          </a:p>
        </p:txBody>
      </p:sp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5786" y="1357298"/>
            <a:ext cx="7143800" cy="4786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9571" name="Object 3"/>
          <p:cNvGraphicFramePr>
            <a:graphicFrameLocks noChangeAspect="1"/>
          </p:cNvGraphicFramePr>
          <p:nvPr/>
        </p:nvGraphicFramePr>
        <p:xfrm>
          <a:off x="2357422" y="1357298"/>
          <a:ext cx="2465388" cy="857250"/>
        </p:xfrm>
        <a:graphic>
          <a:graphicData uri="http://schemas.openxmlformats.org/presentationml/2006/ole">
            <p:oleObj spid="_x0000_s202754" name="Equação" r:id="rId4" imgW="583920" imgH="203040" progId="Equation.3">
              <p:embed/>
            </p:oleObj>
          </a:graphicData>
        </a:graphic>
      </p:graphicFrame>
      <p:graphicFrame>
        <p:nvGraphicFramePr>
          <p:cNvPr id="109572" name="Object 4"/>
          <p:cNvGraphicFramePr>
            <a:graphicFrameLocks noChangeAspect="1"/>
          </p:cNvGraphicFramePr>
          <p:nvPr/>
        </p:nvGraphicFramePr>
        <p:xfrm>
          <a:off x="5776913" y="1428750"/>
          <a:ext cx="2197100" cy="857250"/>
        </p:xfrm>
        <a:graphic>
          <a:graphicData uri="http://schemas.openxmlformats.org/presentationml/2006/ole">
            <p:oleObj spid="_x0000_s202755" name="Equação" r:id="rId5" imgW="520560" imgH="20304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Ponto fixo</a:t>
            </a:r>
            <a:endParaRPr lang="pt-BR" dirty="0"/>
          </a:p>
        </p:txBody>
      </p:sp>
      <p:graphicFrame>
        <p:nvGraphicFramePr>
          <p:cNvPr id="203778" name="Object 2"/>
          <p:cNvGraphicFramePr>
            <a:graphicFrameLocks noChangeAspect="1"/>
          </p:cNvGraphicFramePr>
          <p:nvPr>
            <p:ph idx="1"/>
          </p:nvPr>
        </p:nvGraphicFramePr>
        <p:xfrm>
          <a:off x="3059832" y="2780928"/>
          <a:ext cx="3528392" cy="784087"/>
        </p:xfrm>
        <a:graphic>
          <a:graphicData uri="http://schemas.openxmlformats.org/presentationml/2006/ole">
            <p:oleObj spid="_x0000_s203778" name="Equação" r:id="rId3" imgW="914400" imgH="203040" progId="Equation.3">
              <p:embed/>
            </p:oleObj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467544" y="1844824"/>
            <a:ext cx="59046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sz="3600" dirty="0" smtClean="0"/>
              <a:t> é ponto fixo se:</a:t>
            </a:r>
          </a:p>
          <a:p>
            <a:endParaRPr lang="pt-BR" sz="3600" dirty="0" smtClean="0"/>
          </a:p>
          <a:p>
            <a:endParaRPr lang="pt-BR" sz="3600" dirty="0" smtClean="0"/>
          </a:p>
          <a:p>
            <a:endParaRPr lang="pt-BR" sz="3600" dirty="0" smtClean="0"/>
          </a:p>
          <a:p>
            <a:r>
              <a:rPr lang="pt-BR" sz="3600" dirty="0" smtClean="0"/>
              <a:t>Teste de parada:</a:t>
            </a:r>
            <a:endParaRPr lang="pt-BR" sz="3600" dirty="0"/>
          </a:p>
        </p:txBody>
      </p:sp>
      <p:graphicFrame>
        <p:nvGraphicFramePr>
          <p:cNvPr id="203779" name="Object 3"/>
          <p:cNvGraphicFramePr>
            <a:graphicFrameLocks noChangeAspect="1"/>
          </p:cNvGraphicFramePr>
          <p:nvPr/>
        </p:nvGraphicFramePr>
        <p:xfrm>
          <a:off x="3707904" y="5013176"/>
          <a:ext cx="2455862" cy="847725"/>
        </p:xfrm>
        <a:graphic>
          <a:graphicData uri="http://schemas.openxmlformats.org/presentationml/2006/ole">
            <p:oleObj spid="_x0000_s203779" name="Equação" r:id="rId4" imgW="736560" imgH="253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476672"/>
            <a:ext cx="8229600" cy="1143000"/>
          </a:xfrm>
        </p:spPr>
        <p:txBody>
          <a:bodyPr>
            <a:normAutofit/>
          </a:bodyPr>
          <a:lstStyle/>
          <a:p>
            <a:r>
              <a:rPr lang="pt-BR" sz="4000" dirty="0" smtClean="0"/>
              <a:t>Exercícios: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idx="1"/>
          </p:nvPr>
        </p:nvSpPr>
        <p:spPr>
          <a:xfrm>
            <a:off x="357158" y="1571612"/>
            <a:ext cx="8179272" cy="4718490"/>
          </a:xfrm>
        </p:spPr>
        <p:txBody>
          <a:bodyPr>
            <a:normAutofit fontScale="25000" lnSpcReduction="20000"/>
          </a:bodyPr>
          <a:lstStyle/>
          <a:p>
            <a:pPr marL="914400" indent="-914400">
              <a:buNone/>
            </a:pPr>
            <a:r>
              <a:rPr lang="pt-BR" sz="9600" dirty="0" smtClean="0">
                <a:latin typeface="Times New Roman" pitchFamily="18" charset="0"/>
                <a:cs typeface="Times New Roman" pitchFamily="18" charset="0"/>
              </a:rPr>
              <a:t>1)  Através do método </a:t>
            </a:r>
            <a:r>
              <a:rPr lang="pt-BR" sz="9600" dirty="0" smtClean="0"/>
              <a:t>das cordas </a:t>
            </a:r>
            <a:r>
              <a:rPr lang="pt-BR" sz="9600" dirty="0" smtClean="0">
                <a:latin typeface="Times New Roman" pitchFamily="18" charset="0"/>
                <a:cs typeface="Times New Roman" pitchFamily="18" charset="0"/>
              </a:rPr>
              <a:t>, determine a raiz aproximada de </a:t>
            </a:r>
            <a:r>
              <a:rPr lang="pt-BR" sz="9600" i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pt-BR" sz="96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914400" indent="-914400" eaLnBrk="1" hangingPunct="1">
              <a:buAutoNum type="arabicParenR"/>
            </a:pPr>
            <a:endParaRPr lang="pt-BR" sz="4500" dirty="0" smtClean="0"/>
          </a:p>
          <a:p>
            <a:pPr marL="914400" indent="-914400" eaLnBrk="1" hangingPunct="1">
              <a:buAutoNum type="arabicParenR"/>
            </a:pPr>
            <a:endParaRPr lang="pt-BR" sz="4500" dirty="0" smtClean="0"/>
          </a:p>
          <a:p>
            <a:pPr marL="914400" indent="-914400" eaLnBrk="1" hangingPunct="1">
              <a:buAutoNum type="arabicParenR"/>
            </a:pPr>
            <a:endParaRPr lang="pt-BR" sz="4500" dirty="0" smtClean="0"/>
          </a:p>
          <a:p>
            <a:pPr marL="914400" indent="-914400" eaLnBrk="1" hangingPunct="1">
              <a:buAutoNum type="arabicParenR"/>
            </a:pPr>
            <a:endParaRPr lang="pt-BR" sz="4500" dirty="0" smtClean="0"/>
          </a:p>
          <a:p>
            <a:pPr marL="914400" indent="-914400" eaLnBrk="1" hangingPunct="1">
              <a:buAutoNum type="arabicParenR"/>
            </a:pPr>
            <a:endParaRPr lang="pt-BR" sz="4500" dirty="0" smtClean="0"/>
          </a:p>
          <a:p>
            <a:pPr marL="914400" indent="-914400" eaLnBrk="1" hangingPunct="1">
              <a:buAutoNum type="arabicParenR"/>
            </a:pPr>
            <a:endParaRPr lang="pt-BR" sz="4500" dirty="0" smtClean="0"/>
          </a:p>
          <a:p>
            <a:pPr marL="914400" indent="-914400" eaLnBrk="1" hangingPunct="1">
              <a:buAutoNum type="arabicParenR"/>
            </a:pPr>
            <a:endParaRPr lang="pt-BR" sz="4500" dirty="0" smtClean="0"/>
          </a:p>
          <a:p>
            <a:pPr marL="914400" indent="-914400" eaLnBrk="1" hangingPunct="1">
              <a:buAutoNum type="arabicParenR"/>
            </a:pPr>
            <a:endParaRPr lang="pt-BR" sz="4500" dirty="0" smtClean="0"/>
          </a:p>
          <a:p>
            <a:pPr marL="914400" indent="-914400" eaLnBrk="1" hangingPunct="1">
              <a:buAutoNum type="arabicParenR"/>
            </a:pPr>
            <a:endParaRPr lang="pt-BR" sz="4500" dirty="0" smtClean="0"/>
          </a:p>
          <a:p>
            <a:pPr marL="914400" indent="-914400" eaLnBrk="1" hangingPunct="1">
              <a:buAutoNum type="arabicParenR"/>
            </a:pPr>
            <a:endParaRPr lang="pt-BR" sz="4500" dirty="0" smtClean="0"/>
          </a:p>
          <a:p>
            <a:pPr marL="914400" indent="-914400" eaLnBrk="1" hangingPunct="1">
              <a:buAutoNum type="arabicParenR"/>
            </a:pPr>
            <a:endParaRPr lang="pt-BR" sz="4500" dirty="0" smtClean="0"/>
          </a:p>
          <a:p>
            <a:pPr marL="914400" indent="-914400" algn="just" eaLnBrk="1" hangingPunct="1">
              <a:buNone/>
            </a:pPr>
            <a:r>
              <a:rPr lang="pt-BR" sz="9600" dirty="0" smtClean="0"/>
              <a:t>        </a:t>
            </a:r>
          </a:p>
          <a:p>
            <a:pPr marL="914400" indent="-914400" algn="just">
              <a:buNone/>
            </a:pPr>
            <a:r>
              <a:rPr lang="pt-BR" sz="9600" dirty="0" smtClean="0">
                <a:latin typeface="Times New Roman" pitchFamily="18" charset="0"/>
                <a:cs typeface="Times New Roman" pitchFamily="18" charset="0"/>
              </a:rPr>
              <a:t>2) Escreva um algoritmo que calcule a raiz de uma função pelo método </a:t>
            </a:r>
            <a:r>
              <a:rPr lang="pt-BR" sz="9600" dirty="0" smtClean="0"/>
              <a:t>das cordas </a:t>
            </a:r>
            <a:r>
              <a:rPr lang="pt-BR" sz="9600" dirty="0" smtClean="0">
                <a:latin typeface="Times New Roman" pitchFamily="18" charset="0"/>
                <a:cs typeface="Times New Roman" pitchFamily="18" charset="0"/>
              </a:rPr>
              <a:t>, tendo como dados de entrada a função, o intervalo e a tolerância. </a:t>
            </a:r>
          </a:p>
          <a:p>
            <a:pPr marL="914400" indent="-914400" eaLnBrk="1" hangingPunct="1">
              <a:buAutoNum type="arabicParenR"/>
            </a:pPr>
            <a:endParaRPr lang="pt-BR" sz="4500" dirty="0" smtClean="0"/>
          </a:p>
          <a:p>
            <a:pPr marL="914400" indent="-914400" eaLnBrk="1" hangingPunct="1">
              <a:buAutoNum type="arabicParenR"/>
            </a:pPr>
            <a:endParaRPr lang="pt-BR" sz="4500" dirty="0" smtClean="0"/>
          </a:p>
          <a:p>
            <a:pPr>
              <a:spcAft>
                <a:spcPts val="0"/>
              </a:spcAft>
            </a:pPr>
            <a:endParaRPr lang="pt-BR" sz="3600" dirty="0" smtClean="0">
              <a:latin typeface="Times New Roman"/>
              <a:ea typeface="Times New Roman"/>
            </a:endParaRPr>
          </a:p>
          <a:p>
            <a:pPr eaLnBrk="1" hangingPunct="1">
              <a:buNone/>
            </a:pPr>
            <a:endParaRPr lang="pt-BR" sz="3400" dirty="0" smtClean="0"/>
          </a:p>
          <a:p>
            <a:pPr>
              <a:buNone/>
            </a:pPr>
            <a:endParaRPr lang="pt-BR" sz="6000" dirty="0" smtClean="0"/>
          </a:p>
          <a:p>
            <a:pPr eaLnBrk="1" hangingPunct="1">
              <a:buNone/>
            </a:pPr>
            <a:endParaRPr lang="pt-BR" sz="6000" dirty="0" smtClean="0"/>
          </a:p>
          <a:p>
            <a:pPr eaLnBrk="1" hangingPunct="1">
              <a:buNone/>
            </a:pPr>
            <a:endParaRPr lang="pt-BR" sz="6000" dirty="0" smtClean="0"/>
          </a:p>
          <a:p>
            <a:pPr eaLnBrk="1" hangingPunct="1">
              <a:buNone/>
            </a:pPr>
            <a:endParaRPr lang="pt-BR" sz="6000" dirty="0" smtClean="0"/>
          </a:p>
          <a:p>
            <a:pPr eaLnBrk="1" hangingPunct="1">
              <a:buNone/>
            </a:pPr>
            <a:endParaRPr lang="pt-BR" sz="6000" dirty="0" smtClean="0"/>
          </a:p>
          <a:p>
            <a:pPr>
              <a:buNone/>
            </a:pPr>
            <a:r>
              <a:rPr lang="pt-BR" sz="2800" dirty="0" smtClean="0"/>
              <a:t>	</a:t>
            </a:r>
            <a:endParaRPr lang="pt-BR" sz="2800" dirty="0" smtClean="0">
              <a:sym typeface="Symbol" pitchFamily="18" charset="2"/>
            </a:endParaRPr>
          </a:p>
          <a:p>
            <a:pPr eaLnBrk="1" hangingPunct="1">
              <a:buNone/>
            </a:pPr>
            <a:endParaRPr lang="pt-BR" sz="2800" dirty="0" smtClean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39</a:t>
            </a:fld>
            <a:endParaRPr lang="pt-BR" altLang="en-US"/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9" name="Tabela 8"/>
          <p:cNvGraphicFramePr>
            <a:graphicFrameLocks noGrp="1"/>
          </p:cNvGraphicFramePr>
          <p:nvPr/>
        </p:nvGraphicFramePr>
        <p:xfrm>
          <a:off x="2374582" y="2970530"/>
          <a:ext cx="4394835" cy="916940"/>
        </p:xfrm>
        <a:graphic>
          <a:graphicData uri="http://schemas.openxmlformats.org/drawingml/2006/table">
            <a:tbl>
              <a:tblPr/>
              <a:tblGrid>
                <a:gridCol w="2197100"/>
                <a:gridCol w="2197735"/>
              </a:tblGrid>
              <a:tr h="4584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BR" sz="12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BR" sz="12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84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BR" sz="12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BR" sz="12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ela 16"/>
          <p:cNvGraphicFramePr>
            <a:graphicFrameLocks noGrp="1"/>
          </p:cNvGraphicFramePr>
          <p:nvPr/>
        </p:nvGraphicFramePr>
        <p:xfrm>
          <a:off x="2374582" y="2970530"/>
          <a:ext cx="4394835" cy="916940"/>
        </p:xfrm>
        <a:graphic>
          <a:graphicData uri="http://schemas.openxmlformats.org/drawingml/2006/table">
            <a:tbl>
              <a:tblPr/>
              <a:tblGrid>
                <a:gridCol w="2197100"/>
                <a:gridCol w="2197735"/>
              </a:tblGrid>
              <a:tr h="4584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BR" sz="12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BR" sz="12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84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BR" sz="12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BR" sz="12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6820" name="Picture 2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2357430"/>
            <a:ext cx="8358246" cy="1839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39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511300"/>
            <a:ext cx="8154988" cy="4876800"/>
          </a:xfrm>
          <a:noFill/>
          <a:ln/>
        </p:spPr>
        <p:txBody>
          <a:bodyPr/>
          <a:lstStyle/>
          <a:p>
            <a:pPr marL="342900" indent="-342900">
              <a:lnSpc>
                <a:spcPct val="90000"/>
              </a:lnSpc>
              <a:buNone/>
            </a:pPr>
            <a:endParaRPr lang="pt-BR" sz="1200" dirty="0" smtClean="0">
              <a:solidFill>
                <a:srgbClr val="B4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42900" indent="-342900">
              <a:lnSpc>
                <a:spcPct val="90000"/>
              </a:lnSpc>
              <a:buNone/>
            </a:pPr>
            <a:endParaRPr lang="pt-BR" sz="1200" dirty="0" smtClean="0">
              <a:solidFill>
                <a:srgbClr val="B4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42900" indent="-342900">
              <a:lnSpc>
                <a:spcPct val="90000"/>
              </a:lnSpc>
              <a:buNone/>
            </a:pPr>
            <a:endParaRPr lang="pt-BR" sz="1200" dirty="0" smtClean="0">
              <a:solidFill>
                <a:srgbClr val="B4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42900" indent="-342900">
              <a:lnSpc>
                <a:spcPct val="90000"/>
              </a:lnSpc>
              <a:buNone/>
            </a:pPr>
            <a:endParaRPr lang="pt-BR" sz="1200" dirty="0">
              <a:solidFill>
                <a:srgbClr val="B4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42900" indent="-342900"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sz="2600" dirty="0"/>
              <a:t>	</a:t>
            </a:r>
            <a:r>
              <a:rPr lang="pt-BR" sz="2800" i="1" dirty="0"/>
              <a:t>Dada uma função </a:t>
            </a:r>
            <a:r>
              <a:rPr lang="pt-BR" sz="2800" i="1" dirty="0">
                <a:solidFill>
                  <a:srgbClr val="B4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f(x)</a:t>
            </a:r>
            <a:r>
              <a:rPr lang="pt-BR" sz="2800" i="1" dirty="0"/>
              <a:t> contínua no intervalo </a:t>
            </a:r>
            <a:r>
              <a:rPr lang="pt-BR" sz="2800" i="1" dirty="0">
                <a:solidFill>
                  <a:srgbClr val="B4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[a,b]</a:t>
            </a:r>
            <a:r>
              <a:rPr lang="pt-BR" sz="2800" i="1" dirty="0"/>
              <a:t> onde existe uma raiz única, é possível determinar uma aproximação de tal raiz a partir da interseção da tangente à curva em um ponto </a:t>
            </a:r>
            <a:r>
              <a:rPr lang="pt-BR" sz="2800" i="1" dirty="0">
                <a:solidFill>
                  <a:srgbClr val="B4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pt-BR" sz="2800" i="1" baseline="-25000" dirty="0">
                <a:solidFill>
                  <a:srgbClr val="B4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pt-BR" sz="2800" i="1" baseline="-25000" dirty="0">
                <a:solidFill>
                  <a:srgbClr val="A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pt-BR" sz="2800" i="1" dirty="0"/>
              <a:t>com o eixo das abscissas.</a:t>
            </a:r>
          </a:p>
          <a:p>
            <a:pPr marL="342900" indent="-34290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sz="1200" i="1" dirty="0">
                <a:solidFill>
                  <a:srgbClr val="A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</a:p>
          <a:p>
            <a:pPr marL="342900" indent="-34290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sz="2600" i="1" dirty="0">
                <a:solidFill>
                  <a:srgbClr val="A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endParaRPr lang="pt-BR" sz="2600" i="1" dirty="0"/>
          </a:p>
        </p:txBody>
      </p:sp>
      <p:sp>
        <p:nvSpPr>
          <p:cNvPr id="6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</p:spPr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40</a:t>
            </a:fld>
            <a:endParaRPr lang="pt-BR" altLang="en-US" dirty="0"/>
          </a:p>
        </p:txBody>
      </p:sp>
      <p:sp>
        <p:nvSpPr>
          <p:cNvPr id="955395" name="Rectangle 3"/>
          <p:cNvSpPr>
            <a:spLocks noChangeArrowheads="1"/>
          </p:cNvSpPr>
          <p:nvPr/>
        </p:nvSpPr>
        <p:spPr bwMode="auto">
          <a:xfrm>
            <a:off x="323528" y="1124744"/>
            <a:ext cx="8407400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just"/>
            <a:r>
              <a:rPr lang="pt-BR" sz="4000" dirty="0" smtClean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/>
            </a:r>
            <a:br>
              <a:rPr lang="pt-BR" sz="4000" dirty="0" smtClean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</a:br>
            <a:r>
              <a:rPr lang="pt-BR" sz="4400" dirty="0" smtClean="0">
                <a:solidFill>
                  <a:srgbClr val="13657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Método de </a:t>
            </a:r>
            <a:r>
              <a:rPr lang="pt-BR" sz="4400" dirty="0" err="1" smtClean="0">
                <a:solidFill>
                  <a:srgbClr val="13657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Newton-Raphson</a:t>
            </a:r>
            <a:endParaRPr lang="pt-BR" sz="4400" dirty="0">
              <a:solidFill>
                <a:srgbClr val="13657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</p:spPr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41</a:t>
            </a:fld>
            <a:endParaRPr lang="pt-BR" altLang="en-US" dirty="0"/>
          </a:p>
        </p:txBody>
      </p:sp>
      <p:pic>
        <p:nvPicPr>
          <p:cNvPr id="1136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8" y="428604"/>
            <a:ext cx="8001056" cy="5304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366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00562" y="5000636"/>
            <a:ext cx="3900495" cy="128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</p:spPr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42</a:t>
            </a:fld>
            <a:endParaRPr lang="pt-BR" altLang="en-US" dirty="0"/>
          </a:p>
        </p:txBody>
      </p:sp>
      <p:pic>
        <p:nvPicPr>
          <p:cNvPr id="1146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6658" y="1142984"/>
            <a:ext cx="4794234" cy="4633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</p:spPr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43</a:t>
            </a:fld>
            <a:endParaRPr lang="pt-BR" altLang="en-US" dirty="0"/>
          </a:p>
        </p:txBody>
      </p:sp>
      <p:pic>
        <p:nvPicPr>
          <p:cNvPr id="1157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0673" y="928670"/>
            <a:ext cx="5717623" cy="521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</p:spPr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44</a:t>
            </a:fld>
            <a:endParaRPr lang="pt-BR" altLang="en-US" dirty="0"/>
          </a:p>
        </p:txBody>
      </p:sp>
      <p:sp>
        <p:nvSpPr>
          <p:cNvPr id="4" name="CaixaDeTexto 3"/>
          <p:cNvSpPr txBox="1"/>
          <p:nvPr/>
        </p:nvSpPr>
        <p:spPr>
          <a:xfrm>
            <a:off x="714348" y="285728"/>
            <a:ext cx="6143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1"/>
              </a:buClr>
              <a:buFont typeface="Wingdings" pitchFamily="2" charset="2"/>
              <a:buChar char="Ø"/>
            </a:pPr>
            <a:r>
              <a:rPr lang="pt-BR" sz="2800" dirty="0" smtClean="0"/>
              <a:t>   Por indução:</a:t>
            </a:r>
            <a:endParaRPr lang="pt-BR" sz="2800" dirty="0"/>
          </a:p>
        </p:txBody>
      </p:sp>
      <p:graphicFrame>
        <p:nvGraphicFramePr>
          <p:cNvPr id="7" name="Objeto 6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p:oleObj spid="_x0000_s116739" name="Equação" r:id="rId4" imgW="114120" imgH="215640" progId="Equation.3">
              <p:embed/>
            </p:oleObj>
          </a:graphicData>
        </a:graphic>
      </p:graphicFrame>
      <p:graphicFrame>
        <p:nvGraphicFramePr>
          <p:cNvPr id="8" name="Objeto 7"/>
          <p:cNvGraphicFramePr>
            <a:graphicFrameLocks noChangeAspect="1"/>
          </p:cNvGraphicFramePr>
          <p:nvPr/>
        </p:nvGraphicFramePr>
        <p:xfrm>
          <a:off x="1285875" y="842963"/>
          <a:ext cx="6858000" cy="1628775"/>
        </p:xfrm>
        <a:graphic>
          <a:graphicData uri="http://schemas.openxmlformats.org/presentationml/2006/ole">
            <p:oleObj spid="_x0000_s116740" name="Equação" r:id="rId5" imgW="2031840" imgH="482400" progId="Equation.3">
              <p:embed/>
            </p:oleObj>
          </a:graphicData>
        </a:graphic>
      </p:graphicFrame>
      <p:sp>
        <p:nvSpPr>
          <p:cNvPr id="9" name="CaixaDeTexto 8"/>
          <p:cNvSpPr txBox="1"/>
          <p:nvPr/>
        </p:nvSpPr>
        <p:spPr>
          <a:xfrm>
            <a:off x="642910" y="2786058"/>
            <a:ext cx="6143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1"/>
              </a:buClr>
              <a:buFont typeface="Wingdings" pitchFamily="2" charset="2"/>
              <a:buChar char="Ø"/>
            </a:pPr>
            <a:r>
              <a:rPr lang="pt-BR" sz="2800" dirty="0" smtClean="0"/>
              <a:t> Escolha de</a:t>
            </a:r>
            <a:endParaRPr lang="pt-BR" sz="2800" dirty="0"/>
          </a:p>
        </p:txBody>
      </p:sp>
      <p:graphicFrame>
        <p:nvGraphicFramePr>
          <p:cNvPr id="116741" name="Object 5"/>
          <p:cNvGraphicFramePr>
            <a:graphicFrameLocks noChangeAspect="1"/>
          </p:cNvGraphicFramePr>
          <p:nvPr/>
        </p:nvGraphicFramePr>
        <p:xfrm>
          <a:off x="2928926" y="2643182"/>
          <a:ext cx="784225" cy="831850"/>
        </p:xfrm>
        <a:graphic>
          <a:graphicData uri="http://schemas.openxmlformats.org/presentationml/2006/ole">
            <p:oleObj spid="_x0000_s116741" name="Equação" r:id="rId6" imgW="215640" imgH="228600" progId="Equation.3">
              <p:embed/>
            </p:oleObj>
          </a:graphicData>
        </a:graphic>
      </p:graphicFrame>
      <p:graphicFrame>
        <p:nvGraphicFramePr>
          <p:cNvPr id="116742" name="Object 6"/>
          <p:cNvGraphicFramePr>
            <a:graphicFrameLocks noChangeAspect="1"/>
          </p:cNvGraphicFramePr>
          <p:nvPr/>
        </p:nvGraphicFramePr>
        <p:xfrm>
          <a:off x="3000365" y="3571876"/>
          <a:ext cx="3429024" cy="763625"/>
        </p:xfrm>
        <a:graphic>
          <a:graphicData uri="http://schemas.openxmlformats.org/presentationml/2006/ole">
            <p:oleObj spid="_x0000_s116742" name="Equação" r:id="rId7" imgW="1028520" imgH="228600" progId="Equation.3">
              <p:embed/>
            </p:oleObj>
          </a:graphicData>
        </a:graphic>
      </p:graphicFrame>
      <p:sp>
        <p:nvSpPr>
          <p:cNvPr id="12" name="CaixaDeTexto 11"/>
          <p:cNvSpPr txBox="1"/>
          <p:nvPr/>
        </p:nvSpPr>
        <p:spPr>
          <a:xfrm>
            <a:off x="785786" y="4572008"/>
            <a:ext cx="6143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1"/>
              </a:buClr>
              <a:buFont typeface="Wingdings" pitchFamily="2" charset="2"/>
              <a:buChar char="Ø"/>
            </a:pPr>
            <a:r>
              <a:rPr lang="pt-BR" sz="2800" dirty="0" smtClean="0"/>
              <a:t> Teste de parada:</a:t>
            </a:r>
            <a:endParaRPr lang="pt-BR" sz="2800" dirty="0"/>
          </a:p>
        </p:txBody>
      </p:sp>
      <p:graphicFrame>
        <p:nvGraphicFramePr>
          <p:cNvPr id="116743" name="Object 7"/>
          <p:cNvGraphicFramePr>
            <a:graphicFrameLocks noChangeAspect="1"/>
          </p:cNvGraphicFramePr>
          <p:nvPr/>
        </p:nvGraphicFramePr>
        <p:xfrm>
          <a:off x="3124200" y="5459413"/>
          <a:ext cx="2751138" cy="847725"/>
        </p:xfrm>
        <a:graphic>
          <a:graphicData uri="http://schemas.openxmlformats.org/presentationml/2006/ole">
            <p:oleObj spid="_x0000_s116743" name="Equação" r:id="rId8" imgW="825480" imgH="253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85" name="Rectangle 5"/>
          <p:cNvSpPr>
            <a:spLocks noChangeArrowheads="1"/>
          </p:cNvSpPr>
          <p:nvPr/>
        </p:nvSpPr>
        <p:spPr bwMode="auto">
          <a:xfrm>
            <a:off x="495300" y="3579813"/>
            <a:ext cx="735330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just">
              <a:lnSpc>
                <a:spcPct val="85000"/>
              </a:lnSpc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pt-BR" sz="2600" dirty="0">
              <a:solidFill>
                <a:srgbClr val="B40000"/>
              </a:solidFill>
              <a:effectLst>
                <a:outerShdw blurRad="38100" dist="38100" dir="2700000" algn="tl">
                  <a:srgbClr val="C0C0C0"/>
                </a:outerShdw>
              </a:effectLst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993286" name="Rectangle 6"/>
          <p:cNvSpPr>
            <a:spLocks noChangeArrowheads="1"/>
          </p:cNvSpPr>
          <p:nvPr/>
        </p:nvSpPr>
        <p:spPr bwMode="auto">
          <a:xfrm>
            <a:off x="495300" y="4140200"/>
            <a:ext cx="735330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just">
              <a:lnSpc>
                <a:spcPct val="85000"/>
              </a:lnSpc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pt-BR" sz="2600" i="1" dirty="0">
              <a:effectLst>
                <a:outerShdw blurRad="38100" dist="38100" dir="2700000" algn="tl">
                  <a:srgbClr val="C0C0C0"/>
                </a:outerShdw>
              </a:effectLst>
              <a:cs typeface="Times New Roman" pitchFamily="18" charset="0"/>
            </a:endParaRPr>
          </a:p>
        </p:txBody>
      </p:sp>
      <p:sp>
        <p:nvSpPr>
          <p:cNvPr id="993288" name="Rectangle 8"/>
          <p:cNvSpPr>
            <a:spLocks noChangeArrowheads="1"/>
          </p:cNvSpPr>
          <p:nvPr/>
        </p:nvSpPr>
        <p:spPr bwMode="auto">
          <a:xfrm>
            <a:off x="357158" y="428604"/>
            <a:ext cx="8154988" cy="148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61950" indent="-361950" algn="just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tabLst>
                <a:tab pos="1619250" algn="l"/>
              </a:tabLst>
            </a:pPr>
            <a:r>
              <a:rPr lang="pt-BR" sz="3600" dirty="0"/>
              <a:t>Exemplo </a:t>
            </a:r>
            <a:r>
              <a:rPr lang="pt-BR" sz="3600" dirty="0" smtClean="0"/>
              <a:t>:  </a:t>
            </a:r>
          </a:p>
          <a:p>
            <a:pPr marL="361950" indent="-361950" algn="just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tabLst>
                <a:tab pos="1619250" algn="l"/>
              </a:tabLst>
            </a:pPr>
            <a:r>
              <a:rPr lang="pt-BR" sz="3200" i="1" dirty="0" smtClean="0"/>
              <a:t>f(x)=</a:t>
            </a:r>
            <a:r>
              <a:rPr lang="pt-BR" sz="3200" i="1" dirty="0" err="1" smtClean="0"/>
              <a:t>xlogx</a:t>
            </a:r>
            <a:r>
              <a:rPr lang="pt-BR" sz="3200" i="1" dirty="0" smtClean="0"/>
              <a:t>-1  com</a:t>
            </a:r>
            <a:endParaRPr lang="pt-BR" sz="3200" dirty="0">
              <a:solidFill>
                <a:srgbClr val="00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8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</p:spPr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45</a:t>
            </a:fld>
            <a:endParaRPr lang="pt-BR" altLang="en-US" dirty="0"/>
          </a:p>
        </p:txBody>
      </p:sp>
      <p:graphicFrame>
        <p:nvGraphicFramePr>
          <p:cNvPr id="6" name="Objeto 5"/>
          <p:cNvGraphicFramePr>
            <a:graphicFrameLocks noChangeAspect="1"/>
          </p:cNvGraphicFramePr>
          <p:nvPr/>
        </p:nvGraphicFramePr>
        <p:xfrm>
          <a:off x="3689350" y="1125538"/>
          <a:ext cx="1354138" cy="503237"/>
        </p:xfrm>
        <a:graphic>
          <a:graphicData uri="http://schemas.openxmlformats.org/presentationml/2006/ole">
            <p:oleObj spid="_x0000_s193537" name="Equação" r:id="rId4" imgW="54576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85" name="Rectangle 5"/>
          <p:cNvSpPr>
            <a:spLocks noChangeArrowheads="1"/>
          </p:cNvSpPr>
          <p:nvPr/>
        </p:nvSpPr>
        <p:spPr bwMode="auto">
          <a:xfrm>
            <a:off x="495300" y="3579813"/>
            <a:ext cx="735330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just">
              <a:lnSpc>
                <a:spcPct val="85000"/>
              </a:lnSpc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pt-BR" sz="2600" dirty="0">
              <a:solidFill>
                <a:srgbClr val="B40000"/>
              </a:solidFill>
              <a:effectLst>
                <a:outerShdw blurRad="38100" dist="38100" dir="2700000" algn="tl">
                  <a:srgbClr val="C0C0C0"/>
                </a:outerShdw>
              </a:effectLst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993286" name="Rectangle 6"/>
          <p:cNvSpPr>
            <a:spLocks noChangeArrowheads="1"/>
          </p:cNvSpPr>
          <p:nvPr/>
        </p:nvSpPr>
        <p:spPr bwMode="auto">
          <a:xfrm>
            <a:off x="495300" y="4140200"/>
            <a:ext cx="735330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just">
              <a:lnSpc>
                <a:spcPct val="85000"/>
              </a:lnSpc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pt-BR" sz="2600" i="1" dirty="0">
              <a:effectLst>
                <a:outerShdw blurRad="38100" dist="38100" dir="2700000" algn="tl">
                  <a:srgbClr val="C0C0C0"/>
                </a:outerShdw>
              </a:effectLst>
              <a:cs typeface="Times New Roman" pitchFamily="18" charset="0"/>
            </a:endParaRPr>
          </a:p>
        </p:txBody>
      </p:sp>
      <p:sp>
        <p:nvSpPr>
          <p:cNvPr id="993288" name="Rectangle 8"/>
          <p:cNvSpPr>
            <a:spLocks noChangeArrowheads="1"/>
          </p:cNvSpPr>
          <p:nvPr/>
        </p:nvSpPr>
        <p:spPr bwMode="auto">
          <a:xfrm>
            <a:off x="357158" y="428604"/>
            <a:ext cx="8154988" cy="148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61950" indent="-361950" algn="just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tabLst>
                <a:tab pos="1619250" algn="l"/>
              </a:tabLst>
            </a:pPr>
            <a:endParaRPr lang="pt-BR" sz="2800" i="1" dirty="0" smtClean="0">
              <a:solidFill>
                <a:srgbClr val="B4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marL="361950" indent="-361950" algn="just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tabLst>
                <a:tab pos="1619250" algn="l"/>
              </a:tabLst>
            </a:pPr>
            <a:endParaRPr lang="pt-BR" sz="2800" dirty="0">
              <a:solidFill>
                <a:srgbClr val="000000"/>
              </a:solidFill>
              <a:latin typeface="+mj-lt"/>
              <a:cs typeface="Times New Roman" pitchFamily="18" charset="0"/>
            </a:endParaRPr>
          </a:p>
        </p:txBody>
      </p:sp>
      <p:graphicFrame>
        <p:nvGraphicFramePr>
          <p:cNvPr id="10" name="Objeto 9"/>
          <p:cNvGraphicFramePr>
            <a:graphicFrameLocks noChangeAspect="1"/>
          </p:cNvGraphicFramePr>
          <p:nvPr/>
        </p:nvGraphicFramePr>
        <p:xfrm>
          <a:off x="714348" y="500042"/>
          <a:ext cx="3701271" cy="5636257"/>
        </p:xfrm>
        <a:graphic>
          <a:graphicData uri="http://schemas.openxmlformats.org/presentationml/2006/ole">
            <p:oleObj spid="_x0000_s117762" name="Equação" r:id="rId4" imgW="1434960" imgH="2184120" progId="Equation.3">
              <p:embed/>
            </p:oleObj>
          </a:graphicData>
        </a:graphic>
      </p:graphicFrame>
      <p:graphicFrame>
        <p:nvGraphicFramePr>
          <p:cNvPr id="11" name="Objeto 10"/>
          <p:cNvGraphicFramePr>
            <a:graphicFrameLocks noChangeAspect="1"/>
          </p:cNvGraphicFramePr>
          <p:nvPr/>
        </p:nvGraphicFramePr>
        <p:xfrm>
          <a:off x="5337175" y="600075"/>
          <a:ext cx="3689350" cy="6008688"/>
        </p:xfrm>
        <a:graphic>
          <a:graphicData uri="http://schemas.openxmlformats.org/presentationml/2006/ole">
            <p:oleObj spid="_x0000_s117763" name="Equação" r:id="rId5" imgW="1676160" imgH="2730240" progId="Equation.3">
              <p:embed/>
            </p:oleObj>
          </a:graphicData>
        </a:graphic>
      </p:graphicFrame>
      <p:sp>
        <p:nvSpPr>
          <p:cNvPr id="8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</p:spPr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46</a:t>
            </a:fld>
            <a:endParaRPr lang="pt-B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306" name="Rectangle 2"/>
          <p:cNvSpPr>
            <a:spLocks noChangeArrowheads="1"/>
          </p:cNvSpPr>
          <p:nvPr/>
        </p:nvSpPr>
        <p:spPr bwMode="auto">
          <a:xfrm>
            <a:off x="467544" y="1124744"/>
            <a:ext cx="8154988" cy="287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55600" indent="-355600">
              <a:buClr>
                <a:schemeClr val="folHlink"/>
              </a:buClr>
              <a:buSzPct val="75000"/>
              <a:buFont typeface="Wingdings" pitchFamily="2" charset="2"/>
              <a:buChar char="n"/>
              <a:tabLst>
                <a:tab pos="2247900" algn="l"/>
              </a:tabLst>
            </a:pPr>
            <a:r>
              <a:rPr lang="pt-BR" sz="2600" dirty="0" smtClean="0"/>
              <a:t>Calcule a raiz negativa de: </a:t>
            </a:r>
            <a:endParaRPr lang="pt-BR" sz="2600" dirty="0"/>
          </a:p>
          <a:p>
            <a:pPr marL="355600" indent="-355600">
              <a:tabLst>
                <a:tab pos="2247900" algn="l"/>
              </a:tabLst>
            </a:pPr>
            <a:r>
              <a:rPr lang="pt-BR" sz="1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</a:t>
            </a:r>
            <a:endParaRPr lang="pt-BR" sz="1400" dirty="0">
              <a:solidFill>
                <a:srgbClr val="CC3300"/>
              </a:solidFill>
            </a:endParaRPr>
          </a:p>
          <a:p>
            <a:pPr marL="901700" lvl="1" indent="-366713">
              <a:buClr>
                <a:schemeClr val="tx2"/>
              </a:buClr>
              <a:buFont typeface="Wingdings" pitchFamily="2" charset="2"/>
              <a:buNone/>
              <a:tabLst>
                <a:tab pos="2247900" algn="l"/>
              </a:tabLst>
            </a:pPr>
            <a:r>
              <a:rPr lang="pt-BR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pt-BR" sz="500" dirty="0">
              <a:solidFill>
                <a:srgbClr val="B4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901700" lvl="1" indent="-366713">
              <a:buClr>
                <a:schemeClr val="folHlink"/>
              </a:buClr>
              <a:buFont typeface="Webdings" pitchFamily="18" charset="2"/>
              <a:buChar char="4"/>
              <a:tabLst>
                <a:tab pos="2247900" algn="l"/>
              </a:tabLst>
            </a:pPr>
            <a:endParaRPr lang="pt-BR" sz="500" dirty="0"/>
          </a:p>
        </p:txBody>
      </p:sp>
      <p:sp>
        <p:nvSpPr>
          <p:cNvPr id="994310" name="Rectangle 6"/>
          <p:cNvSpPr>
            <a:spLocks noChangeArrowheads="1"/>
          </p:cNvSpPr>
          <p:nvPr/>
        </p:nvSpPr>
        <p:spPr bwMode="auto">
          <a:xfrm>
            <a:off x="962025" y="533400"/>
            <a:ext cx="8407400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just"/>
            <a:endParaRPr lang="pt-BR" sz="3600" dirty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8" name="Objeto 7"/>
          <p:cNvGraphicFramePr>
            <a:graphicFrameLocks noChangeAspect="1"/>
          </p:cNvGraphicFramePr>
          <p:nvPr/>
        </p:nvGraphicFramePr>
        <p:xfrm>
          <a:off x="971599" y="1988840"/>
          <a:ext cx="6628009" cy="648072"/>
        </p:xfrm>
        <a:graphic>
          <a:graphicData uri="http://schemas.openxmlformats.org/presentationml/2006/ole">
            <p:oleObj spid="_x0000_s68610" name="Equação" r:id="rId4" imgW="2857320" imgH="279360" progId="Equation.3">
              <p:embed/>
            </p:oleObj>
          </a:graphicData>
        </a:graphic>
      </p:graphicFrame>
      <p:sp>
        <p:nvSpPr>
          <p:cNvPr id="6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</p:spPr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47</a:t>
            </a:fld>
            <a:endParaRPr lang="pt-B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306" name="Rectangle 2"/>
          <p:cNvSpPr>
            <a:spLocks noChangeArrowheads="1"/>
          </p:cNvSpPr>
          <p:nvPr/>
        </p:nvSpPr>
        <p:spPr bwMode="auto">
          <a:xfrm>
            <a:off x="357158" y="357166"/>
            <a:ext cx="8154988" cy="4004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55600" indent="-355600">
              <a:buClr>
                <a:schemeClr val="folHlink"/>
              </a:buClr>
              <a:buSzPct val="75000"/>
              <a:buFont typeface="Wingdings" pitchFamily="2" charset="2"/>
              <a:buChar char="n"/>
              <a:tabLst>
                <a:tab pos="2247900" algn="l"/>
              </a:tabLst>
            </a:pPr>
            <a:r>
              <a:rPr lang="pt-BR" sz="2600" dirty="0" smtClean="0"/>
              <a:t>Utilizando o método de Newton, desenvolva um procedimento para calcular :</a:t>
            </a:r>
            <a:endParaRPr lang="pt-BR" sz="2600" dirty="0"/>
          </a:p>
          <a:p>
            <a:pPr marL="355600" indent="-355600">
              <a:tabLst>
                <a:tab pos="2247900" algn="l"/>
              </a:tabLst>
            </a:pPr>
            <a:r>
              <a:rPr lang="pt-BR" sz="1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</a:t>
            </a:r>
            <a:endParaRPr lang="pt-BR" sz="1400" dirty="0">
              <a:solidFill>
                <a:srgbClr val="CC3300"/>
              </a:solidFill>
            </a:endParaRPr>
          </a:p>
          <a:p>
            <a:pPr marL="901700" lvl="1" indent="-366713">
              <a:buClr>
                <a:schemeClr val="tx2"/>
              </a:buClr>
              <a:buFont typeface="Wingdings" pitchFamily="2" charset="2"/>
              <a:buNone/>
              <a:tabLst>
                <a:tab pos="2247900" algn="l"/>
              </a:tabLst>
            </a:pPr>
            <a:r>
              <a:rPr lang="pt-BR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pt-BR" sz="500" dirty="0"/>
          </a:p>
        </p:txBody>
      </p:sp>
      <p:sp>
        <p:nvSpPr>
          <p:cNvPr id="6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</p:spPr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48</a:t>
            </a:fld>
            <a:endParaRPr lang="pt-BR" altLang="en-US" dirty="0"/>
          </a:p>
        </p:txBody>
      </p:sp>
      <p:graphicFrame>
        <p:nvGraphicFramePr>
          <p:cNvPr id="139267" name="Object 2"/>
          <p:cNvGraphicFramePr>
            <a:graphicFrameLocks noChangeAspect="1"/>
          </p:cNvGraphicFramePr>
          <p:nvPr/>
        </p:nvGraphicFramePr>
        <p:xfrm>
          <a:off x="527050" y="1500188"/>
          <a:ext cx="5099050" cy="588962"/>
        </p:xfrm>
        <a:graphic>
          <a:graphicData uri="http://schemas.openxmlformats.org/presentationml/2006/ole">
            <p:oleObj spid="_x0000_s139267" name="Equação" r:id="rId4" imgW="2197080" imgH="253800" progId="Equation.3">
              <p:embed/>
            </p:oleObj>
          </a:graphicData>
        </a:graphic>
      </p:graphicFrame>
      <p:graphicFrame>
        <p:nvGraphicFramePr>
          <p:cNvPr id="139269" name="Object 2"/>
          <p:cNvGraphicFramePr>
            <a:graphicFrameLocks noChangeAspect="1"/>
          </p:cNvGraphicFramePr>
          <p:nvPr/>
        </p:nvGraphicFramePr>
        <p:xfrm>
          <a:off x="500034" y="2428868"/>
          <a:ext cx="5273675" cy="588963"/>
        </p:xfrm>
        <a:graphic>
          <a:graphicData uri="http://schemas.openxmlformats.org/presentationml/2006/ole">
            <p:oleObj spid="_x0000_s139269" name="Equação" r:id="rId5" imgW="2273040" imgH="253800" progId="Equation.3">
              <p:embed/>
            </p:oleObj>
          </a:graphicData>
        </a:graphic>
      </p:graphicFrame>
      <p:graphicFrame>
        <p:nvGraphicFramePr>
          <p:cNvPr id="139270" name="Object 2"/>
          <p:cNvGraphicFramePr>
            <a:graphicFrameLocks noChangeAspect="1"/>
          </p:cNvGraphicFramePr>
          <p:nvPr/>
        </p:nvGraphicFramePr>
        <p:xfrm>
          <a:off x="571472" y="3500438"/>
          <a:ext cx="4862512" cy="588962"/>
        </p:xfrm>
        <a:graphic>
          <a:graphicData uri="http://schemas.openxmlformats.org/presentationml/2006/ole">
            <p:oleObj spid="_x0000_s139270" name="Equação" r:id="rId6" imgW="2095200" imgH="253800" progId="Equation.3">
              <p:embed/>
            </p:oleObj>
          </a:graphicData>
        </a:graphic>
      </p:graphicFrame>
      <p:graphicFrame>
        <p:nvGraphicFramePr>
          <p:cNvPr id="139271" name="Object 2"/>
          <p:cNvGraphicFramePr>
            <a:graphicFrameLocks noChangeAspect="1"/>
          </p:cNvGraphicFramePr>
          <p:nvPr/>
        </p:nvGraphicFramePr>
        <p:xfrm>
          <a:off x="571472" y="4572008"/>
          <a:ext cx="5097462" cy="588962"/>
        </p:xfrm>
        <a:graphic>
          <a:graphicData uri="http://schemas.openxmlformats.org/presentationml/2006/ole">
            <p:oleObj spid="_x0000_s139271" name="Equação" r:id="rId7" imgW="2197080" imgH="253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306" name="Rectangle 2"/>
          <p:cNvSpPr>
            <a:spLocks noChangeArrowheads="1"/>
          </p:cNvSpPr>
          <p:nvPr/>
        </p:nvSpPr>
        <p:spPr bwMode="auto">
          <a:xfrm>
            <a:off x="357158" y="357166"/>
            <a:ext cx="8154988" cy="5857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55600" indent="-355600">
              <a:buClr>
                <a:schemeClr val="folHlink"/>
              </a:buClr>
              <a:buSzPct val="75000"/>
              <a:buFont typeface="Wingdings" pitchFamily="2" charset="2"/>
              <a:buChar char="n"/>
              <a:tabLst>
                <a:tab pos="2247900" algn="l"/>
              </a:tabLst>
            </a:pPr>
            <a:r>
              <a:rPr lang="pt-BR" sz="2600" dirty="0" smtClean="0"/>
              <a:t>Exercícios práticos:</a:t>
            </a:r>
          </a:p>
          <a:p>
            <a:pPr marL="355600" indent="-355600">
              <a:buClr>
                <a:schemeClr val="folHlink"/>
              </a:buClr>
              <a:buSzPct val="75000"/>
              <a:buFont typeface="Wingdings" pitchFamily="2" charset="2"/>
              <a:buChar char="n"/>
              <a:tabLst>
                <a:tab pos="2247900" algn="l"/>
              </a:tabLst>
            </a:pPr>
            <a:endParaRPr lang="pt-BR" sz="2600" dirty="0" smtClean="0"/>
          </a:p>
          <a:p>
            <a:pPr marL="514350" indent="-514350">
              <a:buClr>
                <a:schemeClr val="folHlink"/>
              </a:buClr>
              <a:buSzPct val="75000"/>
              <a:buAutoNum type="arabicParenR"/>
              <a:tabLst>
                <a:tab pos="2247900" algn="l"/>
              </a:tabLst>
            </a:pPr>
            <a:r>
              <a:rPr lang="pt-BR" sz="2600" dirty="0" smtClean="0"/>
              <a:t>Implemente os métodos da Bisseção, </a:t>
            </a:r>
            <a:r>
              <a:rPr lang="pt-BR" sz="2800" dirty="0" smtClean="0"/>
              <a:t>das cordas </a:t>
            </a:r>
            <a:r>
              <a:rPr lang="pt-BR" sz="2600" dirty="0" smtClean="0"/>
              <a:t>e de Newton.</a:t>
            </a:r>
          </a:p>
          <a:p>
            <a:pPr marL="514350" indent="-514350">
              <a:buClr>
                <a:schemeClr val="folHlink"/>
              </a:buClr>
              <a:buSzPct val="75000"/>
              <a:buAutoNum type="arabicParenR"/>
              <a:tabLst>
                <a:tab pos="2247900" algn="l"/>
              </a:tabLst>
            </a:pPr>
            <a:endParaRPr lang="pt-BR" sz="2600" dirty="0" smtClean="0"/>
          </a:p>
          <a:p>
            <a:pPr marL="514350" indent="-514350">
              <a:buClr>
                <a:schemeClr val="folHlink"/>
              </a:buClr>
              <a:buSzPct val="75000"/>
              <a:buAutoNum type="arabicParenR"/>
              <a:tabLst>
                <a:tab pos="2247900" algn="l"/>
              </a:tabLst>
            </a:pPr>
            <a:r>
              <a:rPr lang="pt-BR" sz="2600" dirty="0" smtClean="0"/>
              <a:t>Implemente um procedimento para calcular </a:t>
            </a:r>
          </a:p>
          <a:p>
            <a:pPr marL="514350" indent="-514350">
              <a:buClr>
                <a:schemeClr val="folHlink"/>
              </a:buClr>
              <a:buSzPct val="75000"/>
              <a:buAutoNum type="arabicParenR"/>
              <a:tabLst>
                <a:tab pos="2247900" algn="l"/>
              </a:tabLst>
            </a:pPr>
            <a:endParaRPr lang="pt-BR" sz="2600" dirty="0" smtClean="0"/>
          </a:p>
          <a:p>
            <a:pPr marL="514350" indent="-514350">
              <a:buClr>
                <a:schemeClr val="folHlink"/>
              </a:buClr>
              <a:buSzPct val="75000"/>
              <a:buAutoNum type="arabicParenR"/>
              <a:tabLst>
                <a:tab pos="2247900" algn="l"/>
              </a:tabLst>
            </a:pPr>
            <a:endParaRPr lang="pt-BR" sz="2600" dirty="0" smtClean="0"/>
          </a:p>
          <a:p>
            <a:pPr marL="514350" indent="-514350">
              <a:buClr>
                <a:schemeClr val="folHlink"/>
              </a:buClr>
              <a:buSzPct val="75000"/>
              <a:buAutoNum type="arabicParenR"/>
              <a:tabLst>
                <a:tab pos="2247900" algn="l"/>
              </a:tabLst>
            </a:pPr>
            <a:endParaRPr lang="pt-BR" sz="2600" dirty="0" smtClean="0"/>
          </a:p>
          <a:p>
            <a:pPr marL="514350" indent="-514350">
              <a:buClr>
                <a:schemeClr val="folHlink"/>
              </a:buClr>
              <a:buSzPct val="75000"/>
              <a:buAutoNum type="arabicParenR"/>
              <a:tabLst>
                <a:tab pos="2247900" algn="l"/>
              </a:tabLst>
            </a:pPr>
            <a:r>
              <a:rPr lang="pt-BR" sz="2600" dirty="0" smtClean="0"/>
              <a:t>Realize um estudo de procedimentos para reconhecimento/interpretação de funções como dados de entrada de um programa.</a:t>
            </a:r>
          </a:p>
          <a:p>
            <a:pPr marL="514350" indent="-514350">
              <a:buClr>
                <a:schemeClr val="folHlink"/>
              </a:buClr>
              <a:buSzPct val="75000"/>
              <a:buAutoNum type="arabicParenR"/>
              <a:tabLst>
                <a:tab pos="2247900" algn="l"/>
              </a:tabLst>
            </a:pPr>
            <a:endParaRPr lang="pt-BR" sz="2600" dirty="0" smtClean="0"/>
          </a:p>
          <a:p>
            <a:pPr marL="812800" lvl="1" indent="-355600">
              <a:buClr>
                <a:schemeClr val="folHlink"/>
              </a:buClr>
              <a:buSzPct val="75000"/>
              <a:tabLst>
                <a:tab pos="2247900" algn="l"/>
              </a:tabLst>
            </a:pPr>
            <a:endParaRPr lang="pt-BR" sz="2600" dirty="0" smtClean="0"/>
          </a:p>
          <a:p>
            <a:pPr marL="812800" lvl="1" indent="-355600">
              <a:buClr>
                <a:schemeClr val="folHlink"/>
              </a:buClr>
              <a:buSzPct val="75000"/>
              <a:tabLst>
                <a:tab pos="2247900" algn="l"/>
              </a:tabLst>
            </a:pPr>
            <a:endParaRPr lang="pt-BR" sz="2600" dirty="0" smtClean="0"/>
          </a:p>
          <a:p>
            <a:pPr marL="812800" lvl="1" indent="-355600">
              <a:buClr>
                <a:schemeClr val="folHlink"/>
              </a:buClr>
              <a:buSzPct val="75000"/>
              <a:tabLst>
                <a:tab pos="2247900" algn="l"/>
              </a:tabLst>
            </a:pPr>
            <a:endParaRPr lang="pt-BR" sz="2600" dirty="0" smtClean="0"/>
          </a:p>
          <a:p>
            <a:pPr marL="812800" lvl="1" indent="-355600">
              <a:buClr>
                <a:schemeClr val="folHlink"/>
              </a:buClr>
              <a:buSzPct val="75000"/>
              <a:buFont typeface="Wingdings" pitchFamily="2" charset="2"/>
              <a:buChar char="n"/>
              <a:tabLst>
                <a:tab pos="2247900" algn="l"/>
              </a:tabLst>
            </a:pPr>
            <a:endParaRPr lang="pt-BR" sz="2600" dirty="0" smtClean="0"/>
          </a:p>
          <a:p>
            <a:pPr marL="812800" lvl="1" indent="-355600">
              <a:buClr>
                <a:schemeClr val="folHlink"/>
              </a:buClr>
              <a:buSzPct val="75000"/>
              <a:buFont typeface="Wingdings" pitchFamily="2" charset="2"/>
              <a:buChar char="n"/>
              <a:tabLst>
                <a:tab pos="2247900" algn="l"/>
              </a:tabLst>
            </a:pPr>
            <a:endParaRPr lang="pt-BR" sz="2600" dirty="0" smtClean="0"/>
          </a:p>
          <a:p>
            <a:pPr marL="812800" lvl="1" indent="-355600">
              <a:buClr>
                <a:schemeClr val="folHlink"/>
              </a:buClr>
              <a:buSzPct val="75000"/>
              <a:buFont typeface="Wingdings" pitchFamily="2" charset="2"/>
              <a:buChar char="n"/>
              <a:tabLst>
                <a:tab pos="2247900" algn="l"/>
              </a:tabLst>
            </a:pPr>
            <a:endParaRPr lang="pt-BR" sz="2600" dirty="0"/>
          </a:p>
          <a:p>
            <a:pPr marL="355600" indent="-355600">
              <a:tabLst>
                <a:tab pos="2247900" algn="l"/>
              </a:tabLst>
            </a:pPr>
            <a:r>
              <a:rPr lang="pt-BR" sz="1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</a:t>
            </a:r>
            <a:endParaRPr lang="pt-BR" sz="1400" dirty="0">
              <a:solidFill>
                <a:srgbClr val="CC3300"/>
              </a:solidFill>
            </a:endParaRPr>
          </a:p>
          <a:p>
            <a:pPr marL="901700" lvl="1" indent="-366713">
              <a:buClr>
                <a:schemeClr val="tx2"/>
              </a:buClr>
              <a:buFont typeface="Wingdings" pitchFamily="2" charset="2"/>
              <a:buNone/>
              <a:tabLst>
                <a:tab pos="2247900" algn="l"/>
              </a:tabLst>
            </a:pPr>
            <a:r>
              <a:rPr lang="pt-BR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pt-BR" sz="500" dirty="0"/>
          </a:p>
        </p:txBody>
      </p:sp>
      <p:sp>
        <p:nvSpPr>
          <p:cNvPr id="6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</p:spPr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49</a:t>
            </a:fld>
            <a:endParaRPr lang="pt-BR" altLang="en-US" dirty="0"/>
          </a:p>
        </p:txBody>
      </p:sp>
      <p:graphicFrame>
        <p:nvGraphicFramePr>
          <p:cNvPr id="139271" name="Object 2"/>
          <p:cNvGraphicFramePr>
            <a:graphicFrameLocks noChangeAspect="1"/>
          </p:cNvGraphicFramePr>
          <p:nvPr/>
        </p:nvGraphicFramePr>
        <p:xfrm>
          <a:off x="1000100" y="2928934"/>
          <a:ext cx="1916113" cy="588963"/>
        </p:xfrm>
        <a:graphic>
          <a:graphicData uri="http://schemas.openxmlformats.org/presentationml/2006/ole">
            <p:oleObj spid="_x0000_s140293" name="Equação" r:id="rId4" imgW="825480" imgH="253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666" name="Rectangle 2"/>
          <p:cNvSpPr>
            <a:spLocks noGrp="1" noChangeArrowheads="1"/>
          </p:cNvSpPr>
          <p:nvPr>
            <p:ph idx="1"/>
          </p:nvPr>
        </p:nvSpPr>
        <p:spPr>
          <a:xfrm>
            <a:off x="495300" y="1511300"/>
            <a:ext cx="8154988" cy="5043488"/>
          </a:xfrm>
          <a:noFill/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Char char="Ø"/>
              <a:tabLst>
                <a:tab pos="723900" algn="l"/>
              </a:tabLst>
            </a:pPr>
            <a:r>
              <a:rPr lang="pt-BR" sz="3600" dirty="0" smtClean="0">
                <a:solidFill>
                  <a:srgbClr val="B4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Bissecção</a:t>
            </a:r>
          </a:p>
          <a:p>
            <a:pPr algn="ctr">
              <a:spcBef>
                <a:spcPct val="0"/>
              </a:spcBef>
              <a:buFont typeface="Webdings" pitchFamily="18" charset="2"/>
              <a:buNone/>
              <a:tabLst>
                <a:tab pos="723900" algn="l"/>
              </a:tabLst>
            </a:pPr>
            <a:r>
              <a:rPr lang="pt-BR" sz="2800" u="sng" dirty="0" smtClean="0">
                <a:solidFill>
                  <a:srgbClr val="B4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Vantagens</a:t>
            </a:r>
            <a:endParaRPr lang="pt-BR" sz="2800" u="sng" dirty="0">
              <a:solidFill>
                <a:srgbClr val="B4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spcBef>
                <a:spcPct val="0"/>
              </a:spcBef>
              <a:buFont typeface="Webdings" pitchFamily="18" charset="2"/>
              <a:buNone/>
              <a:tabLst>
                <a:tab pos="723900" algn="l"/>
              </a:tabLst>
            </a:pPr>
            <a:endParaRPr lang="pt-BR" sz="1400" dirty="0">
              <a:solidFill>
                <a:srgbClr val="B4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spcBef>
                <a:spcPct val="0"/>
              </a:spcBef>
              <a:tabLst>
                <a:tab pos="723900" algn="l"/>
              </a:tabLst>
            </a:pPr>
            <a:r>
              <a:rPr lang="pt-BR" sz="2400" dirty="0" smtClean="0"/>
              <a:t>Facilidade de implementação;</a:t>
            </a:r>
          </a:p>
          <a:p>
            <a:pPr>
              <a:spcBef>
                <a:spcPct val="0"/>
              </a:spcBef>
              <a:tabLst>
                <a:tab pos="723900" algn="l"/>
              </a:tabLst>
            </a:pPr>
            <a:endParaRPr lang="pt-BR" sz="2400" b="0" dirty="0"/>
          </a:p>
          <a:p>
            <a:pPr>
              <a:spcBef>
                <a:spcPct val="0"/>
              </a:spcBef>
              <a:tabLst>
                <a:tab pos="723900" algn="l"/>
              </a:tabLst>
            </a:pPr>
            <a:r>
              <a:rPr lang="pt-BR" sz="2400" dirty="0"/>
              <a:t>Estabilidade e convergência para a solução procurada;</a:t>
            </a:r>
          </a:p>
          <a:p>
            <a:pPr>
              <a:spcBef>
                <a:spcPct val="0"/>
              </a:spcBef>
              <a:tabLst>
                <a:tab pos="723900" algn="l"/>
              </a:tabLst>
            </a:pPr>
            <a:endParaRPr lang="pt-BR" sz="2400" b="0" dirty="0"/>
          </a:p>
          <a:p>
            <a:pPr>
              <a:spcBef>
                <a:spcPct val="0"/>
              </a:spcBef>
              <a:tabLst>
                <a:tab pos="723900" algn="l"/>
              </a:tabLst>
            </a:pPr>
            <a:r>
              <a:rPr lang="pt-BR" sz="2400" dirty="0"/>
              <a:t>Desempenho regular e previsível.</a:t>
            </a:r>
          </a:p>
          <a:p>
            <a:pPr>
              <a:spcBef>
                <a:spcPct val="0"/>
              </a:spcBef>
              <a:buFont typeface="Webdings" pitchFamily="18" charset="2"/>
              <a:buNone/>
              <a:tabLst>
                <a:tab pos="723900" algn="l"/>
              </a:tabLst>
            </a:pPr>
            <a:r>
              <a:rPr lang="pt-BR" b="0" dirty="0" smtClean="0">
                <a:solidFill>
                  <a:srgbClr val="000099"/>
                </a:solidFill>
              </a:rPr>
              <a:t> </a:t>
            </a:r>
            <a:endParaRPr lang="pt-BR" b="0" dirty="0">
              <a:solidFill>
                <a:srgbClr val="000099"/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CE55-9E9E-4630-B219-742BD672AB65}" type="slidenum">
              <a:rPr lang="pt-BR"/>
              <a:pPr/>
              <a:t>50</a:t>
            </a:fld>
            <a:endParaRPr lang="pt-BR"/>
          </a:p>
        </p:txBody>
      </p:sp>
      <p:sp>
        <p:nvSpPr>
          <p:cNvPr id="753669" name="Rectangle 5"/>
          <p:cNvSpPr>
            <a:spLocks noChangeArrowheads="1"/>
          </p:cNvSpPr>
          <p:nvPr/>
        </p:nvSpPr>
        <p:spPr bwMode="auto">
          <a:xfrm>
            <a:off x="683568" y="533400"/>
            <a:ext cx="8293745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just"/>
            <a:r>
              <a:rPr lang="pt-BR" sz="4000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Algumas considerações</a:t>
            </a:r>
            <a:endParaRPr lang="pt-BR" sz="4000" dirty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714" name="Rectangle 2"/>
          <p:cNvSpPr>
            <a:spLocks noGrp="1" noChangeArrowheads="1"/>
          </p:cNvSpPr>
          <p:nvPr>
            <p:ph idx="1"/>
          </p:nvPr>
        </p:nvSpPr>
        <p:spPr>
          <a:xfrm>
            <a:off x="495300" y="1511300"/>
            <a:ext cx="8154988" cy="4452938"/>
          </a:xfrm>
          <a:noFill/>
        </p:spPr>
        <p:txBody>
          <a:bodyPr/>
          <a:lstStyle/>
          <a:p>
            <a:pPr algn="ctr">
              <a:spcBef>
                <a:spcPct val="0"/>
              </a:spcBef>
              <a:buFont typeface="Webdings" pitchFamily="18" charset="2"/>
              <a:buNone/>
              <a:tabLst>
                <a:tab pos="723900" algn="l"/>
              </a:tabLst>
            </a:pPr>
            <a:r>
              <a:rPr lang="pt-BR" u="sng" dirty="0" smtClean="0">
                <a:solidFill>
                  <a:srgbClr val="B4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Desvantagens</a:t>
            </a:r>
            <a:endParaRPr lang="pt-BR" u="sng" dirty="0">
              <a:solidFill>
                <a:srgbClr val="B4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spcBef>
                <a:spcPct val="0"/>
              </a:spcBef>
              <a:buFont typeface="Webdings" pitchFamily="18" charset="2"/>
              <a:buNone/>
              <a:tabLst>
                <a:tab pos="723900" algn="l"/>
              </a:tabLst>
            </a:pPr>
            <a:endParaRPr lang="pt-BR" sz="1400" dirty="0">
              <a:solidFill>
                <a:srgbClr val="000099"/>
              </a:solidFill>
            </a:endParaRPr>
          </a:p>
          <a:p>
            <a:pPr>
              <a:spcBef>
                <a:spcPct val="0"/>
              </a:spcBef>
              <a:tabLst>
                <a:tab pos="723900" algn="l"/>
              </a:tabLst>
            </a:pPr>
            <a:r>
              <a:rPr lang="pt-BR" sz="2600" dirty="0"/>
              <a:t>Lentidão do processo de convergência (requer o cálculo de </a:t>
            </a:r>
            <a:r>
              <a:rPr lang="pt-BR" sz="2600" i="1" dirty="0">
                <a:solidFill>
                  <a:srgbClr val="B4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f(x)</a:t>
            </a:r>
            <a:r>
              <a:rPr lang="pt-BR" sz="2600" dirty="0"/>
              <a:t> em um elevado número de iterações);</a:t>
            </a:r>
          </a:p>
          <a:p>
            <a:pPr>
              <a:spcBef>
                <a:spcPct val="0"/>
              </a:spcBef>
              <a:tabLst>
                <a:tab pos="723900" algn="l"/>
              </a:tabLst>
            </a:pPr>
            <a:endParaRPr lang="pt-BR" sz="1400" b="0" dirty="0"/>
          </a:p>
          <a:p>
            <a:pPr>
              <a:spcBef>
                <a:spcPct val="0"/>
              </a:spcBef>
              <a:tabLst>
                <a:tab pos="723900" algn="l"/>
              </a:tabLst>
            </a:pPr>
            <a:r>
              <a:rPr lang="pt-BR" sz="2600" dirty="0"/>
              <a:t>Necessidade de conhecimento prévio da região na qual se encontra a raiz de interesse (o que nem sempre é possível);</a:t>
            </a:r>
          </a:p>
          <a:p>
            <a:pPr>
              <a:spcBef>
                <a:spcPct val="0"/>
              </a:spcBef>
              <a:buNone/>
              <a:tabLst>
                <a:tab pos="723900" algn="l"/>
              </a:tabLst>
            </a:pPr>
            <a:endParaRPr lang="pt-BR" sz="1400" b="0" dirty="0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33E2-9708-429A-9E32-96A1421928B6}" type="slidenum">
              <a:rPr lang="pt-BR"/>
              <a:pPr/>
              <a:t>51</a:t>
            </a:fld>
            <a:endParaRPr lang="pt-BR"/>
          </a:p>
        </p:txBody>
      </p:sp>
      <p:sp>
        <p:nvSpPr>
          <p:cNvPr id="755716" name="Rectangle 4"/>
          <p:cNvSpPr>
            <a:spLocks noChangeArrowheads="1"/>
          </p:cNvSpPr>
          <p:nvPr/>
        </p:nvSpPr>
        <p:spPr bwMode="auto">
          <a:xfrm>
            <a:off x="1184275" y="533400"/>
            <a:ext cx="7793038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just"/>
            <a:endParaRPr lang="pt-BR" sz="3600" dirty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546" name="Rectangle 2"/>
          <p:cNvSpPr>
            <a:spLocks noGrp="1" noChangeArrowheads="1"/>
          </p:cNvSpPr>
          <p:nvPr>
            <p:ph idx="1"/>
          </p:nvPr>
        </p:nvSpPr>
        <p:spPr>
          <a:xfrm>
            <a:off x="495300" y="692696"/>
            <a:ext cx="8154988" cy="5862092"/>
          </a:xfrm>
          <a:noFill/>
        </p:spPr>
        <p:txBody>
          <a:bodyPr>
            <a:normAutofit fontScale="85000" lnSpcReduction="20000"/>
          </a:bodyPr>
          <a:lstStyle/>
          <a:p>
            <a:pPr>
              <a:spcBef>
                <a:spcPct val="0"/>
              </a:spcBef>
              <a:buFont typeface="Wingdings" pitchFamily="2" charset="2"/>
              <a:buChar char="Ø"/>
              <a:tabLst>
                <a:tab pos="723900" algn="l"/>
              </a:tabLst>
            </a:pPr>
            <a:r>
              <a:rPr lang="pt-BR" sz="3600" dirty="0" smtClean="0">
                <a:solidFill>
                  <a:srgbClr val="FF0000"/>
                </a:solidFill>
              </a:rPr>
              <a:t>Cordas</a:t>
            </a:r>
          </a:p>
          <a:p>
            <a:pPr>
              <a:spcBef>
                <a:spcPct val="0"/>
              </a:spcBef>
              <a:buFont typeface="Wingdings" pitchFamily="2" charset="2"/>
              <a:buChar char="Ø"/>
              <a:tabLst>
                <a:tab pos="723900" algn="l"/>
              </a:tabLst>
            </a:pPr>
            <a:endParaRPr lang="pt-BR" sz="3600" dirty="0" smtClean="0"/>
          </a:p>
          <a:p>
            <a:pPr algn="ctr">
              <a:spcBef>
                <a:spcPct val="0"/>
              </a:spcBef>
              <a:buNone/>
              <a:tabLst>
                <a:tab pos="723900" algn="l"/>
              </a:tabLst>
            </a:pPr>
            <a:r>
              <a:rPr lang="pt-BR" sz="3600" dirty="0" smtClean="0"/>
              <a:t> </a:t>
            </a:r>
            <a:r>
              <a:rPr lang="pt-BR" u="sng" dirty="0" smtClean="0">
                <a:solidFill>
                  <a:srgbClr val="B4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Vantagens</a:t>
            </a:r>
            <a:endParaRPr lang="pt-BR" u="sng" dirty="0">
              <a:solidFill>
                <a:srgbClr val="B4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spcBef>
                <a:spcPct val="0"/>
              </a:spcBef>
              <a:buFont typeface="Webdings" pitchFamily="18" charset="2"/>
              <a:buNone/>
              <a:tabLst>
                <a:tab pos="723900" algn="l"/>
              </a:tabLst>
            </a:pPr>
            <a:endParaRPr lang="pt-BR" sz="1600" b="0" dirty="0"/>
          </a:p>
          <a:p>
            <a:pPr>
              <a:spcBef>
                <a:spcPct val="0"/>
              </a:spcBef>
              <a:tabLst>
                <a:tab pos="723900" algn="l"/>
              </a:tabLst>
            </a:pPr>
            <a:r>
              <a:rPr lang="pt-BR" sz="2600" dirty="0"/>
              <a:t>Estabilidade e convergência para a solução procurada;</a:t>
            </a:r>
          </a:p>
          <a:p>
            <a:pPr>
              <a:spcBef>
                <a:spcPct val="0"/>
              </a:spcBef>
              <a:tabLst>
                <a:tab pos="723900" algn="l"/>
              </a:tabLst>
            </a:pPr>
            <a:endParaRPr lang="pt-BR" sz="1000" dirty="0"/>
          </a:p>
          <a:p>
            <a:pPr>
              <a:spcBef>
                <a:spcPct val="0"/>
              </a:spcBef>
              <a:tabLst>
                <a:tab pos="723900" algn="l"/>
              </a:tabLst>
            </a:pPr>
            <a:r>
              <a:rPr lang="pt-BR" sz="2600" dirty="0"/>
              <a:t>Desempenho regular e previsível;</a:t>
            </a:r>
          </a:p>
          <a:p>
            <a:pPr>
              <a:spcBef>
                <a:spcPct val="0"/>
              </a:spcBef>
              <a:tabLst>
                <a:tab pos="723900" algn="l"/>
              </a:tabLst>
            </a:pPr>
            <a:endParaRPr lang="pt-BR" sz="1000" b="0" dirty="0"/>
          </a:p>
          <a:p>
            <a:pPr>
              <a:spcBef>
                <a:spcPct val="0"/>
              </a:spcBef>
              <a:tabLst>
                <a:tab pos="723900" algn="l"/>
              </a:tabLst>
            </a:pPr>
            <a:r>
              <a:rPr lang="pt-BR" sz="2600" dirty="0"/>
              <a:t>Cálculos mais simples que o método de Newton</a:t>
            </a:r>
            <a:r>
              <a:rPr lang="pt-BR" sz="2600" dirty="0" smtClean="0"/>
              <a:t>.</a:t>
            </a:r>
          </a:p>
          <a:p>
            <a:pPr algn="ctr">
              <a:spcBef>
                <a:spcPct val="0"/>
              </a:spcBef>
              <a:buFont typeface="Webdings" pitchFamily="18" charset="2"/>
              <a:buNone/>
              <a:tabLst>
                <a:tab pos="723900" algn="l"/>
              </a:tabLst>
            </a:pPr>
            <a:endParaRPr lang="pt-BR" u="sng" dirty="0" smtClean="0">
              <a:solidFill>
                <a:srgbClr val="B4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>
              <a:spcBef>
                <a:spcPct val="0"/>
              </a:spcBef>
              <a:buFont typeface="Webdings" pitchFamily="18" charset="2"/>
              <a:buNone/>
              <a:tabLst>
                <a:tab pos="723900" algn="l"/>
              </a:tabLst>
            </a:pPr>
            <a:r>
              <a:rPr lang="pt-BR" u="sng" dirty="0" smtClean="0">
                <a:solidFill>
                  <a:srgbClr val="B4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Desvantagens</a:t>
            </a:r>
          </a:p>
          <a:p>
            <a:pPr>
              <a:spcBef>
                <a:spcPct val="0"/>
              </a:spcBef>
              <a:buFont typeface="Webdings" pitchFamily="18" charset="2"/>
              <a:buNone/>
              <a:tabLst>
                <a:tab pos="723900" algn="l"/>
              </a:tabLst>
            </a:pPr>
            <a:endParaRPr lang="pt-BR" sz="1600" dirty="0" smtClean="0"/>
          </a:p>
          <a:p>
            <a:pPr>
              <a:spcBef>
                <a:spcPct val="0"/>
              </a:spcBef>
              <a:tabLst>
                <a:tab pos="723900" algn="l"/>
              </a:tabLst>
            </a:pPr>
            <a:r>
              <a:rPr lang="pt-BR" dirty="0" smtClean="0"/>
              <a:t>Lentidão do processo de convergência (requer o cálculo de </a:t>
            </a:r>
            <a:r>
              <a:rPr lang="pt-BR" i="1" dirty="0" smtClean="0">
                <a:solidFill>
                  <a:srgbClr val="B4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f(x)</a:t>
            </a:r>
            <a:r>
              <a:rPr lang="pt-BR" dirty="0" smtClean="0"/>
              <a:t> em um elevado número de iterações)</a:t>
            </a:r>
            <a:r>
              <a:rPr lang="pt-BR" dirty="0" smtClean="0">
                <a:cs typeface="Times New Roman" pitchFamily="18" charset="0"/>
              </a:rPr>
              <a:t>;</a:t>
            </a:r>
          </a:p>
          <a:p>
            <a:pPr>
              <a:spcBef>
                <a:spcPct val="0"/>
              </a:spcBef>
              <a:tabLst>
                <a:tab pos="723900" algn="l"/>
              </a:tabLst>
            </a:pPr>
            <a:endParaRPr lang="pt-BR" sz="1000" dirty="0" smtClean="0"/>
          </a:p>
          <a:p>
            <a:pPr>
              <a:spcBef>
                <a:spcPct val="0"/>
              </a:spcBef>
              <a:tabLst>
                <a:tab pos="723900" algn="l"/>
              </a:tabLst>
            </a:pPr>
            <a:r>
              <a:rPr lang="pt-BR" dirty="0" smtClean="0"/>
              <a:t>Necessidade de conhecimento prévio da região na qual se encontra a raiz de interesse (o que nem sempre é possível).</a:t>
            </a:r>
          </a:p>
          <a:p>
            <a:pPr>
              <a:spcBef>
                <a:spcPct val="0"/>
              </a:spcBef>
              <a:tabLst>
                <a:tab pos="723900" algn="l"/>
              </a:tabLst>
            </a:pPr>
            <a:endParaRPr lang="pt-BR" sz="2600" dirty="0"/>
          </a:p>
          <a:p>
            <a:pPr>
              <a:spcBef>
                <a:spcPct val="0"/>
              </a:spcBef>
              <a:buFont typeface="Webdings" pitchFamily="18" charset="2"/>
              <a:buNone/>
              <a:tabLst>
                <a:tab pos="723900" algn="l"/>
              </a:tabLst>
            </a:pPr>
            <a:r>
              <a:rPr lang="pt-BR" b="0" dirty="0">
                <a:solidFill>
                  <a:srgbClr val="000099"/>
                </a:solidFill>
              </a:rPr>
              <a:t> 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34582-5054-4D56-A5CC-956F427845F2}" type="slidenum">
              <a:rPr lang="pt-BR"/>
              <a:pPr/>
              <a:t>52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618" name="Rectangle 2"/>
          <p:cNvSpPr>
            <a:spLocks noGrp="1" noChangeArrowheads="1"/>
          </p:cNvSpPr>
          <p:nvPr>
            <p:ph idx="1"/>
          </p:nvPr>
        </p:nvSpPr>
        <p:spPr>
          <a:xfrm>
            <a:off x="323528" y="980728"/>
            <a:ext cx="8154988" cy="4942036"/>
          </a:xfrm>
          <a:noFill/>
        </p:spPr>
        <p:txBody>
          <a:bodyPr>
            <a:normAutofit fontScale="92500" lnSpcReduction="20000"/>
          </a:bodyPr>
          <a:lstStyle/>
          <a:p>
            <a:pPr>
              <a:spcBef>
                <a:spcPct val="0"/>
              </a:spcBef>
              <a:buFont typeface="Wingdings" pitchFamily="2" charset="2"/>
              <a:buChar char="Ø"/>
              <a:tabLst>
                <a:tab pos="723900" algn="l"/>
              </a:tabLst>
            </a:pPr>
            <a:r>
              <a:rPr lang="pt-BR" sz="3600" dirty="0" err="1" smtClean="0">
                <a:solidFill>
                  <a:srgbClr val="B4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Newton-Raphson</a:t>
            </a:r>
            <a:endParaRPr lang="pt-BR" sz="3600" dirty="0" smtClean="0">
              <a:solidFill>
                <a:srgbClr val="B4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>
              <a:spcBef>
                <a:spcPct val="0"/>
              </a:spcBef>
              <a:buFont typeface="Webdings" pitchFamily="18" charset="2"/>
              <a:buNone/>
              <a:tabLst>
                <a:tab pos="723900" algn="l"/>
              </a:tabLst>
            </a:pPr>
            <a:r>
              <a:rPr lang="pt-BR" u="sng" dirty="0" smtClean="0">
                <a:solidFill>
                  <a:srgbClr val="B4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Vantagens</a:t>
            </a:r>
            <a:endParaRPr lang="pt-BR" sz="1400" u="sng" dirty="0">
              <a:solidFill>
                <a:srgbClr val="B4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spcBef>
                <a:spcPct val="0"/>
              </a:spcBef>
              <a:tabLst>
                <a:tab pos="723900" algn="l"/>
              </a:tabLst>
            </a:pPr>
            <a:endParaRPr lang="pt-BR" sz="1600" b="0" dirty="0"/>
          </a:p>
          <a:p>
            <a:pPr>
              <a:spcBef>
                <a:spcPct val="0"/>
              </a:spcBef>
              <a:tabLst>
                <a:tab pos="723900" algn="l"/>
              </a:tabLst>
            </a:pPr>
            <a:r>
              <a:rPr lang="pt-BR" sz="2600" dirty="0"/>
              <a:t>Rapidez </a:t>
            </a:r>
            <a:r>
              <a:rPr lang="pt-BR" sz="2600" dirty="0" smtClean="0"/>
              <a:t>no processo </a:t>
            </a:r>
            <a:r>
              <a:rPr lang="pt-BR" sz="2600" dirty="0"/>
              <a:t>de convergência;</a:t>
            </a:r>
          </a:p>
          <a:p>
            <a:pPr>
              <a:spcBef>
                <a:spcPct val="0"/>
              </a:spcBef>
              <a:tabLst>
                <a:tab pos="723900" algn="l"/>
              </a:tabLst>
            </a:pPr>
            <a:endParaRPr lang="pt-BR" sz="1400" b="0" dirty="0"/>
          </a:p>
          <a:p>
            <a:pPr>
              <a:spcBef>
                <a:spcPct val="0"/>
              </a:spcBef>
              <a:tabLst>
                <a:tab pos="723900" algn="l"/>
              </a:tabLst>
            </a:pPr>
            <a:r>
              <a:rPr lang="pt-BR" sz="2600" dirty="0"/>
              <a:t>Desempenho elevado</a:t>
            </a:r>
            <a:r>
              <a:rPr lang="pt-BR" sz="2600" dirty="0" smtClean="0"/>
              <a:t>.</a:t>
            </a:r>
          </a:p>
          <a:p>
            <a:pPr algn="ctr">
              <a:spcBef>
                <a:spcPct val="0"/>
              </a:spcBef>
              <a:buFont typeface="Webdings" pitchFamily="18" charset="2"/>
              <a:buNone/>
              <a:tabLst>
                <a:tab pos="723900" algn="l"/>
              </a:tabLst>
            </a:pPr>
            <a:r>
              <a:rPr lang="pt-BR" u="sng" dirty="0" smtClean="0">
                <a:solidFill>
                  <a:srgbClr val="B4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Desvantagens</a:t>
            </a:r>
          </a:p>
          <a:p>
            <a:pPr>
              <a:spcBef>
                <a:spcPct val="0"/>
              </a:spcBef>
              <a:buFont typeface="Webdings" pitchFamily="18" charset="2"/>
              <a:buNone/>
              <a:tabLst>
                <a:tab pos="723900" algn="l"/>
              </a:tabLst>
            </a:pPr>
            <a:endParaRPr lang="pt-BR" sz="1600" dirty="0" smtClean="0"/>
          </a:p>
          <a:p>
            <a:pPr>
              <a:spcBef>
                <a:spcPct val="0"/>
              </a:spcBef>
              <a:tabLst>
                <a:tab pos="723900" algn="l"/>
              </a:tabLst>
            </a:pPr>
            <a:r>
              <a:rPr lang="pt-BR" dirty="0" smtClean="0"/>
              <a:t>Necessidade da obtenção de </a:t>
            </a:r>
            <a:r>
              <a:rPr lang="pt-BR" i="1" dirty="0" smtClean="0">
                <a:solidFill>
                  <a:srgbClr val="B4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18" charset="0"/>
              </a:rPr>
              <a:t>f’(x)</a:t>
            </a:r>
            <a:r>
              <a:rPr lang="pt-BR" i="1" dirty="0" smtClean="0">
                <a:solidFill>
                  <a:srgbClr val="B40000"/>
                </a:solidFill>
                <a:cs typeface="Times New Roman" pitchFamily="18" charset="0"/>
              </a:rPr>
              <a:t> </a:t>
            </a:r>
            <a:r>
              <a:rPr lang="pt-BR" i="1" dirty="0" smtClean="0">
                <a:cs typeface="Times New Roman" pitchFamily="18" charset="0"/>
              </a:rPr>
              <a:t>, o que pode ser impossível em determinados casos;</a:t>
            </a:r>
          </a:p>
          <a:p>
            <a:pPr>
              <a:spcBef>
                <a:spcPct val="0"/>
              </a:spcBef>
              <a:tabLst>
                <a:tab pos="723900" algn="l"/>
              </a:tabLst>
            </a:pPr>
            <a:endParaRPr lang="pt-BR" sz="1400" dirty="0" smtClean="0"/>
          </a:p>
          <a:p>
            <a:pPr>
              <a:spcBef>
                <a:spcPct val="0"/>
              </a:spcBef>
              <a:tabLst>
                <a:tab pos="723900" algn="l"/>
              </a:tabLst>
            </a:pPr>
            <a:r>
              <a:rPr lang="pt-BR" dirty="0" smtClean="0"/>
              <a:t>O cálculo do valor numérico de </a:t>
            </a:r>
            <a:r>
              <a:rPr lang="pt-BR" i="1" dirty="0" smtClean="0">
                <a:solidFill>
                  <a:srgbClr val="B4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18" charset="0"/>
              </a:rPr>
              <a:t>f’(x)</a:t>
            </a:r>
            <a:r>
              <a:rPr lang="pt-BR" i="1" dirty="0" smtClean="0">
                <a:solidFill>
                  <a:srgbClr val="B40000"/>
                </a:solidFill>
                <a:cs typeface="Times New Roman" pitchFamily="18" charset="0"/>
              </a:rPr>
              <a:t> </a:t>
            </a:r>
            <a:r>
              <a:rPr lang="pt-BR" dirty="0" smtClean="0"/>
              <a:t>a cada iteração;</a:t>
            </a:r>
          </a:p>
          <a:p>
            <a:pPr>
              <a:spcBef>
                <a:spcPct val="0"/>
              </a:spcBef>
              <a:tabLst>
                <a:tab pos="723900" algn="l"/>
              </a:tabLst>
            </a:pPr>
            <a:endParaRPr lang="pt-BR" sz="1400" dirty="0" smtClean="0"/>
          </a:p>
          <a:p>
            <a:pPr>
              <a:spcBef>
                <a:spcPct val="0"/>
              </a:spcBef>
              <a:tabLst>
                <a:tab pos="723900" algn="l"/>
              </a:tabLst>
            </a:pPr>
            <a:r>
              <a:rPr lang="pt-BR" dirty="0" smtClean="0"/>
              <a:t>Difícil implementação.</a:t>
            </a:r>
          </a:p>
          <a:p>
            <a:pPr>
              <a:spcBef>
                <a:spcPct val="0"/>
              </a:spcBef>
              <a:tabLst>
                <a:tab pos="723900" algn="l"/>
              </a:tabLst>
            </a:pPr>
            <a:endParaRPr lang="pt-BR" b="0" dirty="0">
              <a:solidFill>
                <a:srgbClr val="000099"/>
              </a:solidFill>
            </a:endParaRP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D5249-0D45-4259-B12C-762D69BC46F4}" type="slidenum">
              <a:rPr lang="pt-BR"/>
              <a:pPr/>
              <a:t>53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Bibliografia</a:t>
            </a:r>
            <a:endParaRPr lang="pt-BR" dirty="0"/>
          </a:p>
        </p:txBody>
      </p:sp>
      <p:sp>
        <p:nvSpPr>
          <p:cNvPr id="8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 smtClean="0"/>
              <a:t>BARROSO, L. C.; BARROSO, M. M. A.; CAMPOS, FILHO, F. F.; CARVALHO, M. L. B. &amp; MAIA, M. L. </a:t>
            </a:r>
            <a:r>
              <a:rPr lang="pt-BR" u="sng" dirty="0" smtClean="0"/>
              <a:t>Cálculo Numérico (com aplicações)</a:t>
            </a:r>
            <a:r>
              <a:rPr lang="pt-BR" dirty="0" smtClean="0"/>
              <a:t>. Editora </a:t>
            </a:r>
            <a:r>
              <a:rPr lang="pt-BR" dirty="0" err="1" smtClean="0"/>
              <a:t>Harbra</a:t>
            </a:r>
            <a:r>
              <a:rPr lang="pt-BR" dirty="0" smtClean="0"/>
              <a:t>, São Paulo, 1987.</a:t>
            </a:r>
          </a:p>
          <a:p>
            <a:r>
              <a:rPr lang="pt-BR" dirty="0" smtClean="0"/>
              <a:t>RUGGIERO, M. A. G.; LOPES, V. L. R.; </a:t>
            </a:r>
            <a:r>
              <a:rPr lang="pt-BR" u="sng" dirty="0" smtClean="0"/>
              <a:t>Cálculo Numérico- Aspectos teóricos e </a:t>
            </a:r>
            <a:r>
              <a:rPr lang="pt-BR" dirty="0" smtClean="0"/>
              <a:t>computacional. </a:t>
            </a:r>
            <a:r>
              <a:rPr lang="pt-BR" dirty="0" err="1" smtClean="0"/>
              <a:t>Makron</a:t>
            </a:r>
            <a:r>
              <a:rPr lang="pt-BR" dirty="0" smtClean="0"/>
              <a:t> books, São Paulo, 1996.</a:t>
            </a:r>
          </a:p>
          <a:p>
            <a:r>
              <a:rPr lang="pt-BR" sz="2800" dirty="0" smtClean="0"/>
              <a:t>Queiroz, B. C. N.; Queiroz, J. E. R.; Barros, M. A.; Resolução Numérica de Equações Parte II. </a:t>
            </a:r>
            <a:r>
              <a:rPr lang="pt-BR" dirty="0" smtClean="0"/>
              <a:t>Disponível em: </a:t>
            </a:r>
            <a:r>
              <a:rPr lang="pt-BR" sz="1600" dirty="0" smtClean="0">
                <a:hlinkClick r:id="rId2"/>
              </a:rPr>
              <a:t>http://www.google.com.br/url?</a:t>
            </a:r>
            <a:r>
              <a:rPr lang="pt-BR" sz="1600" dirty="0" err="1" smtClean="0">
                <a:hlinkClick r:id="rId2"/>
              </a:rPr>
              <a:t>sa</a:t>
            </a:r>
            <a:r>
              <a:rPr lang="pt-BR" sz="1600" dirty="0" smtClean="0">
                <a:hlinkClick r:id="rId2"/>
              </a:rPr>
              <a:t>=</a:t>
            </a:r>
            <a:r>
              <a:rPr lang="pt-BR" sz="1600" dirty="0" err="1" smtClean="0">
                <a:hlinkClick r:id="rId2"/>
              </a:rPr>
              <a:t>t&amp;rct</a:t>
            </a:r>
            <a:r>
              <a:rPr lang="pt-BR" sz="1600" dirty="0" smtClean="0">
                <a:hlinkClick r:id="rId2"/>
              </a:rPr>
              <a:t>=</a:t>
            </a:r>
            <a:r>
              <a:rPr lang="pt-BR" sz="1600" dirty="0" err="1" smtClean="0">
                <a:hlinkClick r:id="rId2"/>
              </a:rPr>
              <a:t>j&amp;q</a:t>
            </a:r>
            <a:r>
              <a:rPr lang="pt-BR" sz="1600" dirty="0" smtClean="0">
                <a:hlinkClick r:id="rId2"/>
              </a:rPr>
              <a:t>=</a:t>
            </a:r>
            <a:r>
              <a:rPr lang="pt-BR" sz="1600" dirty="0" err="1" smtClean="0">
                <a:hlinkClick r:id="rId2"/>
              </a:rPr>
              <a:t>resolu</a:t>
            </a:r>
            <a:r>
              <a:rPr lang="pt-BR" sz="1600" dirty="0" smtClean="0">
                <a:hlinkClick r:id="rId2"/>
              </a:rPr>
              <a:t>%C3%A7%C3%A3o%20num%C3%A9rica%20de%20equa%C3%A7%C3%B5es%20parte%20ii&amp;source=</a:t>
            </a:r>
            <a:r>
              <a:rPr lang="pt-BR" sz="1600" dirty="0" err="1" smtClean="0">
                <a:hlinkClick r:id="rId2"/>
              </a:rPr>
              <a:t>web&amp;cd</a:t>
            </a:r>
            <a:r>
              <a:rPr lang="pt-BR" sz="1600" dirty="0" smtClean="0">
                <a:hlinkClick r:id="rId2"/>
              </a:rPr>
              <a:t>=10&amp;</a:t>
            </a:r>
            <a:r>
              <a:rPr lang="pt-BR" sz="1600" dirty="0" err="1" smtClean="0">
                <a:hlinkClick r:id="rId2"/>
              </a:rPr>
              <a:t>ved</a:t>
            </a:r>
            <a:r>
              <a:rPr lang="pt-BR" sz="1600" dirty="0" smtClean="0">
                <a:hlinkClick r:id="rId2"/>
              </a:rPr>
              <a:t>=0CGcQFjAJ&amp;url=</a:t>
            </a:r>
            <a:r>
              <a:rPr lang="pt-BR" sz="1600" dirty="0" err="1" smtClean="0">
                <a:hlinkClick r:id="rId2"/>
              </a:rPr>
              <a:t>http</a:t>
            </a:r>
            <a:r>
              <a:rPr lang="pt-BR" sz="1600" dirty="0" smtClean="0">
                <a:hlinkClick r:id="rId2"/>
              </a:rPr>
              <a:t>%3A%2F%2Fwww.</a:t>
            </a:r>
            <a:r>
              <a:rPr lang="pt-BR" sz="1600" dirty="0" err="1" smtClean="0">
                <a:hlinkClick r:id="rId2"/>
              </a:rPr>
              <a:t>dsc</a:t>
            </a:r>
            <a:r>
              <a:rPr lang="pt-BR" sz="1600" dirty="0" smtClean="0">
                <a:hlinkClick r:id="rId2"/>
              </a:rPr>
              <a:t>.ufcg.edu.</a:t>
            </a:r>
            <a:r>
              <a:rPr lang="pt-BR" sz="1600" dirty="0" err="1" smtClean="0">
                <a:hlinkClick r:id="rId2"/>
              </a:rPr>
              <a:t>br</a:t>
            </a:r>
            <a:r>
              <a:rPr lang="pt-BR" sz="1600" dirty="0" smtClean="0">
                <a:hlinkClick r:id="rId2"/>
              </a:rPr>
              <a:t>%2F</a:t>
            </a:r>
            <a:r>
              <a:rPr lang="pt-BR" sz="1600" dirty="0" err="1" smtClean="0">
                <a:hlinkClick r:id="rId2"/>
              </a:rPr>
              <a:t>~cnum</a:t>
            </a:r>
            <a:r>
              <a:rPr lang="pt-BR" sz="1600" dirty="0" smtClean="0">
                <a:hlinkClick r:id="rId2"/>
              </a:rPr>
              <a:t>%2Fmodulos%2FModulo4%2FCN_Parte2_</a:t>
            </a:r>
            <a:r>
              <a:rPr lang="pt-BR" sz="1600" dirty="0" err="1" smtClean="0">
                <a:hlinkClick r:id="rId2"/>
              </a:rPr>
              <a:t>Metodos</a:t>
            </a:r>
            <a:r>
              <a:rPr lang="pt-BR" sz="1600" dirty="0" smtClean="0">
                <a:hlinkClick r:id="rId2"/>
              </a:rPr>
              <a:t>.</a:t>
            </a:r>
            <a:r>
              <a:rPr lang="pt-BR" sz="1600" dirty="0" err="1" smtClean="0">
                <a:hlinkClick r:id="rId2"/>
              </a:rPr>
              <a:t>ppt&amp;ei</a:t>
            </a:r>
            <a:r>
              <a:rPr lang="pt-BR" sz="1600" dirty="0" smtClean="0">
                <a:hlinkClick r:id="rId2"/>
              </a:rPr>
              <a:t>=oZSFT7G5F4Si8QSRhpCwCA&amp;</a:t>
            </a:r>
            <a:r>
              <a:rPr lang="pt-BR" sz="1600" dirty="0" err="1" smtClean="0">
                <a:hlinkClick r:id="rId2"/>
              </a:rPr>
              <a:t>usg</a:t>
            </a:r>
            <a:r>
              <a:rPr lang="pt-BR" sz="1600" dirty="0" smtClean="0">
                <a:hlinkClick r:id="rId2"/>
              </a:rPr>
              <a:t>=AFQjCNHmd9GRcRHrua--wuA06-Uua51-</a:t>
            </a:r>
            <a:r>
              <a:rPr lang="pt-BR" sz="1600" dirty="0" err="1" smtClean="0">
                <a:hlinkClick r:id="rId2"/>
              </a:rPr>
              <a:t>eQ</a:t>
            </a:r>
            <a:endParaRPr lang="pt-BR" sz="1600" dirty="0" smtClean="0"/>
          </a:p>
          <a:p>
            <a:endParaRPr lang="pt-BR" dirty="0" smtClean="0"/>
          </a:p>
          <a:p>
            <a:pPr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5A6D-8C2D-4E0D-9908-79BFD1532E7E}" type="slidenum">
              <a:rPr lang="pt-BR" altLang="en-US" smtClean="0"/>
              <a:pPr>
                <a:defRPr/>
              </a:pPr>
              <a:t>54</a:t>
            </a:fld>
            <a:endParaRPr lang="pt-BR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52437</TotalTime>
  <Words>1430</Words>
  <Application>Microsoft Office PowerPoint</Application>
  <PresentationFormat>Apresentação na tela (4:3)</PresentationFormat>
  <Paragraphs>336</Paragraphs>
  <Slides>54</Slides>
  <Notes>14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incorporados</vt:lpstr>
      </vt:variant>
      <vt:variant>
        <vt:i4>2</vt:i4>
      </vt:variant>
      <vt:variant>
        <vt:lpstr>Títulos de slides</vt:lpstr>
      </vt:variant>
      <vt:variant>
        <vt:i4>54</vt:i4>
      </vt:variant>
    </vt:vector>
  </HeadingPairs>
  <TitlesOfParts>
    <vt:vector size="57" baseType="lpstr">
      <vt:lpstr>Tema do Office</vt:lpstr>
      <vt:lpstr>Equação</vt:lpstr>
      <vt:lpstr>Equation</vt:lpstr>
      <vt:lpstr>Cálculo Numérico</vt:lpstr>
      <vt:lpstr>Objetivo</vt:lpstr>
      <vt:lpstr>Zero de uma função</vt:lpstr>
      <vt:lpstr>Zeros de Funções </vt:lpstr>
      <vt:lpstr>Obtenção de raízes reais de uma equação</vt:lpstr>
      <vt:lpstr>Métodos iterativos para obtenção de raízes</vt:lpstr>
      <vt:lpstr>Fase 1 Isolamento das Raízes</vt:lpstr>
      <vt:lpstr>Isolamento das Raízes - Graficamente</vt:lpstr>
      <vt:lpstr>Isolamento das Raízes - Análise Teórica</vt:lpstr>
      <vt:lpstr>Análise do sinal da derivada Graficamente</vt:lpstr>
      <vt:lpstr>Isolamento das Raízes Análise Gráfica</vt:lpstr>
      <vt:lpstr>Isolamento de Raízes  Análise Gráfica – Esboço do gráfico </vt:lpstr>
      <vt:lpstr>Isolamento de Raízes- Análise Gráfica –  Equação Equivalente g(x)=h(x) ou gráfico particionado</vt:lpstr>
      <vt:lpstr>Exercícios: </vt:lpstr>
      <vt:lpstr>Slide 15</vt:lpstr>
      <vt:lpstr>Fase 2 Refinamento</vt:lpstr>
      <vt:lpstr>Refinamento Critérios de Parada</vt:lpstr>
      <vt:lpstr>Refinamento:  Critérios de Parada</vt:lpstr>
      <vt:lpstr>Método da Bissecção</vt:lpstr>
      <vt:lpstr>Método da Bissecção – Interpretação Geométrica</vt:lpstr>
      <vt:lpstr>Estimativa do número de iterações</vt:lpstr>
      <vt:lpstr>Exercícios</vt:lpstr>
      <vt:lpstr>Resolução  (a):</vt:lpstr>
      <vt:lpstr>Resolução  (b):</vt:lpstr>
      <vt:lpstr>Slide 25</vt:lpstr>
      <vt:lpstr>Método das cordas</vt:lpstr>
      <vt:lpstr>Slide 27</vt:lpstr>
      <vt:lpstr>Slide 28</vt:lpstr>
      <vt:lpstr>Slide 29</vt:lpstr>
      <vt:lpstr>Slide 30</vt:lpstr>
      <vt:lpstr>Slide 31</vt:lpstr>
      <vt:lpstr>Slide 32</vt:lpstr>
      <vt:lpstr> Método das cordas – Interpretação Geométrica</vt:lpstr>
      <vt:lpstr> Método das cordas – Interpretação Geométrica</vt:lpstr>
      <vt:lpstr> Método das cordas – Interpretação Geométrica</vt:lpstr>
      <vt:lpstr> Método das cordas – Interpretação Geométrica</vt:lpstr>
      <vt:lpstr> Método das cordas – Interpretação Geométrica</vt:lpstr>
      <vt:lpstr>Ponto fixo</vt:lpstr>
      <vt:lpstr>Exercícios: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Bibliografia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Cálculo Numérico</dc:title>
  <dc:creator>megaware</dc:creator>
  <cp:lastModifiedBy>Mario Molgora</cp:lastModifiedBy>
  <cp:revision>196</cp:revision>
  <dcterms:created xsi:type="dcterms:W3CDTF">2012-04-11T14:45:38Z</dcterms:created>
  <dcterms:modified xsi:type="dcterms:W3CDTF">2023-06-07T13:22:51Z</dcterms:modified>
</cp:coreProperties>
</file>